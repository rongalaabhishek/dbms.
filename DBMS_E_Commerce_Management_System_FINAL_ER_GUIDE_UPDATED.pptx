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presProps" Target="presProp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BF6069A-F492-46AD-A9CB-6A3CA2D633CD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273DF59-5547-4ED9-B255-3361C0CECBDD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9F5FB57-FF2A-4847-98B8-4B688E359B71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1061A7C-0099-4121-B2BD-BA70F319A0D8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trike="noStrike" u="non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9B1A358-86ED-44DB-9173-715CB862B083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13D4F55-3665-476F-ABC3-F11A8827D482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F17918E-48CF-40E8-B663-25DB7A362E2C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9BD689B-29E2-4A19-9EFA-A0B6A16CF37E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D03A98D-2F62-4A23-858B-55A6398EFBE3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7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68C1A04-3304-44D5-8881-AEDBF0B34D6E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163DF92-E574-4E9B-9ABF-447F8AD0DD21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image" Target="../media/image19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jpeg"/><Relationship Id="rId3" Type="http://schemas.openxmlformats.org/officeDocument/2006/relationships/slideLayout" Target="../slideLayouts/slideLayout9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4.jpeg"/><Relationship Id="rId3" Type="http://schemas.openxmlformats.org/officeDocument/2006/relationships/slideLayout" Target="../slideLayouts/slideLayout9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<Relationship Id="rId3" Type="http://schemas.openxmlformats.org/officeDocument/2006/relationships/image" Target="../media/image2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5.jpeg"/><Relationship Id="rId3" Type="http://schemas.openxmlformats.org/officeDocument/2006/relationships/slideLayout" Target="../slideLayouts/slideLayout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6.jpeg"/><Relationship Id="rId3" Type="http://schemas.openxmlformats.org/officeDocument/2006/relationships/image" Target="../media/image7.jpeg"/><Relationship Id="rId4" Type="http://schemas.openxmlformats.org/officeDocument/2006/relationships/slideLayout" Target="../slideLayouts/slideLayout9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8.jpeg"/><Relationship Id="rId3" Type="http://schemas.openxmlformats.org/officeDocument/2006/relationships/slideLayout" Target="../slideLayouts/slideLayout9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9.jpeg"/><Relationship Id="rId3" Type="http://schemas.openxmlformats.org/officeDocument/2006/relationships/slideLayout" Target="../slideLayouts/slideLayout9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0.jpeg"/><Relationship Id="rId3" Type="http://schemas.openxmlformats.org/officeDocument/2006/relationships/image" Target="../media/image11.jpeg"/><Relationship Id="rId4" Type="http://schemas.openxmlformats.org/officeDocument/2006/relationships/image" Target="../media/image12.jpeg"/><Relationship Id="rId5" Type="http://schemas.openxmlformats.org/officeDocument/2006/relationships/image" Target="../media/image4.jpeg"/><Relationship Id="rId6" Type="http://schemas.openxmlformats.org/officeDocument/2006/relationships/slideLayout" Target="../slideLayouts/slideLayout9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3.jpeg"/><Relationship Id="rId3" Type="http://schemas.openxmlformats.org/officeDocument/2006/relationships/image" Target="../media/image14.jpeg"/><Relationship Id="rId4" Type="http://schemas.openxmlformats.org/officeDocument/2006/relationships/slideLayout" Target="../slideLayouts/slideLayout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5.jpeg"/><Relationship Id="rId3" Type="http://schemas.openxmlformats.org/officeDocument/2006/relationships/image" Target="../media/image16.jpeg"/><Relationship Id="rId4" Type="http://schemas.openxmlformats.org/officeDocument/2006/relationships/image" Target="../media/image17.jpeg"/><Relationship Id="rId5" Type="http://schemas.openxmlformats.org/officeDocument/2006/relationships/slideLayout" Target="../slideLayouts/slideLayout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8.jpeg"/><Relationship Id="rId3" Type="http://schemas.openxmlformats.org/officeDocument/2006/relationships/image" Target="../media/image18.jpeg"/><Relationship Id="rId4" Type="http://schemas.openxmlformats.org/officeDocument/2006/relationships/image" Target="../media/image6.jpeg"/><Relationship Id="rId5" Type="http://schemas.openxmlformats.org/officeDocument/2006/relationships/image" Target="../media/image7.jpeg"/><Relationship Id="rId6" Type="http://schemas.openxmlformats.org/officeDocument/2006/relationships/slideLayout" Target="../slideLayouts/slideLayout9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jpeg"/><Relationship Id="rId3" Type="http://schemas.openxmlformats.org/officeDocument/2006/relationships/slideLayout" Target="../slideLayouts/slideLayout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over_upda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1"/>
          <p:cNvSpPr/>
          <p:nvPr/>
        </p:nvSpPr>
        <p:spPr>
          <a:xfrm>
            <a:off x="0" y="0"/>
            <a:ext cx="12191760" cy="82080"/>
          </a:xfrm>
          <a:prstGeom prst="rect">
            <a:avLst/>
          </a:prstGeom>
          <a:solidFill>
            <a:srgbClr val="2466d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37440" bIns="37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" name="TextBox 2"/>
          <p:cNvSpPr/>
          <p:nvPr/>
        </p:nvSpPr>
        <p:spPr>
          <a:xfrm>
            <a:off x="567000" y="311040"/>
            <a:ext cx="813780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500" strike="noStrike" u="none">
                <a:solidFill>
                  <a:srgbClr val="112b44"/>
                </a:solidFill>
                <a:effectLst/>
                <a:uFillTx/>
                <a:latin typeface="Aptos"/>
              </a:rPr>
              <a:t>Presentation Outline</a:t>
            </a:r>
            <a:endParaRPr b="0" lang="en-US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Box 3"/>
          <p:cNvSpPr/>
          <p:nvPr/>
        </p:nvSpPr>
        <p:spPr>
          <a:xfrm>
            <a:off x="8458200" y="365760"/>
            <a:ext cx="2057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950" strike="noStrike" u="none">
                <a:solidFill>
                  <a:srgbClr val="e26823"/>
                </a:solidFill>
                <a:effectLst/>
                <a:uFillTx/>
                <a:latin typeface="Aptos"/>
              </a:rPr>
              <a:t>ROADMAP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4" name="Picture 4" descr="dbms_logo_clean.png"/>
          <p:cNvPicPr/>
          <p:nvPr/>
        </p:nvPicPr>
        <p:blipFill>
          <a:blip r:embed="rId1"/>
          <a:stretch/>
        </p:blipFill>
        <p:spPr>
          <a:xfrm>
            <a:off x="10012680" y="173880"/>
            <a:ext cx="1627200" cy="306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5" name="Rectangle 5"/>
          <p:cNvSpPr/>
          <p:nvPr/>
        </p:nvSpPr>
        <p:spPr>
          <a:xfrm>
            <a:off x="567000" y="6473880"/>
            <a:ext cx="10926720" cy="13320"/>
          </a:xfrm>
          <a:prstGeom prst="rect">
            <a:avLst/>
          </a:prstGeom>
          <a:solidFill>
            <a:srgbClr val="dce4e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1320" bIns="-313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6" name="TextBox 6"/>
          <p:cNvSpPr/>
          <p:nvPr/>
        </p:nvSpPr>
        <p:spPr>
          <a:xfrm>
            <a:off x="585360" y="6519600"/>
            <a:ext cx="47545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0" lang="en-US" sz="750" strike="noStrike" u="none">
                <a:solidFill>
                  <a:srgbClr val="647484"/>
                </a:solidFill>
                <a:effectLst/>
                <a:uFillTx/>
                <a:latin typeface="Aptos"/>
              </a:rPr>
              <a:t>DBMS • E-COMMERCE MANAGEMENT SYSTEM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Box 7"/>
          <p:cNvSpPr/>
          <p:nvPr/>
        </p:nvSpPr>
        <p:spPr>
          <a:xfrm>
            <a:off x="10972800" y="6492240"/>
            <a:ext cx="3837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800" strike="noStrike" u="none">
                <a:solidFill>
                  <a:srgbClr val="647484"/>
                </a:solidFill>
                <a:effectLst/>
                <a:uFillTx/>
                <a:latin typeface="Aptos"/>
              </a:rPr>
              <a:t>2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Rounded Rectangle 8"/>
          <p:cNvSpPr/>
          <p:nvPr/>
        </p:nvSpPr>
        <p:spPr>
          <a:xfrm>
            <a:off x="658440" y="1097280"/>
            <a:ext cx="5074920" cy="429768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>
            <a:solidFill>
              <a:srgbClr val="dce4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9" name="TextBox 9"/>
          <p:cNvSpPr/>
          <p:nvPr/>
        </p:nvSpPr>
        <p:spPr>
          <a:xfrm>
            <a:off x="822960" y="1207080"/>
            <a:ext cx="47455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00" strike="noStrike" u="none">
                <a:solidFill>
                  <a:srgbClr val="2466d6"/>
                </a:solidFill>
                <a:effectLst/>
                <a:uFillTx/>
                <a:latin typeface="Aptos"/>
              </a:rPr>
              <a:t>01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Box 10"/>
          <p:cNvSpPr/>
          <p:nvPr/>
        </p:nvSpPr>
        <p:spPr>
          <a:xfrm>
            <a:off x="1417320" y="1184148"/>
            <a:ext cx="4069080" cy="246888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" rIns="18288" tIns="0" bIns="0" anchor="ctr" wrap="square">
            <a:spAutoFit/>
          </a:bodyPr>
          <a:p>
            <a:pPr defTabSz="457200" algn="l">
              <a:lnSpc>
                <a:spcPct val="100000"/>
              </a:lnSpc>
            </a:pPr>
            <a:r>
              <a:rPr b="0" lang="en-US" sz="106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Project Understanding</a:t>
            </a:r>
            <a:endParaRPr b="0" lang="en-US" sz="10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Rounded Rectangle 11"/>
          <p:cNvSpPr/>
          <p:nvPr/>
        </p:nvSpPr>
        <p:spPr>
          <a:xfrm>
            <a:off x="658440" y="1609200"/>
            <a:ext cx="5074920" cy="429768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>
            <a:solidFill>
              <a:srgbClr val="dce4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2" name="TextBox 12"/>
          <p:cNvSpPr/>
          <p:nvPr/>
        </p:nvSpPr>
        <p:spPr>
          <a:xfrm>
            <a:off x="822960" y="1719000"/>
            <a:ext cx="47455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00" strike="noStrike" u="none">
                <a:solidFill>
                  <a:srgbClr val="2466d6"/>
                </a:solidFill>
                <a:effectLst/>
                <a:uFillTx/>
                <a:latin typeface="Aptos"/>
              </a:rPr>
              <a:t>02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Box 13"/>
          <p:cNvSpPr/>
          <p:nvPr/>
        </p:nvSpPr>
        <p:spPr>
          <a:xfrm>
            <a:off x="1417320" y="1696068"/>
            <a:ext cx="4069080" cy="246888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" rIns="18288" tIns="0" bIns="0" anchor="ctr" wrap="square">
            <a:spAutoFit/>
          </a:bodyPr>
          <a:p>
            <a:pPr defTabSz="457200" algn="l">
              <a:lnSpc>
                <a:spcPct val="100000"/>
              </a:lnSpc>
            </a:pPr>
            <a:r>
              <a:rPr b="0" lang="en-US" sz="106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Problem Statement</a:t>
            </a:r>
            <a:endParaRPr b="0" lang="en-US" sz="10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Rounded Rectangle 14"/>
          <p:cNvSpPr/>
          <p:nvPr/>
        </p:nvSpPr>
        <p:spPr>
          <a:xfrm>
            <a:off x="658440" y="2121480"/>
            <a:ext cx="5074920" cy="429768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>
            <a:solidFill>
              <a:srgbClr val="dce4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5" name="TextBox 15"/>
          <p:cNvSpPr/>
          <p:nvPr/>
        </p:nvSpPr>
        <p:spPr>
          <a:xfrm>
            <a:off x="822960" y="2231280"/>
            <a:ext cx="47455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00" strike="noStrike" u="none">
                <a:solidFill>
                  <a:srgbClr val="2466d6"/>
                </a:solidFill>
                <a:effectLst/>
                <a:uFillTx/>
                <a:latin typeface="Aptos"/>
              </a:rPr>
              <a:t>03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Box 16"/>
          <p:cNvSpPr/>
          <p:nvPr/>
        </p:nvSpPr>
        <p:spPr>
          <a:xfrm>
            <a:off x="1417320" y="2208348"/>
            <a:ext cx="4069080" cy="246888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" rIns="18288" tIns="0" bIns="0" anchor="ctr" wrap="square">
            <a:spAutoFit/>
          </a:bodyPr>
          <a:p>
            <a:pPr defTabSz="457200" algn="l">
              <a:lnSpc>
                <a:spcPct val="100000"/>
              </a:lnSpc>
            </a:pPr>
            <a:r>
              <a:rPr b="0" lang="en-US" sz="106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Objectives &amp; Scope</a:t>
            </a:r>
            <a:endParaRPr b="0" lang="en-US" sz="10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Rounded Rectangle 17"/>
          <p:cNvSpPr/>
          <p:nvPr/>
        </p:nvSpPr>
        <p:spPr>
          <a:xfrm>
            <a:off x="658440" y="2633400"/>
            <a:ext cx="5074920" cy="429768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>
            <a:solidFill>
              <a:srgbClr val="dce4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8" name="TextBox 18"/>
          <p:cNvSpPr/>
          <p:nvPr/>
        </p:nvSpPr>
        <p:spPr>
          <a:xfrm>
            <a:off x="822960" y="2743200"/>
            <a:ext cx="47455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00" strike="noStrike" u="none">
                <a:solidFill>
                  <a:srgbClr val="2466d6"/>
                </a:solidFill>
                <a:effectLst/>
                <a:uFillTx/>
                <a:latin typeface="Aptos"/>
              </a:rPr>
              <a:t>04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Box 19"/>
          <p:cNvSpPr/>
          <p:nvPr/>
        </p:nvSpPr>
        <p:spPr>
          <a:xfrm>
            <a:off x="1417320" y="2720268"/>
            <a:ext cx="4069080" cy="246888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" rIns="18288" tIns="0" bIns="0" anchor="ctr" wrap="square">
            <a:spAutoFit/>
          </a:bodyPr>
          <a:p>
            <a:pPr defTabSz="457200" algn="l">
              <a:lnSpc>
                <a:spcPct val="100000"/>
              </a:lnSpc>
            </a:pPr>
            <a:r>
              <a:rPr b="0" lang="en-US" sz="106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System Modules</a:t>
            </a:r>
            <a:endParaRPr b="0" lang="en-US" sz="10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Rounded Rectangle 20"/>
          <p:cNvSpPr/>
          <p:nvPr/>
        </p:nvSpPr>
        <p:spPr>
          <a:xfrm>
            <a:off x="658440" y="3145680"/>
            <a:ext cx="5074920" cy="429768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>
            <a:solidFill>
              <a:srgbClr val="dce4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1" name="TextBox 21"/>
          <p:cNvSpPr/>
          <p:nvPr/>
        </p:nvSpPr>
        <p:spPr>
          <a:xfrm>
            <a:off x="822960" y="3255120"/>
            <a:ext cx="47455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00" strike="noStrike" u="none">
                <a:solidFill>
                  <a:srgbClr val="2466d6"/>
                </a:solidFill>
                <a:effectLst/>
                <a:uFillTx/>
                <a:latin typeface="Aptos"/>
              </a:rPr>
              <a:t>05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Box 22"/>
          <p:cNvSpPr/>
          <p:nvPr/>
        </p:nvSpPr>
        <p:spPr>
          <a:xfrm>
            <a:off x="1417320" y="3232548"/>
            <a:ext cx="4069080" cy="246888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" rIns="18288" tIns="0" bIns="0" anchor="ctr" wrap="square">
            <a:spAutoFit/>
          </a:bodyPr>
          <a:p>
            <a:pPr defTabSz="457200" algn="l">
              <a:lnSpc>
                <a:spcPct val="100000"/>
              </a:lnSpc>
            </a:pPr>
            <a:r>
              <a:rPr b="0" lang="en-US" sz="106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Architecture &amp; Data Flow</a:t>
            </a:r>
            <a:endParaRPr b="0" lang="en-US" sz="10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Rounded Rectangle 23"/>
          <p:cNvSpPr/>
          <p:nvPr/>
        </p:nvSpPr>
        <p:spPr>
          <a:xfrm>
            <a:off x="658440" y="3657600"/>
            <a:ext cx="5074920" cy="429768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>
            <a:solidFill>
              <a:srgbClr val="dce4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4" name="TextBox 24"/>
          <p:cNvSpPr/>
          <p:nvPr/>
        </p:nvSpPr>
        <p:spPr>
          <a:xfrm>
            <a:off x="822960" y="3767400"/>
            <a:ext cx="47455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00" strike="noStrike" u="none">
                <a:solidFill>
                  <a:srgbClr val="2466d6"/>
                </a:solidFill>
                <a:effectLst/>
                <a:uFillTx/>
                <a:latin typeface="Aptos"/>
              </a:rPr>
              <a:t>06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Box 25"/>
          <p:cNvSpPr/>
          <p:nvPr/>
        </p:nvSpPr>
        <p:spPr>
          <a:xfrm>
            <a:off x="1417320" y="3744468"/>
            <a:ext cx="4069080" cy="246888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" rIns="18288" tIns="0" bIns="0" anchor="ctr" wrap="square">
            <a:spAutoFit/>
          </a:bodyPr>
          <a:p>
            <a:pPr defTabSz="457200" algn="l">
              <a:lnSpc>
                <a:spcPct val="100000"/>
              </a:lnSpc>
            </a:pPr>
            <a:r>
              <a:rPr b="0" lang="en-US" sz="106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Database Entities</a:t>
            </a:r>
            <a:endParaRPr b="0" lang="en-US" sz="10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Rounded Rectangle 26"/>
          <p:cNvSpPr/>
          <p:nvPr/>
        </p:nvSpPr>
        <p:spPr>
          <a:xfrm>
            <a:off x="658440" y="4169520"/>
            <a:ext cx="5074920" cy="429768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>
            <a:solidFill>
              <a:srgbClr val="dce4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7" name="TextBox 27"/>
          <p:cNvSpPr/>
          <p:nvPr/>
        </p:nvSpPr>
        <p:spPr>
          <a:xfrm>
            <a:off x="822960" y="4279320"/>
            <a:ext cx="47455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00" strike="noStrike" u="none">
                <a:solidFill>
                  <a:srgbClr val="2466d6"/>
                </a:solidFill>
                <a:effectLst/>
                <a:uFillTx/>
                <a:latin typeface="Aptos"/>
              </a:rPr>
              <a:t>07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Box 28"/>
          <p:cNvSpPr/>
          <p:nvPr/>
        </p:nvSpPr>
        <p:spPr>
          <a:xfrm>
            <a:off x="1417320" y="4256388"/>
            <a:ext cx="4069080" cy="246888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" rIns="18288" tIns="0" bIns="0" anchor="ctr" wrap="square">
            <a:spAutoFit/>
          </a:bodyPr>
          <a:p>
            <a:pPr defTabSz="457200" algn="l">
              <a:lnSpc>
                <a:spcPct val="100000"/>
              </a:lnSpc>
            </a:pPr>
            <a:r>
              <a:rPr b="0" lang="en-US" sz="106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ER Diagram</a:t>
            </a:r>
            <a:endParaRPr b="0" lang="en-US" sz="10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Rounded Rectangle 29"/>
          <p:cNvSpPr/>
          <p:nvPr/>
        </p:nvSpPr>
        <p:spPr>
          <a:xfrm>
            <a:off x="658440" y="4681800"/>
            <a:ext cx="5074920" cy="429768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>
            <a:solidFill>
              <a:srgbClr val="dce4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0" name="TextBox 30"/>
          <p:cNvSpPr/>
          <p:nvPr/>
        </p:nvSpPr>
        <p:spPr>
          <a:xfrm>
            <a:off x="822960" y="4791600"/>
            <a:ext cx="47455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00" strike="noStrike" u="none">
                <a:solidFill>
                  <a:srgbClr val="2466d6"/>
                </a:solidFill>
                <a:effectLst/>
                <a:uFillTx/>
                <a:latin typeface="Aptos"/>
              </a:rPr>
              <a:t>08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Box 31"/>
          <p:cNvSpPr/>
          <p:nvPr/>
        </p:nvSpPr>
        <p:spPr>
          <a:xfrm>
            <a:off x="1417320" y="4768668"/>
            <a:ext cx="4069080" cy="246888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" rIns="18288" tIns="0" bIns="0" anchor="ctr" wrap="square">
            <a:spAutoFit/>
          </a:bodyPr>
          <a:p>
            <a:pPr defTabSz="457200" algn="l">
              <a:lnSpc>
                <a:spcPct val="100000"/>
              </a:lnSpc>
            </a:pPr>
            <a:r>
              <a:rPr b="0" lang="en-US" sz="106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Relational Schema</a:t>
            </a:r>
            <a:endParaRPr b="0" lang="en-US" sz="10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Rounded Rectangle 32"/>
          <p:cNvSpPr/>
          <p:nvPr/>
        </p:nvSpPr>
        <p:spPr>
          <a:xfrm>
            <a:off x="658440" y="5193720"/>
            <a:ext cx="5074920" cy="429768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>
            <a:solidFill>
              <a:srgbClr val="dce4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3" name="TextBox 33"/>
          <p:cNvSpPr/>
          <p:nvPr/>
        </p:nvSpPr>
        <p:spPr>
          <a:xfrm>
            <a:off x="822960" y="5303520"/>
            <a:ext cx="47455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00" strike="noStrike" u="none">
                <a:solidFill>
                  <a:srgbClr val="2466d6"/>
                </a:solidFill>
                <a:effectLst/>
                <a:uFillTx/>
                <a:latin typeface="Aptos"/>
              </a:rPr>
              <a:t>09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Box 34"/>
          <p:cNvSpPr/>
          <p:nvPr/>
        </p:nvSpPr>
        <p:spPr>
          <a:xfrm>
            <a:off x="1417320" y="5280588"/>
            <a:ext cx="4069080" cy="246888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" rIns="18288" tIns="0" bIns="0" anchor="ctr" wrap="square">
            <a:spAutoFit/>
          </a:bodyPr>
          <a:p>
            <a:pPr defTabSz="457200" algn="l">
              <a:lnSpc>
                <a:spcPct val="100000"/>
              </a:lnSpc>
            </a:pPr>
            <a:r>
              <a:rPr b="0" lang="en-US" sz="106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Normalisation</a:t>
            </a:r>
            <a:endParaRPr b="0" lang="en-US" sz="10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Rounded Rectangle 35"/>
          <p:cNvSpPr/>
          <p:nvPr/>
        </p:nvSpPr>
        <p:spPr>
          <a:xfrm>
            <a:off x="6144840" y="1097280"/>
            <a:ext cx="5074920" cy="429768"/>
          </a:xfrm>
          <a:prstGeom prst="roundRect">
            <a:avLst>
              <a:gd name="adj" fmla="val 16667"/>
            </a:avLst>
          </a:prstGeom>
          <a:solidFill>
            <a:srgbClr val="fff6ef"/>
          </a:solidFill>
          <a:ln>
            <a:solidFill>
              <a:srgbClr val="dce4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6" name="TextBox 36"/>
          <p:cNvSpPr/>
          <p:nvPr/>
        </p:nvSpPr>
        <p:spPr>
          <a:xfrm>
            <a:off x="6309360" y="1207080"/>
            <a:ext cx="47455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00" strike="noStrike" u="none">
                <a:solidFill>
                  <a:srgbClr val="e26823"/>
                </a:solidFill>
                <a:effectLst/>
                <a:uFillTx/>
                <a:latin typeface="Aptos"/>
              </a:rPr>
              <a:t>10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Box 37"/>
          <p:cNvSpPr/>
          <p:nvPr/>
        </p:nvSpPr>
        <p:spPr>
          <a:xfrm>
            <a:off x="6903720" y="1184148"/>
            <a:ext cx="4069080" cy="246888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" rIns="18288" tIns="0" bIns="0" anchor="ctr" wrap="square">
            <a:spAutoFit/>
          </a:bodyPr>
          <a:p>
            <a:pPr defTabSz="457200" algn="l">
              <a:lnSpc>
                <a:spcPct val="100000"/>
              </a:lnSpc>
            </a:pPr>
            <a:r>
              <a:rPr b="0" lang="en-US" sz="106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Keys &amp; Constraints</a:t>
            </a:r>
            <a:endParaRPr b="0" lang="en-US" sz="10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Rounded Rectangle 38"/>
          <p:cNvSpPr/>
          <p:nvPr/>
        </p:nvSpPr>
        <p:spPr>
          <a:xfrm>
            <a:off x="6144840" y="1609200"/>
            <a:ext cx="5074920" cy="429768"/>
          </a:xfrm>
          <a:prstGeom prst="roundRect">
            <a:avLst>
              <a:gd name="adj" fmla="val 16667"/>
            </a:avLst>
          </a:prstGeom>
          <a:solidFill>
            <a:srgbClr val="fff6ef"/>
          </a:solidFill>
          <a:ln>
            <a:solidFill>
              <a:srgbClr val="dce4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9" name="TextBox 39"/>
          <p:cNvSpPr/>
          <p:nvPr/>
        </p:nvSpPr>
        <p:spPr>
          <a:xfrm>
            <a:off x="6309360" y="1719000"/>
            <a:ext cx="47455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00" strike="noStrike" u="none">
                <a:solidFill>
                  <a:srgbClr val="e26823"/>
                </a:solidFill>
                <a:effectLst/>
                <a:uFillTx/>
                <a:latin typeface="Aptos"/>
              </a:rPr>
              <a:t>11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Box 40"/>
          <p:cNvSpPr/>
          <p:nvPr/>
        </p:nvSpPr>
        <p:spPr>
          <a:xfrm>
            <a:off x="6903720" y="1696068"/>
            <a:ext cx="4069080" cy="246888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" rIns="18288" tIns="0" bIns="0" anchor="ctr" wrap="square">
            <a:spAutoFit/>
          </a:bodyPr>
          <a:p>
            <a:pPr defTabSz="457200" algn="l">
              <a:lnSpc>
                <a:spcPct val="100000"/>
              </a:lnSpc>
            </a:pPr>
            <a:r>
              <a:rPr b="0" lang="en-US" sz="106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DDL</a:t>
            </a:r>
            <a:endParaRPr b="0" lang="en-US" sz="10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Rounded Rectangle 41"/>
          <p:cNvSpPr/>
          <p:nvPr/>
        </p:nvSpPr>
        <p:spPr>
          <a:xfrm>
            <a:off x="6144840" y="2121480"/>
            <a:ext cx="5074920" cy="429768"/>
          </a:xfrm>
          <a:prstGeom prst="roundRect">
            <a:avLst>
              <a:gd name="adj" fmla="val 16667"/>
            </a:avLst>
          </a:prstGeom>
          <a:solidFill>
            <a:srgbClr val="fff6ef"/>
          </a:solidFill>
          <a:ln>
            <a:solidFill>
              <a:srgbClr val="dce4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2" name="TextBox 42"/>
          <p:cNvSpPr/>
          <p:nvPr/>
        </p:nvSpPr>
        <p:spPr>
          <a:xfrm>
            <a:off x="6309360" y="2231280"/>
            <a:ext cx="47455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00" strike="noStrike" u="none">
                <a:solidFill>
                  <a:srgbClr val="e26823"/>
                </a:solidFill>
                <a:effectLst/>
                <a:uFillTx/>
                <a:latin typeface="Aptos"/>
              </a:rPr>
              <a:t>12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Box 43"/>
          <p:cNvSpPr/>
          <p:nvPr/>
        </p:nvSpPr>
        <p:spPr>
          <a:xfrm>
            <a:off x="6903720" y="2208348"/>
            <a:ext cx="4069080" cy="246888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" rIns="18288" tIns="0" bIns="0" anchor="ctr" wrap="square">
            <a:spAutoFit/>
          </a:bodyPr>
          <a:p>
            <a:pPr defTabSz="457200" algn="l">
              <a:lnSpc>
                <a:spcPct val="100000"/>
              </a:lnSpc>
            </a:pPr>
            <a:r>
              <a:rPr b="0" lang="en-US" sz="106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DML</a:t>
            </a:r>
            <a:endParaRPr b="0" lang="en-US" sz="10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Rounded Rectangle 44"/>
          <p:cNvSpPr/>
          <p:nvPr/>
        </p:nvSpPr>
        <p:spPr>
          <a:xfrm>
            <a:off x="6144840" y="2633400"/>
            <a:ext cx="5074920" cy="429768"/>
          </a:xfrm>
          <a:prstGeom prst="roundRect">
            <a:avLst>
              <a:gd name="adj" fmla="val 16667"/>
            </a:avLst>
          </a:prstGeom>
          <a:solidFill>
            <a:srgbClr val="fff6ef"/>
          </a:solidFill>
          <a:ln>
            <a:solidFill>
              <a:srgbClr val="dce4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5" name="TextBox 45"/>
          <p:cNvSpPr/>
          <p:nvPr/>
        </p:nvSpPr>
        <p:spPr>
          <a:xfrm>
            <a:off x="6309360" y="2743200"/>
            <a:ext cx="47455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00" strike="noStrike" u="none">
                <a:solidFill>
                  <a:srgbClr val="e26823"/>
                </a:solidFill>
                <a:effectLst/>
                <a:uFillTx/>
                <a:latin typeface="Aptos"/>
              </a:rPr>
              <a:t>13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Box 46"/>
          <p:cNvSpPr/>
          <p:nvPr/>
        </p:nvSpPr>
        <p:spPr>
          <a:xfrm>
            <a:off x="6903720" y="2720268"/>
            <a:ext cx="4069080" cy="246888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" rIns="18288" tIns="0" bIns="0" anchor="ctr" wrap="square">
            <a:spAutoFit/>
          </a:bodyPr>
          <a:p>
            <a:pPr defTabSz="457200" algn="l">
              <a:lnSpc>
                <a:spcPct val="100000"/>
              </a:lnSpc>
            </a:pPr>
            <a:r>
              <a:rPr b="0" lang="en-US" sz="106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DQL</a:t>
            </a:r>
            <a:endParaRPr b="0" lang="en-US" sz="10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Rounded Rectangle 47"/>
          <p:cNvSpPr/>
          <p:nvPr/>
        </p:nvSpPr>
        <p:spPr>
          <a:xfrm>
            <a:off x="6144840" y="3145680"/>
            <a:ext cx="5074920" cy="429768"/>
          </a:xfrm>
          <a:prstGeom prst="roundRect">
            <a:avLst>
              <a:gd name="adj" fmla="val 16667"/>
            </a:avLst>
          </a:prstGeom>
          <a:solidFill>
            <a:srgbClr val="fff6ef"/>
          </a:solidFill>
          <a:ln>
            <a:solidFill>
              <a:srgbClr val="dce4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8" name="TextBox 48"/>
          <p:cNvSpPr/>
          <p:nvPr/>
        </p:nvSpPr>
        <p:spPr>
          <a:xfrm>
            <a:off x="6309360" y="3255120"/>
            <a:ext cx="47455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00" strike="noStrike" u="none">
                <a:solidFill>
                  <a:srgbClr val="e26823"/>
                </a:solidFill>
                <a:effectLst/>
                <a:uFillTx/>
                <a:latin typeface="Aptos"/>
              </a:rPr>
              <a:t>14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Box 49"/>
          <p:cNvSpPr/>
          <p:nvPr/>
        </p:nvSpPr>
        <p:spPr>
          <a:xfrm>
            <a:off x="6903720" y="3232548"/>
            <a:ext cx="4069080" cy="246888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" rIns="18288" tIns="0" bIns="0" anchor="ctr" wrap="square">
            <a:spAutoFit/>
          </a:bodyPr>
          <a:p>
            <a:pPr defTabSz="457200" algn="l">
              <a:lnSpc>
                <a:spcPct val="100000"/>
              </a:lnSpc>
            </a:pPr>
            <a:r>
              <a:rPr b="0" lang="en-US" sz="106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Joins &amp; Views</a:t>
            </a:r>
            <a:endParaRPr b="0" lang="en-US" sz="10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Rounded Rectangle 50"/>
          <p:cNvSpPr/>
          <p:nvPr/>
        </p:nvSpPr>
        <p:spPr>
          <a:xfrm>
            <a:off x="6144840" y="3657600"/>
            <a:ext cx="5074920" cy="429768"/>
          </a:xfrm>
          <a:prstGeom prst="roundRect">
            <a:avLst>
              <a:gd name="adj" fmla="val 16667"/>
            </a:avLst>
          </a:prstGeom>
          <a:solidFill>
            <a:srgbClr val="fff6ef"/>
          </a:solidFill>
          <a:ln>
            <a:solidFill>
              <a:srgbClr val="dce4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1" name="TextBox 51"/>
          <p:cNvSpPr/>
          <p:nvPr/>
        </p:nvSpPr>
        <p:spPr>
          <a:xfrm>
            <a:off x="6309360" y="3767400"/>
            <a:ext cx="47455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00" strike="noStrike" u="none">
                <a:solidFill>
                  <a:srgbClr val="e26823"/>
                </a:solidFill>
                <a:effectLst/>
                <a:uFillTx/>
                <a:latin typeface="Aptos"/>
              </a:rPr>
              <a:t>15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Box 52"/>
          <p:cNvSpPr/>
          <p:nvPr/>
        </p:nvSpPr>
        <p:spPr>
          <a:xfrm>
            <a:off x="6903720" y="3744468"/>
            <a:ext cx="4069080" cy="246888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" rIns="18288" tIns="0" bIns="0" anchor="ctr" wrap="square">
            <a:spAutoFit/>
          </a:bodyPr>
          <a:p>
            <a:pPr defTabSz="457200" algn="l">
              <a:lnSpc>
                <a:spcPct val="100000"/>
              </a:lnSpc>
            </a:pPr>
            <a:r>
              <a:rPr b="0" lang="en-US" sz="106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Stored Procedures</a:t>
            </a:r>
            <a:endParaRPr b="0" lang="en-US" sz="10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Rounded Rectangle 53"/>
          <p:cNvSpPr/>
          <p:nvPr/>
        </p:nvSpPr>
        <p:spPr>
          <a:xfrm>
            <a:off x="6144840" y="4169520"/>
            <a:ext cx="5074920" cy="429768"/>
          </a:xfrm>
          <a:prstGeom prst="roundRect">
            <a:avLst>
              <a:gd name="adj" fmla="val 16667"/>
            </a:avLst>
          </a:prstGeom>
          <a:solidFill>
            <a:srgbClr val="fff6ef"/>
          </a:solidFill>
          <a:ln>
            <a:solidFill>
              <a:srgbClr val="dce4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4" name="TextBox 54"/>
          <p:cNvSpPr/>
          <p:nvPr/>
        </p:nvSpPr>
        <p:spPr>
          <a:xfrm>
            <a:off x="6309360" y="4279320"/>
            <a:ext cx="47455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00" strike="noStrike" u="none">
                <a:solidFill>
                  <a:srgbClr val="e26823"/>
                </a:solidFill>
                <a:effectLst/>
                <a:uFillTx/>
                <a:latin typeface="Aptos"/>
              </a:rPr>
              <a:t>16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Box 55"/>
          <p:cNvSpPr/>
          <p:nvPr/>
        </p:nvSpPr>
        <p:spPr>
          <a:xfrm>
            <a:off x="6903720" y="4256388"/>
            <a:ext cx="4069080" cy="246888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" rIns="18288" tIns="0" bIns="0" anchor="ctr" wrap="square">
            <a:spAutoFit/>
          </a:bodyPr>
          <a:p>
            <a:pPr defTabSz="457200" algn="l">
              <a:lnSpc>
                <a:spcPct val="100000"/>
              </a:lnSpc>
            </a:pPr>
            <a:r>
              <a:rPr b="0" lang="en-US" sz="106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ACID &amp; Transactions</a:t>
            </a:r>
            <a:endParaRPr b="0" lang="en-US" sz="10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Rounded Rectangle 56"/>
          <p:cNvSpPr/>
          <p:nvPr/>
        </p:nvSpPr>
        <p:spPr>
          <a:xfrm>
            <a:off x="6144840" y="4681800"/>
            <a:ext cx="5074920" cy="429768"/>
          </a:xfrm>
          <a:prstGeom prst="roundRect">
            <a:avLst>
              <a:gd name="adj" fmla="val 16667"/>
            </a:avLst>
          </a:prstGeom>
          <a:solidFill>
            <a:srgbClr val="fff6ef"/>
          </a:solidFill>
          <a:ln>
            <a:solidFill>
              <a:srgbClr val="dce4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7" name="TextBox 57"/>
          <p:cNvSpPr/>
          <p:nvPr/>
        </p:nvSpPr>
        <p:spPr>
          <a:xfrm>
            <a:off x="6309360" y="4791600"/>
            <a:ext cx="47455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00" strike="noStrike" u="none">
                <a:solidFill>
                  <a:srgbClr val="e26823"/>
                </a:solidFill>
                <a:effectLst/>
                <a:uFillTx/>
                <a:latin typeface="Aptos"/>
              </a:rPr>
              <a:t>17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Box 58"/>
          <p:cNvSpPr/>
          <p:nvPr/>
        </p:nvSpPr>
        <p:spPr>
          <a:xfrm>
            <a:off x="6903720" y="4768668"/>
            <a:ext cx="4069080" cy="246888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" rIns="18288" tIns="0" bIns="0" anchor="ctr" wrap="square">
            <a:spAutoFit/>
          </a:bodyPr>
          <a:p>
            <a:pPr defTabSz="457200" algn="l">
              <a:lnSpc>
                <a:spcPct val="100000"/>
              </a:lnSpc>
            </a:pPr>
            <a:r>
              <a:rPr b="0" lang="en-US" sz="106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Implementation Evidence</a:t>
            </a:r>
            <a:endParaRPr b="0" lang="en-US" sz="10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Rounded Rectangle 59"/>
          <p:cNvSpPr/>
          <p:nvPr/>
        </p:nvSpPr>
        <p:spPr>
          <a:xfrm>
            <a:off x="6144840" y="5193720"/>
            <a:ext cx="5074920" cy="429768"/>
          </a:xfrm>
          <a:prstGeom prst="roundRect">
            <a:avLst>
              <a:gd name="adj" fmla="val 16667"/>
            </a:avLst>
          </a:prstGeom>
          <a:solidFill>
            <a:srgbClr val="fff6ef"/>
          </a:solidFill>
          <a:ln>
            <a:solidFill>
              <a:srgbClr val="dce4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0" name="TextBox 60"/>
          <p:cNvSpPr/>
          <p:nvPr/>
        </p:nvSpPr>
        <p:spPr>
          <a:xfrm>
            <a:off x="6309360" y="5303520"/>
            <a:ext cx="47455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00" strike="noStrike" u="none">
                <a:solidFill>
                  <a:srgbClr val="e26823"/>
                </a:solidFill>
                <a:effectLst/>
                <a:uFillTx/>
                <a:latin typeface="Aptos"/>
              </a:rPr>
              <a:t>18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Box 61"/>
          <p:cNvSpPr/>
          <p:nvPr/>
        </p:nvSpPr>
        <p:spPr>
          <a:xfrm>
            <a:off x="6903720" y="5280588"/>
            <a:ext cx="4069080" cy="246888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" rIns="18288" tIns="0" bIns="0" anchor="ctr" wrap="square">
            <a:spAutoFit/>
          </a:bodyPr>
          <a:p>
            <a:pPr defTabSz="457200" algn="l">
              <a:lnSpc>
                <a:spcPct val="100000"/>
              </a:lnSpc>
            </a:pPr>
            <a:r>
              <a:rPr b="0" lang="en-US" sz="106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Results • Future Scope • Conclusion</a:t>
            </a:r>
            <a:endParaRPr b="0" lang="en-US" sz="10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Rectangle 1"/>
          <p:cNvSpPr/>
          <p:nvPr/>
        </p:nvSpPr>
        <p:spPr>
          <a:xfrm>
            <a:off x="0" y="0"/>
            <a:ext cx="12191760" cy="82080"/>
          </a:xfrm>
          <a:prstGeom prst="rect">
            <a:avLst/>
          </a:prstGeom>
          <a:solidFill>
            <a:srgbClr val="2466d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37440" bIns="37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3" name="TextBox 2"/>
          <p:cNvSpPr/>
          <p:nvPr/>
        </p:nvSpPr>
        <p:spPr>
          <a:xfrm>
            <a:off x="567000" y="311040"/>
            <a:ext cx="813780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500" strike="noStrike" u="none">
                <a:solidFill>
                  <a:srgbClr val="112b44"/>
                </a:solidFill>
                <a:effectLst/>
                <a:uFillTx/>
                <a:latin typeface="Aptos"/>
              </a:rPr>
              <a:t>Project at a Glance</a:t>
            </a:r>
            <a:endParaRPr b="0" lang="en-US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Box 3"/>
          <p:cNvSpPr/>
          <p:nvPr/>
        </p:nvSpPr>
        <p:spPr>
          <a:xfrm>
            <a:off x="7452360" y="356616"/>
            <a:ext cx="2331720" cy="256032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wrap="square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919" strike="noStrike" u="none">
                <a:solidFill>
                  <a:srgbClr val="2466D6"/>
                </a:solidFill>
                <a:effectLst/>
                <a:uFillTx/>
                <a:latin typeface="Aptos"/>
              </a:rPr>
              <a:t>PROJECT UNDERSTANDING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5" name="Picture 4" descr="dbms_logo_clean.png"/>
          <p:cNvPicPr/>
          <p:nvPr/>
        </p:nvPicPr>
        <p:blipFill>
          <a:blip r:embed="rId1"/>
          <a:stretch/>
        </p:blipFill>
        <p:spPr>
          <a:xfrm>
            <a:off x="10012680" y="173880"/>
            <a:ext cx="1627200" cy="306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6" name="Rectangle 5"/>
          <p:cNvSpPr/>
          <p:nvPr/>
        </p:nvSpPr>
        <p:spPr>
          <a:xfrm>
            <a:off x="567000" y="6473880"/>
            <a:ext cx="10926720" cy="13320"/>
          </a:xfrm>
          <a:prstGeom prst="rect">
            <a:avLst/>
          </a:prstGeom>
          <a:solidFill>
            <a:srgbClr val="dce4e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1320" bIns="-313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7" name="TextBox 6"/>
          <p:cNvSpPr/>
          <p:nvPr/>
        </p:nvSpPr>
        <p:spPr>
          <a:xfrm>
            <a:off x="585360" y="6519600"/>
            <a:ext cx="47545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0" lang="en-US" sz="750" strike="noStrike" u="none">
                <a:solidFill>
                  <a:srgbClr val="647484"/>
                </a:solidFill>
                <a:effectLst/>
                <a:uFillTx/>
                <a:latin typeface="Aptos"/>
              </a:rPr>
              <a:t>DBMS • E-COMMERCE MANAGEMENT SYSTEM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Box 7"/>
          <p:cNvSpPr/>
          <p:nvPr/>
        </p:nvSpPr>
        <p:spPr>
          <a:xfrm>
            <a:off x="10972800" y="6492240"/>
            <a:ext cx="3837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800" strike="noStrike" u="none">
                <a:solidFill>
                  <a:srgbClr val="647484"/>
                </a:solidFill>
                <a:effectLst/>
                <a:uFillTx/>
                <a:latin typeface="Aptos"/>
              </a:rPr>
              <a:t>3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Box 8"/>
          <p:cNvSpPr/>
          <p:nvPr/>
        </p:nvSpPr>
        <p:spPr>
          <a:xfrm>
            <a:off x="658440" y="1051560"/>
            <a:ext cx="516600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100" strike="noStrike" u="none">
                <a:solidFill>
                  <a:srgbClr val="112b44"/>
                </a:solidFill>
                <a:effectLst/>
                <a:uFillTx/>
                <a:latin typeface="Aptos"/>
              </a:rPr>
              <a:t>A database-centric e-commerce management system built on a MySQL relational database.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Box 9"/>
          <p:cNvSpPr/>
          <p:nvPr/>
        </p:nvSpPr>
        <p:spPr>
          <a:xfrm>
            <a:off x="658440" y="1847160"/>
            <a:ext cx="50745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50" strike="noStrike" u="none">
                <a:solidFill>
                  <a:srgbClr val="647484"/>
                </a:solidFill>
                <a:effectLst/>
                <a:uFillTx/>
                <a:latin typeface="Aptos"/>
              </a:rPr>
              <a:t>The application manages connected customer, seller, category, product, cart, order, payment, shipping, coupon and review data.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Rounded Rectangle 10"/>
          <p:cNvSpPr/>
          <p:nvPr/>
        </p:nvSpPr>
        <p:spPr>
          <a:xfrm>
            <a:off x="658440" y="2788920"/>
            <a:ext cx="1508400" cy="987120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>
            <a:solidFill>
              <a:srgbClr val="dce4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2" name="TextBox 11"/>
          <p:cNvSpPr/>
          <p:nvPr/>
        </p:nvSpPr>
        <p:spPr>
          <a:xfrm>
            <a:off x="822960" y="2898720"/>
            <a:ext cx="11793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200" strike="noStrike" u="none">
                <a:solidFill>
                  <a:srgbClr val="2466d6"/>
                </a:solidFill>
                <a:effectLst/>
                <a:uFillTx/>
                <a:latin typeface="Aptos"/>
              </a:rPr>
              <a:t>13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Box 12"/>
          <p:cNvSpPr/>
          <p:nvPr/>
        </p:nvSpPr>
        <p:spPr>
          <a:xfrm>
            <a:off x="822960" y="3246120"/>
            <a:ext cx="11793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50" strike="noStrike" u="none">
                <a:solidFill>
                  <a:srgbClr val="2a3745"/>
                </a:solidFill>
                <a:effectLst/>
                <a:uFillTx/>
                <a:latin typeface="Aptos"/>
              </a:rPr>
              <a:t>Relational tables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Rounded Rectangle 13"/>
          <p:cNvSpPr/>
          <p:nvPr/>
        </p:nvSpPr>
        <p:spPr>
          <a:xfrm>
            <a:off x="2331720" y="2788920"/>
            <a:ext cx="1508400" cy="987120"/>
          </a:xfrm>
          <a:prstGeom prst="roundRect">
            <a:avLst>
              <a:gd name="adj" fmla="val 16667"/>
            </a:avLst>
          </a:prstGeom>
          <a:solidFill>
            <a:srgbClr val="fff6ef"/>
          </a:solidFill>
          <a:ln>
            <a:solidFill>
              <a:srgbClr val="dce4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5" name="TextBox 14"/>
          <p:cNvSpPr/>
          <p:nvPr/>
        </p:nvSpPr>
        <p:spPr>
          <a:xfrm>
            <a:off x="2496240" y="2898720"/>
            <a:ext cx="11793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200" strike="noStrike" u="none">
                <a:solidFill>
                  <a:srgbClr val="e26823"/>
                </a:solidFill>
                <a:effectLst/>
                <a:uFillTx/>
                <a:latin typeface="Aptos"/>
              </a:rPr>
              <a:t>12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Box 15"/>
          <p:cNvSpPr/>
          <p:nvPr/>
        </p:nvSpPr>
        <p:spPr>
          <a:xfrm>
            <a:off x="2496240" y="3246120"/>
            <a:ext cx="11793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50" strike="noStrike" u="none">
                <a:solidFill>
                  <a:srgbClr val="2a3745"/>
                </a:solidFill>
                <a:effectLst/>
                <a:uFillTx/>
                <a:latin typeface="Aptos"/>
              </a:rPr>
              <a:t>Products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Rounded Rectangle 16"/>
          <p:cNvSpPr/>
          <p:nvPr/>
        </p:nvSpPr>
        <p:spPr>
          <a:xfrm>
            <a:off x="4005000" y="2788920"/>
            <a:ext cx="1508400" cy="987120"/>
          </a:xfrm>
          <a:prstGeom prst="roundRect">
            <a:avLst>
              <a:gd name="adj" fmla="val 16667"/>
            </a:avLst>
          </a:prstGeom>
          <a:solidFill>
            <a:srgbClr val="eff9f4"/>
          </a:solidFill>
          <a:ln>
            <a:solidFill>
              <a:srgbClr val="dce4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8" name="TextBox 17"/>
          <p:cNvSpPr/>
          <p:nvPr/>
        </p:nvSpPr>
        <p:spPr>
          <a:xfrm>
            <a:off x="4169520" y="2898720"/>
            <a:ext cx="11793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200" strike="noStrike" u="none">
                <a:solidFill>
                  <a:srgbClr val="278b5d"/>
                </a:solidFill>
                <a:effectLst/>
                <a:uFillTx/>
                <a:latin typeface="Aptos"/>
              </a:rPr>
              <a:t>5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Box 18"/>
          <p:cNvSpPr/>
          <p:nvPr/>
        </p:nvSpPr>
        <p:spPr>
          <a:xfrm>
            <a:off x="4169520" y="3246120"/>
            <a:ext cx="11793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50" strike="noStrike" u="none">
                <a:solidFill>
                  <a:srgbClr val="2a3745"/>
                </a:solidFill>
                <a:effectLst/>
                <a:uFillTx/>
                <a:latin typeface="Aptos"/>
              </a:rPr>
              <a:t>Customers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Rounded Rectangle 19"/>
          <p:cNvSpPr/>
          <p:nvPr/>
        </p:nvSpPr>
        <p:spPr>
          <a:xfrm>
            <a:off x="658440" y="4023360"/>
            <a:ext cx="1508400" cy="987120"/>
          </a:xfrm>
          <a:prstGeom prst="roundRect">
            <a:avLst>
              <a:gd name="adj" fmla="val 16667"/>
            </a:avLst>
          </a:prstGeom>
          <a:solidFill>
            <a:srgbClr val="fff6ef"/>
          </a:solidFill>
          <a:ln>
            <a:solidFill>
              <a:srgbClr val="dce4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1" name="TextBox 20"/>
          <p:cNvSpPr/>
          <p:nvPr/>
        </p:nvSpPr>
        <p:spPr>
          <a:xfrm>
            <a:off x="822960" y="4133160"/>
            <a:ext cx="11793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200" strike="noStrike" u="none">
                <a:solidFill>
                  <a:srgbClr val="e26823"/>
                </a:solidFill>
                <a:effectLst/>
                <a:uFillTx/>
                <a:latin typeface="Aptos"/>
              </a:rPr>
              <a:t>9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Box 21"/>
          <p:cNvSpPr/>
          <p:nvPr/>
        </p:nvSpPr>
        <p:spPr>
          <a:xfrm>
            <a:off x="822960" y="4480560"/>
            <a:ext cx="11793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50" strike="noStrike" u="none">
                <a:solidFill>
                  <a:srgbClr val="2a3745"/>
                </a:solidFill>
                <a:effectLst/>
                <a:uFillTx/>
                <a:latin typeface="Aptos"/>
              </a:rPr>
              <a:t>Orders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Rounded Rectangle 22"/>
          <p:cNvSpPr/>
          <p:nvPr/>
        </p:nvSpPr>
        <p:spPr>
          <a:xfrm>
            <a:off x="2331720" y="4023360"/>
            <a:ext cx="3181680" cy="987120"/>
          </a:xfrm>
          <a:prstGeom prst="roundRect">
            <a:avLst>
              <a:gd name="adj" fmla="val 16667"/>
            </a:avLst>
          </a:prstGeom>
          <a:solidFill>
            <a:srgbClr val="eff9f4"/>
          </a:solidFill>
          <a:ln>
            <a:solidFill>
              <a:srgbClr val="dce4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4" name="TextBox 23"/>
          <p:cNvSpPr/>
          <p:nvPr/>
        </p:nvSpPr>
        <p:spPr>
          <a:xfrm>
            <a:off x="2496240" y="4133160"/>
            <a:ext cx="28526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278b5d"/>
                </a:solidFill>
                <a:effectLst/>
                <a:uFillTx/>
                <a:latin typeface="Aptos"/>
              </a:rPr>
              <a:t>₹23,736.45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Box 24"/>
          <p:cNvSpPr/>
          <p:nvPr/>
        </p:nvSpPr>
        <p:spPr>
          <a:xfrm>
            <a:off x="2496240" y="4480560"/>
            <a:ext cx="28526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trike="noStrike" u="none">
                <a:solidFill>
                  <a:srgbClr val="2a3745"/>
                </a:solidFill>
                <a:effectLst/>
                <a:uFillTx/>
                <a:latin typeface="Aptos"/>
              </a:rPr>
              <a:t>Total sales shown in reports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Rounded Rectangle 25"/>
          <p:cNvSpPr/>
          <p:nvPr/>
        </p:nvSpPr>
        <p:spPr>
          <a:xfrm>
            <a:off x="5806440" y="1170360"/>
            <a:ext cx="5577480" cy="45259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ce4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47" name="Picture 26" descr="1000253761.jpg"/>
          <p:cNvPicPr/>
          <p:nvPr/>
        </p:nvPicPr>
        <p:blipFill>
          <a:blip r:embed="rId2"/>
          <a:stretch/>
        </p:blipFill>
        <p:spPr>
          <a:xfrm>
            <a:off x="5843160" y="1207080"/>
            <a:ext cx="5504400" cy="4452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8" name="TextBox 27"/>
          <p:cNvSpPr/>
          <p:nvPr/>
        </p:nvSpPr>
        <p:spPr>
          <a:xfrm>
            <a:off x="5806440" y="5751720"/>
            <a:ext cx="55774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950" strike="noStrike" u="none">
                <a:solidFill>
                  <a:srgbClr val="647484"/>
                </a:solidFill>
                <a:effectLst/>
                <a:uFillTx/>
                <a:latin typeface="Aptos"/>
              </a:rPr>
              <a:t>Actual dashboard output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Rectangle 1"/>
          <p:cNvSpPr/>
          <p:nvPr/>
        </p:nvSpPr>
        <p:spPr>
          <a:xfrm>
            <a:off x="0" y="0"/>
            <a:ext cx="12191760" cy="82080"/>
          </a:xfrm>
          <a:prstGeom prst="rect">
            <a:avLst/>
          </a:prstGeom>
          <a:solidFill>
            <a:srgbClr val="2466d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37440" bIns="37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0" name="TextBox 2"/>
          <p:cNvSpPr/>
          <p:nvPr/>
        </p:nvSpPr>
        <p:spPr>
          <a:xfrm>
            <a:off x="567000" y="311040"/>
            <a:ext cx="813780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500" strike="noStrike" u="none">
                <a:solidFill>
                  <a:srgbClr val="112b44"/>
                </a:solidFill>
                <a:effectLst/>
                <a:uFillTx/>
                <a:latin typeface="Aptos"/>
              </a:rPr>
              <a:t>Problem Statement &amp; Objectives</a:t>
            </a:r>
            <a:endParaRPr b="0" lang="en-US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Box 3"/>
          <p:cNvSpPr/>
          <p:nvPr/>
        </p:nvSpPr>
        <p:spPr>
          <a:xfrm>
            <a:off x="7452360" y="356616"/>
            <a:ext cx="2331720" cy="256032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wrap="square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919" strike="noStrike" u="none">
                <a:solidFill>
                  <a:srgbClr val="2466D6"/>
                </a:solidFill>
                <a:effectLst/>
                <a:uFillTx/>
                <a:latin typeface="Aptos"/>
              </a:rPr>
              <a:t>DESIGN CHALLENGE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2" name="Picture 4" descr="dbms_logo_clean.png"/>
          <p:cNvPicPr/>
          <p:nvPr/>
        </p:nvPicPr>
        <p:blipFill>
          <a:blip r:embed="rId1"/>
          <a:stretch/>
        </p:blipFill>
        <p:spPr>
          <a:xfrm>
            <a:off x="10012680" y="173880"/>
            <a:ext cx="1627200" cy="306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3" name="Rectangle 5"/>
          <p:cNvSpPr/>
          <p:nvPr/>
        </p:nvSpPr>
        <p:spPr>
          <a:xfrm>
            <a:off x="567000" y="6473880"/>
            <a:ext cx="10926720" cy="13320"/>
          </a:xfrm>
          <a:prstGeom prst="rect">
            <a:avLst/>
          </a:prstGeom>
          <a:solidFill>
            <a:srgbClr val="dce4e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1320" bIns="-313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4" name="TextBox 6"/>
          <p:cNvSpPr/>
          <p:nvPr/>
        </p:nvSpPr>
        <p:spPr>
          <a:xfrm>
            <a:off x="585360" y="6519600"/>
            <a:ext cx="47545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0" lang="en-US" sz="750" strike="noStrike" u="none">
                <a:solidFill>
                  <a:srgbClr val="647484"/>
                </a:solidFill>
                <a:effectLst/>
                <a:uFillTx/>
                <a:latin typeface="Aptos"/>
              </a:rPr>
              <a:t>DBMS • E-COMMERCE MANAGEMENT SYSTEM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Box 7"/>
          <p:cNvSpPr/>
          <p:nvPr/>
        </p:nvSpPr>
        <p:spPr>
          <a:xfrm>
            <a:off x="10972800" y="6492240"/>
            <a:ext cx="3837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800" strike="noStrike" u="none">
                <a:solidFill>
                  <a:srgbClr val="647484"/>
                </a:solidFill>
                <a:effectLst/>
                <a:uFillTx/>
                <a:latin typeface="Aptos"/>
              </a:rPr>
              <a:t>4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Rounded Rectangle 8"/>
          <p:cNvSpPr/>
          <p:nvPr/>
        </p:nvSpPr>
        <p:spPr>
          <a:xfrm>
            <a:off x="658440" y="1170360"/>
            <a:ext cx="5074560" cy="1416960"/>
          </a:xfrm>
          <a:prstGeom prst="roundRect">
            <a:avLst>
              <a:gd name="adj" fmla="val 16667"/>
            </a:avLst>
          </a:prstGeom>
          <a:solidFill>
            <a:srgbClr val="fff6ef"/>
          </a:solidFill>
          <a:ln>
            <a:solidFill>
              <a:srgbClr val="dce4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7" name="TextBox 9"/>
          <p:cNvSpPr/>
          <p:nvPr/>
        </p:nvSpPr>
        <p:spPr>
          <a:xfrm>
            <a:off x="822960" y="1280160"/>
            <a:ext cx="47455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trike="noStrike" u="none">
                <a:solidFill>
                  <a:srgbClr val="e26823"/>
                </a:solidFill>
                <a:effectLst/>
                <a:uFillTx/>
                <a:latin typeface="Aptos"/>
              </a:rPr>
              <a:t>THE CHALLENGE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Box 10"/>
          <p:cNvSpPr/>
          <p:nvPr/>
        </p:nvSpPr>
        <p:spPr>
          <a:xfrm>
            <a:off x="822960" y="1627560"/>
            <a:ext cx="474552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2a3745"/>
                </a:solidFill>
                <a:effectLst/>
                <a:uFillTx/>
                <a:latin typeface="Aptos"/>
              </a:rPr>
              <a:t>E-commerce data is distributed across connected entities. The DBMS must maintain relationships, enforce integrity and support reliable retrieval and transactional updates.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Oval 11"/>
          <p:cNvSpPr/>
          <p:nvPr/>
        </p:nvSpPr>
        <p:spPr>
          <a:xfrm>
            <a:off x="749880" y="2853000"/>
            <a:ext cx="420120" cy="420120"/>
          </a:xfrm>
          <a:prstGeom prst="ellipse">
            <a:avLst/>
          </a:prstGeom>
          <a:solidFill>
            <a:srgbClr val="2466d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0" name="TextBox 12"/>
          <p:cNvSpPr/>
          <p:nvPr/>
        </p:nvSpPr>
        <p:spPr>
          <a:xfrm>
            <a:off x="749880" y="2862000"/>
            <a:ext cx="420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01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Box 13"/>
          <p:cNvSpPr/>
          <p:nvPr/>
        </p:nvSpPr>
        <p:spPr>
          <a:xfrm>
            <a:off x="1316880" y="2834640"/>
            <a:ext cx="41418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112b44"/>
                </a:solidFill>
                <a:effectLst/>
                <a:uFillTx/>
                <a:latin typeface="Aptos"/>
              </a:rPr>
              <a:t>Normalize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Box 14"/>
          <p:cNvSpPr/>
          <p:nvPr/>
        </p:nvSpPr>
        <p:spPr>
          <a:xfrm>
            <a:off x="1316880" y="3163680"/>
            <a:ext cx="414180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80" strike="noStrike" u="none">
                <a:solidFill>
                  <a:srgbClr val="647484"/>
                </a:solidFill>
                <a:effectLst/>
                <a:uFillTx/>
                <a:latin typeface="Aptos"/>
              </a:rPr>
              <a:t>Structure related data with reduced redundancy.</a:t>
            </a:r>
            <a:endParaRPr b="0" lang="en-US" sz="10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Oval 15"/>
          <p:cNvSpPr/>
          <p:nvPr/>
        </p:nvSpPr>
        <p:spPr>
          <a:xfrm>
            <a:off x="749880" y="3474720"/>
            <a:ext cx="420120" cy="420120"/>
          </a:xfrm>
          <a:prstGeom prst="ellipse">
            <a:avLst/>
          </a:prstGeom>
          <a:solidFill>
            <a:srgbClr val="e2682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4" name="TextBox 16"/>
          <p:cNvSpPr/>
          <p:nvPr/>
        </p:nvSpPr>
        <p:spPr>
          <a:xfrm>
            <a:off x="749880" y="3483720"/>
            <a:ext cx="420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02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Box 17"/>
          <p:cNvSpPr/>
          <p:nvPr/>
        </p:nvSpPr>
        <p:spPr>
          <a:xfrm>
            <a:off x="1316880" y="3456360"/>
            <a:ext cx="41418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112b44"/>
                </a:solidFill>
                <a:effectLst/>
                <a:uFillTx/>
                <a:latin typeface="Aptos"/>
              </a:rPr>
              <a:t>Enforce integrity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Box 18"/>
          <p:cNvSpPr/>
          <p:nvPr/>
        </p:nvSpPr>
        <p:spPr>
          <a:xfrm>
            <a:off x="1316880" y="3785760"/>
            <a:ext cx="414180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80" strike="noStrike" u="none">
                <a:solidFill>
                  <a:srgbClr val="647484"/>
                </a:solidFill>
                <a:effectLst/>
                <a:uFillTx/>
                <a:latin typeface="Aptos"/>
              </a:rPr>
              <a:t>Use PK, FK, UNIQUE, CHECK and NOT NULL rules.</a:t>
            </a:r>
            <a:endParaRPr b="0" lang="en-US" sz="10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Oval 19"/>
          <p:cNvSpPr/>
          <p:nvPr/>
        </p:nvSpPr>
        <p:spPr>
          <a:xfrm>
            <a:off x="749880" y="4096440"/>
            <a:ext cx="420120" cy="420120"/>
          </a:xfrm>
          <a:prstGeom prst="ellipse">
            <a:avLst/>
          </a:prstGeom>
          <a:solidFill>
            <a:srgbClr val="278b5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8" name="TextBox 20"/>
          <p:cNvSpPr/>
          <p:nvPr/>
        </p:nvSpPr>
        <p:spPr>
          <a:xfrm>
            <a:off x="749880" y="4105800"/>
            <a:ext cx="420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03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Box 21"/>
          <p:cNvSpPr/>
          <p:nvPr/>
        </p:nvSpPr>
        <p:spPr>
          <a:xfrm>
            <a:off x="1316880" y="4078080"/>
            <a:ext cx="41418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112b44"/>
                </a:solidFill>
                <a:effectLst/>
                <a:uFillTx/>
                <a:latin typeface="Aptos"/>
              </a:rPr>
              <a:t>Support operations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Box 22"/>
          <p:cNvSpPr/>
          <p:nvPr/>
        </p:nvSpPr>
        <p:spPr>
          <a:xfrm>
            <a:off x="1316880" y="4407480"/>
            <a:ext cx="414180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80" strike="noStrike" u="none">
                <a:solidFill>
                  <a:srgbClr val="647484"/>
                </a:solidFill>
                <a:effectLst/>
                <a:uFillTx/>
                <a:latin typeface="Aptos"/>
              </a:rPr>
              <a:t>Manage products, customers, sellers, carts and orders.</a:t>
            </a:r>
            <a:endParaRPr b="0" lang="en-US" sz="10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Oval 23"/>
          <p:cNvSpPr/>
          <p:nvPr/>
        </p:nvSpPr>
        <p:spPr>
          <a:xfrm>
            <a:off x="749880" y="4718160"/>
            <a:ext cx="420120" cy="420120"/>
          </a:xfrm>
          <a:prstGeom prst="ellipse">
            <a:avLst/>
          </a:prstGeom>
          <a:solidFill>
            <a:srgbClr val="2466d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2" name="TextBox 24"/>
          <p:cNvSpPr/>
          <p:nvPr/>
        </p:nvSpPr>
        <p:spPr>
          <a:xfrm>
            <a:off x="749880" y="4727520"/>
            <a:ext cx="420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04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Box 25"/>
          <p:cNvSpPr/>
          <p:nvPr/>
        </p:nvSpPr>
        <p:spPr>
          <a:xfrm>
            <a:off x="1316880" y="4700160"/>
            <a:ext cx="41418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112b44"/>
                </a:solidFill>
                <a:effectLst/>
                <a:uFillTx/>
                <a:latin typeface="Aptos"/>
              </a:rPr>
              <a:t>Query &amp; report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Box 26"/>
          <p:cNvSpPr/>
          <p:nvPr/>
        </p:nvSpPr>
        <p:spPr>
          <a:xfrm>
            <a:off x="1316880" y="5029200"/>
            <a:ext cx="414180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80" strike="noStrike" u="none">
                <a:solidFill>
                  <a:srgbClr val="647484"/>
                </a:solidFill>
                <a:effectLst/>
                <a:uFillTx/>
                <a:latin typeface="Aptos"/>
              </a:rPr>
              <a:t>Retrieve and aggregate information through SQL.</a:t>
            </a:r>
            <a:endParaRPr b="0" lang="en-US" sz="10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Oval 27"/>
          <p:cNvSpPr/>
          <p:nvPr/>
        </p:nvSpPr>
        <p:spPr>
          <a:xfrm>
            <a:off x="749880" y="5340240"/>
            <a:ext cx="420120" cy="420120"/>
          </a:xfrm>
          <a:prstGeom prst="ellipse">
            <a:avLst/>
          </a:prstGeom>
          <a:solidFill>
            <a:srgbClr val="e2682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6" name="TextBox 28"/>
          <p:cNvSpPr/>
          <p:nvPr/>
        </p:nvSpPr>
        <p:spPr>
          <a:xfrm>
            <a:off x="749880" y="5349240"/>
            <a:ext cx="420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05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Box 29"/>
          <p:cNvSpPr/>
          <p:nvPr/>
        </p:nvSpPr>
        <p:spPr>
          <a:xfrm>
            <a:off x="1316880" y="5321880"/>
            <a:ext cx="41418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112b44"/>
                </a:solidFill>
                <a:effectLst/>
                <a:uFillTx/>
                <a:latin typeface="Aptos"/>
              </a:rPr>
              <a:t>Control transactions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Box 30"/>
          <p:cNvSpPr/>
          <p:nvPr/>
        </p:nvSpPr>
        <p:spPr>
          <a:xfrm>
            <a:off x="1316880" y="5650920"/>
            <a:ext cx="414180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80" strike="noStrike" u="none">
                <a:solidFill>
                  <a:srgbClr val="647484"/>
                </a:solidFill>
                <a:effectLst/>
                <a:uFillTx/>
                <a:latin typeface="Aptos"/>
              </a:rPr>
              <a:t>Commit successful work and roll back failures.</a:t>
            </a:r>
            <a:endParaRPr b="0" lang="en-US" sz="10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Rounded Rectangle 31"/>
          <p:cNvSpPr/>
          <p:nvPr/>
        </p:nvSpPr>
        <p:spPr>
          <a:xfrm>
            <a:off x="6126480" y="1170360"/>
            <a:ext cx="5074560" cy="1965600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>
            <a:solidFill>
              <a:srgbClr val="dce4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0" name="TextBox 32"/>
          <p:cNvSpPr/>
          <p:nvPr/>
        </p:nvSpPr>
        <p:spPr>
          <a:xfrm>
            <a:off x="6291000" y="1280160"/>
            <a:ext cx="47455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2466d6"/>
                </a:solidFill>
                <a:effectLst/>
                <a:uFillTx/>
                <a:latin typeface="Aptos"/>
              </a:rPr>
              <a:t>DBMS PERSPECTIVE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Box 33"/>
          <p:cNvSpPr/>
          <p:nvPr/>
        </p:nvSpPr>
        <p:spPr>
          <a:xfrm>
            <a:off x="6291000" y="1627560"/>
            <a:ext cx="4745520" cy="141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120" strike="noStrike" u="none">
                <a:solidFill>
                  <a:srgbClr val="2a3745"/>
                </a:solidFill>
                <a:effectLst/>
                <a:uFillTx/>
                <a:latin typeface="Aptos"/>
              </a:rPr>
              <a:t>DATA → customers / products / orders / payments</a:t>
            </a:r>
            <a:endParaRPr b="0" lang="en-US" sz="11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en-US" sz="1120" strike="noStrike" u="none">
                <a:solidFill>
                  <a:srgbClr val="2a3745"/>
                </a:solidFill>
                <a:effectLst/>
                <a:uFillTx/>
                <a:latin typeface="Aptos"/>
              </a:rPr>
              <a:t>RULES → keys / constraints</a:t>
            </a:r>
            <a:endParaRPr b="0" lang="en-US" sz="11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en-US" sz="1120" strike="noStrike" u="none">
                <a:solidFill>
                  <a:srgbClr val="2a3745"/>
                </a:solidFill>
                <a:effectLst/>
                <a:uFillTx/>
                <a:latin typeface="Aptos"/>
              </a:rPr>
              <a:t>ACCESS → SELECT / JOIN / views / procedures</a:t>
            </a:r>
            <a:endParaRPr b="0" lang="en-US" sz="11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20" strike="noStrike" u="none">
                <a:solidFill>
                  <a:srgbClr val="2a3745"/>
                </a:solidFill>
                <a:effectLst/>
                <a:uFillTx/>
                <a:latin typeface="Aptos"/>
              </a:rPr>
              <a:t>CONTROL → COMMIT / ROLLBACK</a:t>
            </a:r>
            <a:endParaRPr b="0" lang="en-US" sz="11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Rounded Rectangle 34"/>
          <p:cNvSpPr/>
          <p:nvPr/>
        </p:nvSpPr>
        <p:spPr>
          <a:xfrm>
            <a:off x="6126480" y="3401640"/>
            <a:ext cx="5074560" cy="20570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ce4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83" name="Picture 35" descr="1000253777.jpg"/>
          <p:cNvPicPr/>
          <p:nvPr/>
        </p:nvPicPr>
        <p:blipFill>
          <a:blip r:embed="rId2"/>
          <a:stretch/>
        </p:blipFill>
        <p:spPr>
          <a:xfrm>
            <a:off x="6163200" y="3438000"/>
            <a:ext cx="5001480" cy="198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4" name="TextBox 36"/>
          <p:cNvSpPr/>
          <p:nvPr/>
        </p:nvSpPr>
        <p:spPr>
          <a:xfrm>
            <a:off x="6126480" y="5513760"/>
            <a:ext cx="50745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950" strike="noStrike" u="none">
                <a:solidFill>
                  <a:srgbClr val="647484"/>
                </a:solidFill>
                <a:effectLst/>
                <a:uFillTx/>
                <a:latin typeface="Aptos"/>
              </a:rPr>
              <a:t>Administrator login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Rectangle 1"/>
          <p:cNvSpPr/>
          <p:nvPr/>
        </p:nvSpPr>
        <p:spPr>
          <a:xfrm>
            <a:off x="0" y="0"/>
            <a:ext cx="12191760" cy="82080"/>
          </a:xfrm>
          <a:prstGeom prst="rect">
            <a:avLst/>
          </a:prstGeom>
          <a:solidFill>
            <a:srgbClr val="2466d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37440" bIns="37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6" name="TextBox 2"/>
          <p:cNvSpPr/>
          <p:nvPr/>
        </p:nvSpPr>
        <p:spPr>
          <a:xfrm>
            <a:off x="567000" y="311040"/>
            <a:ext cx="813780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500" strike="noStrike" u="none">
                <a:solidFill>
                  <a:srgbClr val="112b44"/>
                </a:solidFill>
                <a:effectLst/>
                <a:uFillTx/>
                <a:latin typeface="Aptos"/>
              </a:rPr>
              <a:t>System Modules &amp; Core Workflow</a:t>
            </a:r>
            <a:endParaRPr b="0" lang="en-US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Box 3"/>
          <p:cNvSpPr/>
          <p:nvPr/>
        </p:nvSpPr>
        <p:spPr>
          <a:xfrm>
            <a:off x="7452360" y="356616"/>
            <a:ext cx="2331720" cy="256032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wrap="square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919" strike="noStrike" u="none">
                <a:solidFill>
                  <a:srgbClr val="2466D6"/>
                </a:solidFill>
                <a:effectLst/>
                <a:uFillTx/>
                <a:latin typeface="Aptos"/>
              </a:rPr>
              <a:t>CURRENT IMPLEMENTATION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8" name="Picture 4" descr="dbms_logo_clean.png"/>
          <p:cNvPicPr/>
          <p:nvPr/>
        </p:nvPicPr>
        <p:blipFill>
          <a:blip r:embed="rId1"/>
          <a:stretch/>
        </p:blipFill>
        <p:spPr>
          <a:xfrm>
            <a:off x="10012680" y="173880"/>
            <a:ext cx="1627200" cy="306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9" name="Rectangle 5"/>
          <p:cNvSpPr/>
          <p:nvPr/>
        </p:nvSpPr>
        <p:spPr>
          <a:xfrm>
            <a:off x="567000" y="6473880"/>
            <a:ext cx="10926720" cy="13320"/>
          </a:xfrm>
          <a:prstGeom prst="rect">
            <a:avLst/>
          </a:prstGeom>
          <a:solidFill>
            <a:srgbClr val="dce4e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1320" bIns="-313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0" name="TextBox 6"/>
          <p:cNvSpPr/>
          <p:nvPr/>
        </p:nvSpPr>
        <p:spPr>
          <a:xfrm>
            <a:off x="585360" y="6519600"/>
            <a:ext cx="47545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0" lang="en-US" sz="750" strike="noStrike" u="none">
                <a:solidFill>
                  <a:srgbClr val="647484"/>
                </a:solidFill>
                <a:effectLst/>
                <a:uFillTx/>
                <a:latin typeface="Aptos"/>
              </a:rPr>
              <a:t>DBMS • E-COMMERCE MANAGEMENT SYSTEM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Box 7"/>
          <p:cNvSpPr/>
          <p:nvPr/>
        </p:nvSpPr>
        <p:spPr>
          <a:xfrm>
            <a:off x="10972800" y="6492240"/>
            <a:ext cx="3837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800" strike="noStrike" u="none">
                <a:solidFill>
                  <a:srgbClr val="647484"/>
                </a:solidFill>
                <a:effectLst/>
                <a:uFillTx/>
                <a:latin typeface="Aptos"/>
              </a:rPr>
              <a:t>5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Rounded Rectangle 8"/>
          <p:cNvSpPr/>
          <p:nvPr/>
        </p:nvSpPr>
        <p:spPr>
          <a:xfrm>
            <a:off x="640080" y="1170360"/>
            <a:ext cx="2514240" cy="840960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>
            <a:solidFill>
              <a:srgbClr val="dce4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3" name="TextBox 9"/>
          <p:cNvSpPr/>
          <p:nvPr/>
        </p:nvSpPr>
        <p:spPr>
          <a:xfrm>
            <a:off x="804600" y="1280160"/>
            <a:ext cx="21852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50" strike="noStrike" u="none">
                <a:solidFill>
                  <a:srgbClr val="2466d6"/>
                </a:solidFill>
                <a:effectLst/>
                <a:uFillTx/>
                <a:latin typeface="Aptos"/>
              </a:rPr>
              <a:t>Products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Box 10"/>
          <p:cNvSpPr/>
          <p:nvPr/>
        </p:nvSpPr>
        <p:spPr>
          <a:xfrm>
            <a:off x="804600" y="1627560"/>
            <a:ext cx="21852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20" strike="noStrike" u="none">
                <a:solidFill>
                  <a:srgbClr val="2a3745"/>
                </a:solidFill>
                <a:effectLst/>
                <a:uFillTx/>
                <a:latin typeface="Aptos"/>
              </a:rPr>
              <a:t>catalog + stock</a:t>
            </a:r>
            <a:endParaRPr b="0" lang="en-US" sz="1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Rounded Rectangle 11"/>
          <p:cNvSpPr/>
          <p:nvPr/>
        </p:nvSpPr>
        <p:spPr>
          <a:xfrm>
            <a:off x="3429000" y="1170360"/>
            <a:ext cx="2514240" cy="840960"/>
          </a:xfrm>
          <a:prstGeom prst="roundRect">
            <a:avLst>
              <a:gd name="adj" fmla="val 16667"/>
            </a:avLst>
          </a:prstGeom>
          <a:solidFill>
            <a:srgbClr val="fff6ef"/>
          </a:solidFill>
          <a:ln>
            <a:solidFill>
              <a:srgbClr val="dce4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6" name="TextBox 12"/>
          <p:cNvSpPr/>
          <p:nvPr/>
        </p:nvSpPr>
        <p:spPr>
          <a:xfrm>
            <a:off x="3593520" y="1280160"/>
            <a:ext cx="21852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50" strike="noStrike" u="none">
                <a:solidFill>
                  <a:srgbClr val="e26823"/>
                </a:solidFill>
                <a:effectLst/>
                <a:uFillTx/>
                <a:latin typeface="Aptos"/>
              </a:rPr>
              <a:t>Categories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Box 13"/>
          <p:cNvSpPr/>
          <p:nvPr/>
        </p:nvSpPr>
        <p:spPr>
          <a:xfrm>
            <a:off x="3593520" y="1627560"/>
            <a:ext cx="21852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20" strike="noStrike" u="none">
                <a:solidFill>
                  <a:srgbClr val="2a3745"/>
                </a:solidFill>
                <a:effectLst/>
                <a:uFillTx/>
                <a:latin typeface="Aptos"/>
              </a:rPr>
              <a:t>classification</a:t>
            </a:r>
            <a:endParaRPr b="0" lang="en-US" sz="1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Rounded Rectangle 14"/>
          <p:cNvSpPr/>
          <p:nvPr/>
        </p:nvSpPr>
        <p:spPr>
          <a:xfrm>
            <a:off x="6217920" y="1170360"/>
            <a:ext cx="2514240" cy="840960"/>
          </a:xfrm>
          <a:prstGeom prst="roundRect">
            <a:avLst>
              <a:gd name="adj" fmla="val 16667"/>
            </a:avLst>
          </a:prstGeom>
          <a:solidFill>
            <a:srgbClr val="eff9f4"/>
          </a:solidFill>
          <a:ln>
            <a:solidFill>
              <a:srgbClr val="dce4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9" name="TextBox 15"/>
          <p:cNvSpPr/>
          <p:nvPr/>
        </p:nvSpPr>
        <p:spPr>
          <a:xfrm>
            <a:off x="6382440" y="1280160"/>
            <a:ext cx="21852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50" strike="noStrike" u="none">
                <a:solidFill>
                  <a:srgbClr val="278b5d"/>
                </a:solidFill>
                <a:effectLst/>
                <a:uFillTx/>
                <a:latin typeface="Aptos"/>
              </a:rPr>
              <a:t>Sellers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Box 16"/>
          <p:cNvSpPr/>
          <p:nvPr/>
        </p:nvSpPr>
        <p:spPr>
          <a:xfrm>
            <a:off x="6382440" y="1627560"/>
            <a:ext cx="21852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20" strike="noStrike" u="none">
                <a:solidFill>
                  <a:srgbClr val="2a3745"/>
                </a:solidFill>
                <a:effectLst/>
                <a:uFillTx/>
                <a:latin typeface="Aptos"/>
              </a:rPr>
              <a:t>seller records</a:t>
            </a:r>
            <a:endParaRPr b="0" lang="en-US" sz="1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Rounded Rectangle 17"/>
          <p:cNvSpPr/>
          <p:nvPr/>
        </p:nvSpPr>
        <p:spPr>
          <a:xfrm>
            <a:off x="9006840" y="1170360"/>
            <a:ext cx="2514240" cy="840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ce4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2" name="TextBox 18"/>
          <p:cNvSpPr/>
          <p:nvPr/>
        </p:nvSpPr>
        <p:spPr>
          <a:xfrm>
            <a:off x="9171360" y="1280160"/>
            <a:ext cx="21852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50" strike="noStrike" u="none">
                <a:solidFill>
                  <a:srgbClr val="2466d6"/>
                </a:solidFill>
                <a:effectLst/>
                <a:uFillTx/>
                <a:latin typeface="Aptos"/>
              </a:rPr>
              <a:t>Customers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Box 19"/>
          <p:cNvSpPr/>
          <p:nvPr/>
        </p:nvSpPr>
        <p:spPr>
          <a:xfrm>
            <a:off x="9171360" y="1627560"/>
            <a:ext cx="21852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20" strike="noStrike" u="none">
                <a:solidFill>
                  <a:srgbClr val="2a3745"/>
                </a:solidFill>
                <a:effectLst/>
                <a:uFillTx/>
                <a:latin typeface="Aptos"/>
              </a:rPr>
              <a:t>customer records</a:t>
            </a:r>
            <a:endParaRPr b="0" lang="en-US" sz="1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Rounded Rectangle 20"/>
          <p:cNvSpPr/>
          <p:nvPr/>
        </p:nvSpPr>
        <p:spPr>
          <a:xfrm>
            <a:off x="640080" y="2249280"/>
            <a:ext cx="2514240" cy="840960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>
            <a:solidFill>
              <a:srgbClr val="dce4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5" name="TextBox 21"/>
          <p:cNvSpPr/>
          <p:nvPr/>
        </p:nvSpPr>
        <p:spPr>
          <a:xfrm>
            <a:off x="804600" y="2359080"/>
            <a:ext cx="21852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50" strike="noStrike" u="none">
                <a:solidFill>
                  <a:srgbClr val="2466d6"/>
                </a:solidFill>
                <a:effectLst/>
                <a:uFillTx/>
                <a:latin typeface="Aptos"/>
              </a:rPr>
              <a:t>Cart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Box 22"/>
          <p:cNvSpPr/>
          <p:nvPr/>
        </p:nvSpPr>
        <p:spPr>
          <a:xfrm>
            <a:off x="804600" y="2706480"/>
            <a:ext cx="21852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20" strike="noStrike" u="none">
                <a:solidFill>
                  <a:srgbClr val="2a3745"/>
                </a:solidFill>
                <a:effectLst/>
                <a:uFillTx/>
                <a:latin typeface="Aptos"/>
              </a:rPr>
              <a:t>items + quantities</a:t>
            </a:r>
            <a:endParaRPr b="0" lang="en-US" sz="1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Rounded Rectangle 23"/>
          <p:cNvSpPr/>
          <p:nvPr/>
        </p:nvSpPr>
        <p:spPr>
          <a:xfrm>
            <a:off x="3429000" y="2249280"/>
            <a:ext cx="2514240" cy="840960"/>
          </a:xfrm>
          <a:prstGeom prst="roundRect">
            <a:avLst>
              <a:gd name="adj" fmla="val 16667"/>
            </a:avLst>
          </a:prstGeom>
          <a:solidFill>
            <a:srgbClr val="fff6ef"/>
          </a:solidFill>
          <a:ln>
            <a:solidFill>
              <a:srgbClr val="dce4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8" name="TextBox 24"/>
          <p:cNvSpPr/>
          <p:nvPr/>
        </p:nvSpPr>
        <p:spPr>
          <a:xfrm>
            <a:off x="3593520" y="2359080"/>
            <a:ext cx="21852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50" strike="noStrike" u="none">
                <a:solidFill>
                  <a:srgbClr val="e26823"/>
                </a:solidFill>
                <a:effectLst/>
                <a:uFillTx/>
                <a:latin typeface="Aptos"/>
              </a:rPr>
              <a:t>Orders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Box 25"/>
          <p:cNvSpPr/>
          <p:nvPr/>
        </p:nvSpPr>
        <p:spPr>
          <a:xfrm>
            <a:off x="3593520" y="2706480"/>
            <a:ext cx="21852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20" strike="noStrike" u="none">
                <a:solidFill>
                  <a:srgbClr val="2a3745"/>
                </a:solidFill>
                <a:effectLst/>
                <a:uFillTx/>
                <a:latin typeface="Aptos"/>
              </a:rPr>
              <a:t>purchase lifecycle</a:t>
            </a:r>
            <a:endParaRPr b="0" lang="en-US" sz="1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Rounded Rectangle 26"/>
          <p:cNvSpPr/>
          <p:nvPr/>
        </p:nvSpPr>
        <p:spPr>
          <a:xfrm>
            <a:off x="6217920" y="2249280"/>
            <a:ext cx="2514240" cy="840960"/>
          </a:xfrm>
          <a:prstGeom prst="roundRect">
            <a:avLst>
              <a:gd name="adj" fmla="val 16667"/>
            </a:avLst>
          </a:prstGeom>
          <a:solidFill>
            <a:srgbClr val="eff9f4"/>
          </a:solidFill>
          <a:ln>
            <a:solidFill>
              <a:srgbClr val="dce4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1" name="TextBox 27"/>
          <p:cNvSpPr/>
          <p:nvPr/>
        </p:nvSpPr>
        <p:spPr>
          <a:xfrm>
            <a:off x="6382440" y="2359080"/>
            <a:ext cx="21852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50" strike="noStrike" u="none">
                <a:solidFill>
                  <a:srgbClr val="278b5d"/>
                </a:solidFill>
                <a:effectLst/>
                <a:uFillTx/>
                <a:latin typeface="Aptos"/>
              </a:rPr>
              <a:t>Payments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Box 28"/>
          <p:cNvSpPr/>
          <p:nvPr/>
        </p:nvSpPr>
        <p:spPr>
          <a:xfrm>
            <a:off x="6382440" y="2706480"/>
            <a:ext cx="21852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20" strike="noStrike" u="none">
                <a:solidFill>
                  <a:srgbClr val="2a3745"/>
                </a:solidFill>
                <a:effectLst/>
                <a:uFillTx/>
                <a:latin typeface="Aptos"/>
              </a:rPr>
              <a:t>payment tracking</a:t>
            </a:r>
            <a:endParaRPr b="0" lang="en-US" sz="1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Rounded Rectangle 29"/>
          <p:cNvSpPr/>
          <p:nvPr/>
        </p:nvSpPr>
        <p:spPr>
          <a:xfrm>
            <a:off x="9006840" y="2249280"/>
            <a:ext cx="2514240" cy="840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ce4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4" name="TextBox 30"/>
          <p:cNvSpPr/>
          <p:nvPr/>
        </p:nvSpPr>
        <p:spPr>
          <a:xfrm>
            <a:off x="9171360" y="2359080"/>
            <a:ext cx="21852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50" strike="noStrike" u="none">
                <a:solidFill>
                  <a:srgbClr val="2466d6"/>
                </a:solidFill>
                <a:effectLst/>
                <a:uFillTx/>
                <a:latin typeface="Aptos"/>
              </a:rPr>
              <a:t>Shipping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Box 31"/>
          <p:cNvSpPr/>
          <p:nvPr/>
        </p:nvSpPr>
        <p:spPr>
          <a:xfrm>
            <a:off x="9171360" y="2706480"/>
            <a:ext cx="21852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20" strike="noStrike" u="none">
                <a:solidFill>
                  <a:srgbClr val="2a3745"/>
                </a:solidFill>
                <a:effectLst/>
                <a:uFillTx/>
                <a:latin typeface="Aptos"/>
              </a:rPr>
              <a:t>delivery data</a:t>
            </a:r>
            <a:endParaRPr b="0" lang="en-US" sz="1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Rounded Rectangle 32"/>
          <p:cNvSpPr/>
          <p:nvPr/>
        </p:nvSpPr>
        <p:spPr>
          <a:xfrm>
            <a:off x="640080" y="3328560"/>
            <a:ext cx="2514240" cy="840960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>
            <a:solidFill>
              <a:srgbClr val="dce4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7" name="TextBox 33"/>
          <p:cNvSpPr/>
          <p:nvPr/>
        </p:nvSpPr>
        <p:spPr>
          <a:xfrm>
            <a:off x="804600" y="3438000"/>
            <a:ext cx="21852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50" strike="noStrike" u="none">
                <a:solidFill>
                  <a:srgbClr val="2466d6"/>
                </a:solidFill>
                <a:effectLst/>
                <a:uFillTx/>
                <a:latin typeface="Aptos"/>
              </a:rPr>
              <a:t>Coupons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Box 34"/>
          <p:cNvSpPr/>
          <p:nvPr/>
        </p:nvSpPr>
        <p:spPr>
          <a:xfrm>
            <a:off x="804600" y="3785760"/>
            <a:ext cx="21852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20" strike="noStrike" u="none">
                <a:solidFill>
                  <a:srgbClr val="2a3745"/>
                </a:solidFill>
                <a:effectLst/>
                <a:uFillTx/>
                <a:latin typeface="Aptos"/>
              </a:rPr>
              <a:t>discount records</a:t>
            </a:r>
            <a:endParaRPr b="0" lang="en-US" sz="1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Rounded Rectangle 35"/>
          <p:cNvSpPr/>
          <p:nvPr/>
        </p:nvSpPr>
        <p:spPr>
          <a:xfrm>
            <a:off x="3429000" y="3328560"/>
            <a:ext cx="2514240" cy="840960"/>
          </a:xfrm>
          <a:prstGeom prst="roundRect">
            <a:avLst>
              <a:gd name="adj" fmla="val 16667"/>
            </a:avLst>
          </a:prstGeom>
          <a:solidFill>
            <a:srgbClr val="fff6ef"/>
          </a:solidFill>
          <a:ln>
            <a:solidFill>
              <a:srgbClr val="dce4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0" name="TextBox 36"/>
          <p:cNvSpPr/>
          <p:nvPr/>
        </p:nvSpPr>
        <p:spPr>
          <a:xfrm>
            <a:off x="3593520" y="3438000"/>
            <a:ext cx="21852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50" strike="noStrike" u="none">
                <a:solidFill>
                  <a:srgbClr val="e26823"/>
                </a:solidFill>
                <a:effectLst/>
                <a:uFillTx/>
                <a:latin typeface="Aptos"/>
              </a:rPr>
              <a:t>Reviews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Box 37"/>
          <p:cNvSpPr/>
          <p:nvPr/>
        </p:nvSpPr>
        <p:spPr>
          <a:xfrm>
            <a:off x="3593520" y="3785760"/>
            <a:ext cx="21852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20" strike="noStrike" u="none">
                <a:solidFill>
                  <a:srgbClr val="2a3745"/>
                </a:solidFill>
                <a:effectLst/>
                <a:uFillTx/>
                <a:latin typeface="Aptos"/>
              </a:rPr>
              <a:t>ratings + feedback</a:t>
            </a:r>
            <a:endParaRPr b="0" lang="en-US" sz="1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Rounded Rectangle 38"/>
          <p:cNvSpPr/>
          <p:nvPr/>
        </p:nvSpPr>
        <p:spPr>
          <a:xfrm>
            <a:off x="6217920" y="3328560"/>
            <a:ext cx="2514240" cy="840960"/>
          </a:xfrm>
          <a:prstGeom prst="roundRect">
            <a:avLst>
              <a:gd name="adj" fmla="val 16667"/>
            </a:avLst>
          </a:prstGeom>
          <a:solidFill>
            <a:srgbClr val="eff9f4"/>
          </a:solidFill>
          <a:ln>
            <a:solidFill>
              <a:srgbClr val="dce4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3" name="TextBox 39"/>
          <p:cNvSpPr/>
          <p:nvPr/>
        </p:nvSpPr>
        <p:spPr>
          <a:xfrm>
            <a:off x="6382440" y="3438000"/>
            <a:ext cx="21852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50" strike="noStrike" u="none">
                <a:solidFill>
                  <a:srgbClr val="278b5d"/>
                </a:solidFill>
                <a:effectLst/>
                <a:uFillTx/>
                <a:latin typeface="Aptos"/>
              </a:rPr>
              <a:t>Inventory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Box 40"/>
          <p:cNvSpPr/>
          <p:nvPr/>
        </p:nvSpPr>
        <p:spPr>
          <a:xfrm>
            <a:off x="6382440" y="3785760"/>
            <a:ext cx="21852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20" strike="noStrike" u="none">
                <a:solidFill>
                  <a:srgbClr val="2a3745"/>
                </a:solidFill>
                <a:effectLst/>
                <a:uFillTx/>
                <a:latin typeface="Aptos"/>
              </a:rPr>
              <a:t>stock control</a:t>
            </a:r>
            <a:endParaRPr b="0" lang="en-US" sz="1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Rounded Rectangle 41"/>
          <p:cNvSpPr/>
          <p:nvPr/>
        </p:nvSpPr>
        <p:spPr>
          <a:xfrm>
            <a:off x="9006840" y="3328560"/>
            <a:ext cx="2514240" cy="840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ce4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6" name="TextBox 42"/>
          <p:cNvSpPr/>
          <p:nvPr/>
        </p:nvSpPr>
        <p:spPr>
          <a:xfrm>
            <a:off x="9171360" y="3438000"/>
            <a:ext cx="21852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50" strike="noStrike" u="none">
                <a:solidFill>
                  <a:srgbClr val="2466d6"/>
                </a:solidFill>
                <a:effectLst/>
                <a:uFillTx/>
                <a:latin typeface="Aptos"/>
              </a:rPr>
              <a:t>Reports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Box 43"/>
          <p:cNvSpPr/>
          <p:nvPr/>
        </p:nvSpPr>
        <p:spPr>
          <a:xfrm>
            <a:off x="9171360" y="3785760"/>
            <a:ext cx="21852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20" strike="noStrike" u="none">
                <a:solidFill>
                  <a:srgbClr val="2a3745"/>
                </a:solidFill>
                <a:effectLst/>
                <a:uFillTx/>
                <a:latin typeface="Aptos"/>
              </a:rPr>
              <a:t>analytics</a:t>
            </a:r>
            <a:endParaRPr b="0" lang="en-US" sz="1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Box 44"/>
          <p:cNvSpPr/>
          <p:nvPr/>
        </p:nvSpPr>
        <p:spPr>
          <a:xfrm>
            <a:off x="1874519" y="4846320"/>
            <a:ext cx="8412480" cy="384048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wrap="square">
            <a:spAutoFit/>
          </a:bodyPr>
          <a:p>
            <a:pPr algn="ctr" defTabSz="457200">
              <a:lnSpc>
                <a:spcPct val="100000"/>
              </a:lnSpc>
            </a:pPr>
            <a:r>
              <a:rPr sz="1220" b="1">
                <a:solidFill>
                  <a:srgbClr val="1F2937"/>
                </a:solidFill>
                <a:latin typeface="Aptos"/>
              </a:rPr>
              <a:t>Customer → Cart → Checkout → Order → Payment → Shipping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Box 45"/>
          <p:cNvSpPr/>
          <p:nvPr/>
        </p:nvSpPr>
        <p:spPr>
          <a:xfrm>
            <a:off x="1188720" y="5413320"/>
            <a:ext cx="97837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36576" bIns="36576" anchor="ctr" wrap="square">
            <a:spAutoFit/>
          </a:bodyPr>
          <a:p>
            <a:pPr algn="ctr" defTabSz="457200">
              <a:lnSpc>
                <a:spcPct val="100000"/>
              </a:lnSpc>
            </a:pPr>
            <a:r>
              <a:rPr sz="880" b="0">
                <a:solidFill>
                  <a:srgbClr val="4B5563"/>
                </a:solidFill>
                <a:latin typeface="Aptos"/>
              </a:rPr>
              <a:t>APPLICATION WORKFLOW • Cart → Checkout → Order is a business flow, not a direct ER foreign-key relationship.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Rectangle 1"/>
          <p:cNvSpPr/>
          <p:nvPr/>
        </p:nvSpPr>
        <p:spPr>
          <a:xfrm>
            <a:off x="0" y="0"/>
            <a:ext cx="12191760" cy="82080"/>
          </a:xfrm>
          <a:prstGeom prst="rect">
            <a:avLst/>
          </a:prstGeom>
          <a:solidFill>
            <a:srgbClr val="2466d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37440" bIns="37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1" name="TextBox 2"/>
          <p:cNvSpPr/>
          <p:nvPr/>
        </p:nvSpPr>
        <p:spPr>
          <a:xfrm>
            <a:off x="567000" y="311040"/>
            <a:ext cx="813780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500" strike="noStrike" u="none">
                <a:solidFill>
                  <a:srgbClr val="112b44"/>
                </a:solidFill>
                <a:effectLst/>
                <a:uFillTx/>
                <a:latin typeface="Aptos"/>
              </a:rPr>
              <a:t>System Architecture &amp; Data Flow</a:t>
            </a:r>
            <a:endParaRPr b="0" lang="en-US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Box 3"/>
          <p:cNvSpPr/>
          <p:nvPr/>
        </p:nvSpPr>
        <p:spPr>
          <a:xfrm>
            <a:off x="7452360" y="356616"/>
            <a:ext cx="2331720" cy="256032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wrap="square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919" strike="noStrike" u="none">
                <a:solidFill>
                  <a:srgbClr val="2466D6"/>
                </a:solidFill>
                <a:effectLst/>
                <a:uFillTx/>
                <a:latin typeface="Aptos"/>
              </a:rPr>
              <a:t>ARCHITECTURE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3" name="Picture 4" descr="dbms_logo_clean.png"/>
          <p:cNvPicPr/>
          <p:nvPr/>
        </p:nvPicPr>
        <p:blipFill>
          <a:blip r:embed="rId1"/>
          <a:stretch/>
        </p:blipFill>
        <p:spPr>
          <a:xfrm>
            <a:off x="10012680" y="173880"/>
            <a:ext cx="1627200" cy="306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4" name="Rectangle 5"/>
          <p:cNvSpPr/>
          <p:nvPr/>
        </p:nvSpPr>
        <p:spPr>
          <a:xfrm>
            <a:off x="567000" y="6473880"/>
            <a:ext cx="10926720" cy="13320"/>
          </a:xfrm>
          <a:prstGeom prst="rect">
            <a:avLst/>
          </a:prstGeom>
          <a:solidFill>
            <a:srgbClr val="dce4e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1320" bIns="-313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5" name="TextBox 6"/>
          <p:cNvSpPr/>
          <p:nvPr/>
        </p:nvSpPr>
        <p:spPr>
          <a:xfrm>
            <a:off x="585360" y="6519600"/>
            <a:ext cx="47545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0" lang="en-US" sz="750" strike="noStrike" u="none">
                <a:solidFill>
                  <a:srgbClr val="647484"/>
                </a:solidFill>
                <a:effectLst/>
                <a:uFillTx/>
                <a:latin typeface="Aptos"/>
              </a:rPr>
              <a:t>DBMS • E-COMMERCE MANAGEMENT SYSTEM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Box 7"/>
          <p:cNvSpPr/>
          <p:nvPr/>
        </p:nvSpPr>
        <p:spPr>
          <a:xfrm>
            <a:off x="10972800" y="6492240"/>
            <a:ext cx="3837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800" strike="noStrike" u="none">
                <a:solidFill>
                  <a:srgbClr val="647484"/>
                </a:solidFill>
                <a:effectLst/>
                <a:uFillTx/>
                <a:latin typeface="Aptos"/>
              </a:rPr>
              <a:t>6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Rounded Rectangle 8"/>
          <p:cNvSpPr/>
          <p:nvPr/>
        </p:nvSpPr>
        <p:spPr>
          <a:xfrm>
            <a:off x="914400" y="1143000"/>
            <a:ext cx="10149480" cy="6397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ce4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8" name="TextBox 9"/>
          <p:cNvSpPr/>
          <p:nvPr/>
        </p:nvSpPr>
        <p:spPr>
          <a:xfrm>
            <a:off x="1188720" y="1207080"/>
            <a:ext cx="29257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2466d6"/>
                </a:solidFill>
                <a:effectLst/>
                <a:uFillTx/>
                <a:latin typeface="Aptos"/>
              </a:rPr>
              <a:t>USER / ADMIN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Box 10"/>
          <p:cNvSpPr/>
          <p:nvPr/>
        </p:nvSpPr>
        <p:spPr>
          <a:xfrm>
            <a:off x="4206240" y="1207080"/>
            <a:ext cx="6217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2a3745"/>
                </a:solidFill>
                <a:effectLst/>
                <a:uFillTx/>
                <a:latin typeface="Aptos"/>
              </a:rPr>
              <a:t>Browser interface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Box 11"/>
          <p:cNvSpPr/>
          <p:nvPr/>
        </p:nvSpPr>
        <p:spPr>
          <a:xfrm>
            <a:off x="5715000" y="1746360"/>
            <a:ext cx="319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e26823"/>
                </a:solidFill>
                <a:effectLst/>
                <a:uFillTx/>
                <a:latin typeface="Aptos"/>
              </a:rPr>
              <a:t>↓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Rounded Rectangle 12"/>
          <p:cNvSpPr/>
          <p:nvPr/>
        </p:nvSpPr>
        <p:spPr>
          <a:xfrm>
            <a:off x="914400" y="2103120"/>
            <a:ext cx="10149480" cy="6397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ce4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2" name="TextBox 13"/>
          <p:cNvSpPr/>
          <p:nvPr/>
        </p:nvSpPr>
        <p:spPr>
          <a:xfrm>
            <a:off x="1188720" y="2167200"/>
            <a:ext cx="29257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2466d6"/>
                </a:solidFill>
                <a:effectLst/>
                <a:uFillTx/>
                <a:latin typeface="Aptos"/>
              </a:rPr>
              <a:t>FLASK APPLICATION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Box 14"/>
          <p:cNvSpPr/>
          <p:nvPr/>
        </p:nvSpPr>
        <p:spPr>
          <a:xfrm>
            <a:off x="4206240" y="2167200"/>
            <a:ext cx="6217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2a3745"/>
                </a:solidFill>
                <a:effectLst/>
                <a:uFillTx/>
                <a:latin typeface="Aptos"/>
              </a:rPr>
              <a:t>Routes • validation • sessions • business logic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TextBox 15"/>
          <p:cNvSpPr/>
          <p:nvPr/>
        </p:nvSpPr>
        <p:spPr>
          <a:xfrm>
            <a:off x="5715000" y="2706480"/>
            <a:ext cx="319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e26823"/>
                </a:solidFill>
                <a:effectLst/>
                <a:uFillTx/>
                <a:latin typeface="Aptos"/>
              </a:rPr>
              <a:t>↓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Rounded Rectangle 16"/>
          <p:cNvSpPr/>
          <p:nvPr/>
        </p:nvSpPr>
        <p:spPr>
          <a:xfrm>
            <a:off x="914400" y="3063240"/>
            <a:ext cx="10149480" cy="6397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ce4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6" name="TextBox 17"/>
          <p:cNvSpPr/>
          <p:nvPr/>
        </p:nvSpPr>
        <p:spPr>
          <a:xfrm>
            <a:off x="1188720" y="3127320"/>
            <a:ext cx="29257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2466d6"/>
                </a:solidFill>
                <a:effectLst/>
                <a:uFillTx/>
                <a:latin typeface="Aptos"/>
              </a:rPr>
              <a:t>DB ACCESS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TextBox 18"/>
          <p:cNvSpPr/>
          <p:nvPr/>
        </p:nvSpPr>
        <p:spPr>
          <a:xfrm>
            <a:off x="4206240" y="3127320"/>
            <a:ext cx="6217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2a3745"/>
                </a:solidFill>
                <a:effectLst/>
                <a:uFillTx/>
                <a:latin typeface="Aptos"/>
              </a:rPr>
              <a:t>mysql.connector • cursors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Box 19"/>
          <p:cNvSpPr/>
          <p:nvPr/>
        </p:nvSpPr>
        <p:spPr>
          <a:xfrm>
            <a:off x="5715000" y="3666600"/>
            <a:ext cx="319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e26823"/>
                </a:solidFill>
                <a:effectLst/>
                <a:uFillTx/>
                <a:latin typeface="Aptos"/>
              </a:rPr>
              <a:t>↓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Rounded Rectangle 20"/>
          <p:cNvSpPr/>
          <p:nvPr/>
        </p:nvSpPr>
        <p:spPr>
          <a:xfrm>
            <a:off x="914400" y="4023360"/>
            <a:ext cx="10149480" cy="6397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ce4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0" name="TextBox 21"/>
          <p:cNvSpPr/>
          <p:nvPr/>
        </p:nvSpPr>
        <p:spPr>
          <a:xfrm>
            <a:off x="1188720" y="4087440"/>
            <a:ext cx="29257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2466d6"/>
                </a:solidFill>
                <a:effectLst/>
                <a:uFillTx/>
                <a:latin typeface="Aptos"/>
              </a:rPr>
              <a:t>MYSQL DBMS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Box 22"/>
          <p:cNvSpPr/>
          <p:nvPr/>
        </p:nvSpPr>
        <p:spPr>
          <a:xfrm>
            <a:off x="4206240" y="4087440"/>
            <a:ext cx="6217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2a3745"/>
                </a:solidFill>
                <a:effectLst/>
                <a:uFillTx/>
                <a:latin typeface="Aptos"/>
              </a:rPr>
              <a:t>13 relational tables • constraints • SQL • views • stored procedures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Rounded Rectangle 23"/>
          <p:cNvSpPr/>
          <p:nvPr/>
        </p:nvSpPr>
        <p:spPr>
          <a:xfrm>
            <a:off x="1874520" y="5139000"/>
            <a:ext cx="8457840" cy="785880"/>
          </a:xfrm>
          <a:prstGeom prst="roundRect">
            <a:avLst>
              <a:gd name="adj" fmla="val 16667"/>
            </a:avLst>
          </a:prstGeom>
          <a:solidFill>
            <a:srgbClr val="fff6ef"/>
          </a:solidFill>
          <a:ln>
            <a:solidFill>
              <a:srgbClr val="dce4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3" name="TextBox 24"/>
          <p:cNvSpPr/>
          <p:nvPr/>
        </p:nvSpPr>
        <p:spPr>
          <a:xfrm>
            <a:off x="2039040" y="5248800"/>
            <a:ext cx="81288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e26823"/>
                </a:solidFill>
                <a:effectLst/>
                <a:uFillTx/>
                <a:latin typeface="Aptos"/>
              </a:rPr>
              <a:t>TRANSACTION LAYER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Box 25"/>
          <p:cNvSpPr/>
          <p:nvPr/>
        </p:nvSpPr>
        <p:spPr>
          <a:xfrm>
            <a:off x="2039040" y="5596200"/>
            <a:ext cx="81288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2a3745"/>
                </a:solidFill>
                <a:effectLst/>
                <a:uFillTx/>
                <a:latin typeface="Aptos"/>
              </a:rPr>
              <a:t>Write operations use a database transaction helper with autocommit disabled: success → COMMIT; exception → ROLLBACK.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Rectangle 1"/>
          <p:cNvSpPr/>
          <p:nvPr/>
        </p:nvSpPr>
        <p:spPr>
          <a:xfrm>
            <a:off x="0" y="0"/>
            <a:ext cx="12191760" cy="82080"/>
          </a:xfrm>
          <a:prstGeom prst="rect">
            <a:avLst/>
          </a:prstGeom>
          <a:solidFill>
            <a:srgbClr val="2466d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37440" bIns="37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6" name="TextBox 2"/>
          <p:cNvSpPr/>
          <p:nvPr/>
        </p:nvSpPr>
        <p:spPr>
          <a:xfrm>
            <a:off x="567000" y="311040"/>
            <a:ext cx="813780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500" strike="noStrike" u="none">
                <a:solidFill>
                  <a:srgbClr val="112b44"/>
                </a:solidFill>
                <a:effectLst/>
                <a:uFillTx/>
                <a:latin typeface="Aptos"/>
              </a:rPr>
              <a:t>Relational Schema – 13 Tables</a:t>
            </a:r>
            <a:endParaRPr b="0" lang="en-US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TextBox 3"/>
          <p:cNvSpPr/>
          <p:nvPr/>
        </p:nvSpPr>
        <p:spPr>
          <a:xfrm>
            <a:off x="7452360" y="356616"/>
            <a:ext cx="2331720" cy="256032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wrap="square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919" strike="noStrike" u="none">
                <a:solidFill>
                  <a:srgbClr val="2466D6"/>
                </a:solidFill>
                <a:effectLst/>
                <a:uFillTx/>
                <a:latin typeface="Aptos"/>
              </a:rPr>
              <a:t>DATABASE DESIGN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58" name="Picture 4" descr="dbms_logo_clean.png"/>
          <p:cNvPicPr/>
          <p:nvPr/>
        </p:nvPicPr>
        <p:blipFill>
          <a:blip r:embed="rId1"/>
          <a:stretch/>
        </p:blipFill>
        <p:spPr>
          <a:xfrm>
            <a:off x="10012680" y="173880"/>
            <a:ext cx="1627200" cy="306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9" name="Rectangle 5"/>
          <p:cNvSpPr/>
          <p:nvPr/>
        </p:nvSpPr>
        <p:spPr>
          <a:xfrm>
            <a:off x="567000" y="6473880"/>
            <a:ext cx="10926720" cy="13320"/>
          </a:xfrm>
          <a:prstGeom prst="rect">
            <a:avLst/>
          </a:prstGeom>
          <a:solidFill>
            <a:srgbClr val="dce4e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1320" bIns="-313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0" name="TextBox 6"/>
          <p:cNvSpPr/>
          <p:nvPr/>
        </p:nvSpPr>
        <p:spPr>
          <a:xfrm>
            <a:off x="585360" y="6519600"/>
            <a:ext cx="47545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0" lang="en-US" sz="750" strike="noStrike" u="none">
                <a:solidFill>
                  <a:srgbClr val="647484"/>
                </a:solidFill>
                <a:effectLst/>
                <a:uFillTx/>
                <a:latin typeface="Aptos"/>
              </a:rPr>
              <a:t>DBMS • E-COMMERCE MANAGEMENT SYSTEM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TextBox 7"/>
          <p:cNvSpPr/>
          <p:nvPr/>
        </p:nvSpPr>
        <p:spPr>
          <a:xfrm>
            <a:off x="10972800" y="6492240"/>
            <a:ext cx="3837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800" strike="noStrike" u="none">
                <a:solidFill>
                  <a:srgbClr val="647484"/>
                </a:solidFill>
                <a:effectLst/>
                <a:uFillTx/>
                <a:latin typeface="Aptos"/>
              </a:rPr>
              <a:t>7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Rounded Rectangle 8"/>
          <p:cNvSpPr/>
          <p:nvPr/>
        </p:nvSpPr>
        <p:spPr>
          <a:xfrm>
            <a:off x="567000" y="1078920"/>
            <a:ext cx="3456000" cy="785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ce4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3" name="TextBox 9"/>
          <p:cNvSpPr/>
          <p:nvPr/>
        </p:nvSpPr>
        <p:spPr>
          <a:xfrm>
            <a:off x="731520" y="1188720"/>
            <a:ext cx="31269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20" strike="noStrike" u="none">
                <a:solidFill>
                  <a:srgbClr val="2466d6"/>
                </a:solidFill>
                <a:effectLst/>
                <a:uFillTx/>
                <a:latin typeface="Aptos"/>
              </a:rPr>
              <a:t>Admins</a:t>
            </a:r>
            <a:endParaRPr b="0" lang="en-US" sz="12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TextBox 10"/>
          <p:cNvSpPr/>
          <p:nvPr/>
        </p:nvSpPr>
        <p:spPr>
          <a:xfrm>
            <a:off x="731520" y="1536120"/>
            <a:ext cx="31269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80" strike="noStrike" u="none">
                <a:solidFill>
                  <a:srgbClr val="2a3745"/>
                </a:solidFill>
                <a:effectLst/>
                <a:uFillTx/>
                <a:latin typeface="Aptos"/>
              </a:rPr>
              <a:t>admin_id PK</a:t>
            </a:r>
            <a:endParaRPr b="0" lang="en-US" sz="9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Rounded Rectangle 11"/>
          <p:cNvSpPr/>
          <p:nvPr/>
        </p:nvSpPr>
        <p:spPr>
          <a:xfrm>
            <a:off x="4389120" y="1078920"/>
            <a:ext cx="3456000" cy="785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ce4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6" name="TextBox 12"/>
          <p:cNvSpPr/>
          <p:nvPr/>
        </p:nvSpPr>
        <p:spPr>
          <a:xfrm>
            <a:off x="4553640" y="1188720"/>
            <a:ext cx="31269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20" strike="noStrike" u="none">
                <a:solidFill>
                  <a:srgbClr val="e26823"/>
                </a:solidFill>
                <a:effectLst/>
                <a:uFillTx/>
                <a:latin typeface="Aptos"/>
              </a:rPr>
              <a:t>Customers</a:t>
            </a:r>
            <a:endParaRPr b="0" lang="en-US" sz="12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TextBox 13"/>
          <p:cNvSpPr/>
          <p:nvPr/>
        </p:nvSpPr>
        <p:spPr>
          <a:xfrm>
            <a:off x="4553640" y="1536120"/>
            <a:ext cx="31269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80" strike="noStrike" u="none">
                <a:solidFill>
                  <a:srgbClr val="2a3745"/>
                </a:solidFill>
                <a:effectLst/>
                <a:uFillTx/>
                <a:latin typeface="Aptos"/>
              </a:rPr>
              <a:t>customer_id PK</a:t>
            </a:r>
            <a:endParaRPr b="0" lang="en-US" sz="9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Rounded Rectangle 14"/>
          <p:cNvSpPr/>
          <p:nvPr/>
        </p:nvSpPr>
        <p:spPr>
          <a:xfrm>
            <a:off x="8211240" y="1078920"/>
            <a:ext cx="3456000" cy="785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ce4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9" name="TextBox 15"/>
          <p:cNvSpPr/>
          <p:nvPr/>
        </p:nvSpPr>
        <p:spPr>
          <a:xfrm>
            <a:off x="8375760" y="1188720"/>
            <a:ext cx="31269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20" strike="noStrike" u="none">
                <a:solidFill>
                  <a:srgbClr val="278b5d"/>
                </a:solidFill>
                <a:effectLst/>
                <a:uFillTx/>
                <a:latin typeface="Aptos"/>
              </a:rPr>
              <a:t>Sellers</a:t>
            </a:r>
            <a:endParaRPr b="0" lang="en-US" sz="12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TextBox 16"/>
          <p:cNvSpPr/>
          <p:nvPr/>
        </p:nvSpPr>
        <p:spPr>
          <a:xfrm>
            <a:off x="8375760" y="1536120"/>
            <a:ext cx="31269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80" strike="noStrike" u="none">
                <a:solidFill>
                  <a:srgbClr val="2a3745"/>
                </a:solidFill>
                <a:effectLst/>
                <a:uFillTx/>
                <a:latin typeface="Aptos"/>
              </a:rPr>
              <a:t>seller_id PK</a:t>
            </a:r>
            <a:endParaRPr b="0" lang="en-US" sz="9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Rounded Rectangle 17"/>
          <p:cNvSpPr/>
          <p:nvPr/>
        </p:nvSpPr>
        <p:spPr>
          <a:xfrm>
            <a:off x="567000" y="2066400"/>
            <a:ext cx="3456000" cy="785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ce4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2" name="TextBox 18"/>
          <p:cNvSpPr/>
          <p:nvPr/>
        </p:nvSpPr>
        <p:spPr>
          <a:xfrm>
            <a:off x="731520" y="2176200"/>
            <a:ext cx="31269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20" strike="noStrike" u="none">
                <a:solidFill>
                  <a:srgbClr val="2466d6"/>
                </a:solidFill>
                <a:effectLst/>
                <a:uFillTx/>
                <a:latin typeface="Aptos"/>
              </a:rPr>
              <a:t>Categories</a:t>
            </a:r>
            <a:endParaRPr b="0" lang="en-US" sz="12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TextBox 19"/>
          <p:cNvSpPr/>
          <p:nvPr/>
        </p:nvSpPr>
        <p:spPr>
          <a:xfrm>
            <a:off x="731520" y="2523600"/>
            <a:ext cx="31269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80" strike="noStrike" u="none">
                <a:solidFill>
                  <a:srgbClr val="2a3745"/>
                </a:solidFill>
                <a:effectLst/>
                <a:uFillTx/>
                <a:latin typeface="Aptos"/>
              </a:rPr>
              <a:t>category_id PK</a:t>
            </a:r>
            <a:endParaRPr b="0" lang="en-US" sz="9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Rounded Rectangle 20"/>
          <p:cNvSpPr/>
          <p:nvPr/>
        </p:nvSpPr>
        <p:spPr>
          <a:xfrm>
            <a:off x="4389120" y="2066400"/>
            <a:ext cx="3456000" cy="785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ce4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5" name="TextBox 21"/>
          <p:cNvSpPr/>
          <p:nvPr/>
        </p:nvSpPr>
        <p:spPr>
          <a:xfrm>
            <a:off x="4553640" y="2176200"/>
            <a:ext cx="31269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20" strike="noStrike" u="none">
                <a:solidFill>
                  <a:srgbClr val="e26823"/>
                </a:solidFill>
                <a:effectLst/>
                <a:uFillTx/>
                <a:latin typeface="Aptos"/>
              </a:rPr>
              <a:t>Coupons</a:t>
            </a:r>
            <a:endParaRPr b="0" lang="en-US" sz="12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TextBox 22"/>
          <p:cNvSpPr/>
          <p:nvPr/>
        </p:nvSpPr>
        <p:spPr>
          <a:xfrm>
            <a:off x="4553640" y="2523600"/>
            <a:ext cx="31269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80" strike="noStrike" u="none">
                <a:solidFill>
                  <a:srgbClr val="2a3745"/>
                </a:solidFill>
                <a:effectLst/>
                <a:uFillTx/>
                <a:latin typeface="Aptos"/>
              </a:rPr>
              <a:t>coupon_id PK</a:t>
            </a:r>
            <a:endParaRPr b="0" lang="en-US" sz="9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Rounded Rectangle 23"/>
          <p:cNvSpPr/>
          <p:nvPr/>
        </p:nvSpPr>
        <p:spPr>
          <a:xfrm>
            <a:off x="8211240" y="2066400"/>
            <a:ext cx="3456000" cy="785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ce4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8" name="TextBox 24"/>
          <p:cNvSpPr/>
          <p:nvPr/>
        </p:nvSpPr>
        <p:spPr>
          <a:xfrm>
            <a:off x="8375760" y="2176200"/>
            <a:ext cx="31269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20" strike="noStrike" u="none">
                <a:solidFill>
                  <a:srgbClr val="278b5d"/>
                </a:solidFill>
                <a:effectLst/>
                <a:uFillTx/>
                <a:latin typeface="Aptos"/>
              </a:rPr>
              <a:t>Products</a:t>
            </a:r>
            <a:endParaRPr b="0" lang="en-US" sz="12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TextBox 25"/>
          <p:cNvSpPr/>
          <p:nvPr/>
        </p:nvSpPr>
        <p:spPr>
          <a:xfrm>
            <a:off x="8375760" y="2523600"/>
            <a:ext cx="31269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80" strike="noStrike" u="none">
                <a:solidFill>
                  <a:srgbClr val="2a3745"/>
                </a:solidFill>
                <a:effectLst/>
                <a:uFillTx/>
                <a:latin typeface="Aptos"/>
              </a:rPr>
              <a:t>product_id PK; seller_id FK; category_id FK</a:t>
            </a:r>
            <a:endParaRPr b="0" lang="en-US" sz="9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Rounded Rectangle 26"/>
          <p:cNvSpPr/>
          <p:nvPr/>
        </p:nvSpPr>
        <p:spPr>
          <a:xfrm>
            <a:off x="567000" y="3054240"/>
            <a:ext cx="3456000" cy="785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ce4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1" name="TextBox 27"/>
          <p:cNvSpPr/>
          <p:nvPr/>
        </p:nvSpPr>
        <p:spPr>
          <a:xfrm>
            <a:off x="731520" y="3163680"/>
            <a:ext cx="31269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20" strike="noStrike" u="none">
                <a:solidFill>
                  <a:srgbClr val="2466d6"/>
                </a:solidFill>
                <a:effectLst/>
                <a:uFillTx/>
                <a:latin typeface="Aptos"/>
              </a:rPr>
              <a:t>Cart</a:t>
            </a:r>
            <a:endParaRPr b="0" lang="en-US" sz="12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TextBox 28"/>
          <p:cNvSpPr/>
          <p:nvPr/>
        </p:nvSpPr>
        <p:spPr>
          <a:xfrm>
            <a:off x="731520" y="3511440"/>
            <a:ext cx="31269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80" strike="noStrike" u="none">
                <a:solidFill>
                  <a:srgbClr val="2a3745"/>
                </a:solidFill>
                <a:effectLst/>
                <a:uFillTx/>
                <a:latin typeface="Aptos"/>
              </a:rPr>
              <a:t>cart_id PK; customer_id FK</a:t>
            </a:r>
            <a:endParaRPr b="0" lang="en-US" sz="9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Rounded Rectangle 29"/>
          <p:cNvSpPr/>
          <p:nvPr/>
        </p:nvSpPr>
        <p:spPr>
          <a:xfrm>
            <a:off x="4389120" y="3054240"/>
            <a:ext cx="3456000" cy="785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ce4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4" name="TextBox 30"/>
          <p:cNvSpPr/>
          <p:nvPr/>
        </p:nvSpPr>
        <p:spPr>
          <a:xfrm>
            <a:off x="4553640" y="3163680"/>
            <a:ext cx="31269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20" strike="noStrike" u="none">
                <a:solidFill>
                  <a:srgbClr val="e26823"/>
                </a:solidFill>
                <a:effectLst/>
                <a:uFillTx/>
                <a:latin typeface="Aptos"/>
              </a:rPr>
              <a:t>Cart Items</a:t>
            </a:r>
            <a:endParaRPr b="0" lang="en-US" sz="12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TextBox 31"/>
          <p:cNvSpPr/>
          <p:nvPr/>
        </p:nvSpPr>
        <p:spPr>
          <a:xfrm>
            <a:off x="4553640" y="3511440"/>
            <a:ext cx="31269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80" strike="noStrike" u="none">
                <a:solidFill>
                  <a:srgbClr val="2a3745"/>
                </a:solidFill>
                <a:effectLst/>
                <a:uFillTx/>
                <a:latin typeface="Aptos"/>
              </a:rPr>
              <a:t>cart_item_id PK; cart_id FK; product_id FK</a:t>
            </a:r>
            <a:endParaRPr b="0" lang="en-US" sz="9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Rounded Rectangle 32"/>
          <p:cNvSpPr/>
          <p:nvPr/>
        </p:nvSpPr>
        <p:spPr>
          <a:xfrm>
            <a:off x="8211240" y="3054240"/>
            <a:ext cx="3456000" cy="785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ce4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7" name="TextBox 33"/>
          <p:cNvSpPr/>
          <p:nvPr/>
        </p:nvSpPr>
        <p:spPr>
          <a:xfrm>
            <a:off x="8375760" y="3163680"/>
            <a:ext cx="31269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20" strike="noStrike" u="none">
                <a:solidFill>
                  <a:srgbClr val="278b5d"/>
                </a:solidFill>
                <a:effectLst/>
                <a:uFillTx/>
                <a:latin typeface="Aptos"/>
              </a:rPr>
              <a:t>Orders</a:t>
            </a:r>
            <a:endParaRPr b="0" lang="en-US" sz="12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TextBox 34"/>
          <p:cNvSpPr/>
          <p:nvPr/>
        </p:nvSpPr>
        <p:spPr>
          <a:xfrm>
            <a:off x="8375760" y="3511440"/>
            <a:ext cx="31269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80" strike="noStrike" u="none">
                <a:solidFill>
                  <a:srgbClr val="2a3745"/>
                </a:solidFill>
                <a:effectLst/>
                <a:uFillTx/>
                <a:latin typeface="Aptos"/>
              </a:rPr>
              <a:t>order_id PK; customer_id FK; coupon_id FK</a:t>
            </a:r>
            <a:endParaRPr b="0" lang="en-US" sz="9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Rounded Rectangle 35"/>
          <p:cNvSpPr/>
          <p:nvPr/>
        </p:nvSpPr>
        <p:spPr>
          <a:xfrm>
            <a:off x="567000" y="4041720"/>
            <a:ext cx="3456000" cy="785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ce4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0" name="TextBox 36"/>
          <p:cNvSpPr/>
          <p:nvPr/>
        </p:nvSpPr>
        <p:spPr>
          <a:xfrm>
            <a:off x="731520" y="4151520"/>
            <a:ext cx="31269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20" strike="noStrike" u="none">
                <a:solidFill>
                  <a:srgbClr val="2466d6"/>
                </a:solidFill>
                <a:effectLst/>
                <a:uFillTx/>
                <a:latin typeface="Aptos"/>
              </a:rPr>
              <a:t>Order Items</a:t>
            </a:r>
            <a:endParaRPr b="0" lang="en-US" sz="12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TextBox 37"/>
          <p:cNvSpPr/>
          <p:nvPr/>
        </p:nvSpPr>
        <p:spPr>
          <a:xfrm>
            <a:off x="731520" y="4498920"/>
            <a:ext cx="31269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80" strike="noStrike" u="none">
                <a:solidFill>
                  <a:srgbClr val="2a3745"/>
                </a:solidFill>
                <a:effectLst/>
                <a:uFillTx/>
                <a:latin typeface="Aptos"/>
              </a:rPr>
              <a:t>order_item_id PK; order_id FK; product_id FK</a:t>
            </a:r>
            <a:endParaRPr b="0" lang="en-US" sz="9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Rounded Rectangle 38"/>
          <p:cNvSpPr/>
          <p:nvPr/>
        </p:nvSpPr>
        <p:spPr>
          <a:xfrm>
            <a:off x="4389120" y="4041720"/>
            <a:ext cx="3456000" cy="785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ce4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3" name="TextBox 39"/>
          <p:cNvSpPr/>
          <p:nvPr/>
        </p:nvSpPr>
        <p:spPr>
          <a:xfrm>
            <a:off x="4553640" y="4151520"/>
            <a:ext cx="31269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20" strike="noStrike" u="none">
                <a:solidFill>
                  <a:srgbClr val="e26823"/>
                </a:solidFill>
                <a:effectLst/>
                <a:uFillTx/>
                <a:latin typeface="Aptos"/>
              </a:rPr>
              <a:t>Payments</a:t>
            </a:r>
            <a:endParaRPr b="0" lang="en-US" sz="12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TextBox 40"/>
          <p:cNvSpPr/>
          <p:nvPr/>
        </p:nvSpPr>
        <p:spPr>
          <a:xfrm>
            <a:off x="4553640" y="4498920"/>
            <a:ext cx="31269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80" strike="noStrike" u="none">
                <a:solidFill>
                  <a:srgbClr val="2a3745"/>
                </a:solidFill>
                <a:effectLst/>
                <a:uFillTx/>
                <a:latin typeface="Aptos"/>
              </a:rPr>
              <a:t>payment_id PK; order_id FK</a:t>
            </a:r>
            <a:endParaRPr b="0" lang="en-US" sz="9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Rounded Rectangle 41"/>
          <p:cNvSpPr/>
          <p:nvPr/>
        </p:nvSpPr>
        <p:spPr>
          <a:xfrm>
            <a:off x="8211240" y="4041720"/>
            <a:ext cx="3456000" cy="785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ce4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6" name="TextBox 42"/>
          <p:cNvSpPr/>
          <p:nvPr/>
        </p:nvSpPr>
        <p:spPr>
          <a:xfrm>
            <a:off x="8375760" y="4151520"/>
            <a:ext cx="31269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20" strike="noStrike" u="none">
                <a:solidFill>
                  <a:srgbClr val="278b5d"/>
                </a:solidFill>
                <a:effectLst/>
                <a:uFillTx/>
                <a:latin typeface="Aptos"/>
              </a:rPr>
              <a:t>Shipping</a:t>
            </a:r>
            <a:endParaRPr b="0" lang="en-US" sz="12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TextBox 43"/>
          <p:cNvSpPr/>
          <p:nvPr/>
        </p:nvSpPr>
        <p:spPr>
          <a:xfrm>
            <a:off x="8375760" y="4498920"/>
            <a:ext cx="31269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80" strike="noStrike" u="none">
                <a:solidFill>
                  <a:srgbClr val="2a3745"/>
                </a:solidFill>
                <a:effectLst/>
                <a:uFillTx/>
                <a:latin typeface="Aptos"/>
              </a:rPr>
              <a:t>shipping_id PK; order_id FK</a:t>
            </a:r>
            <a:endParaRPr b="0" lang="en-US" sz="9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Rounded Rectangle 44"/>
          <p:cNvSpPr/>
          <p:nvPr/>
        </p:nvSpPr>
        <p:spPr>
          <a:xfrm>
            <a:off x="567000" y="5029200"/>
            <a:ext cx="3456000" cy="785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ce4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9" name="TextBox 45"/>
          <p:cNvSpPr/>
          <p:nvPr/>
        </p:nvSpPr>
        <p:spPr>
          <a:xfrm>
            <a:off x="731520" y="5139000"/>
            <a:ext cx="31269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20" strike="noStrike" u="none">
                <a:solidFill>
                  <a:srgbClr val="2466d6"/>
                </a:solidFill>
                <a:effectLst/>
                <a:uFillTx/>
                <a:latin typeface="Aptos"/>
              </a:rPr>
              <a:t>Reviews</a:t>
            </a:r>
            <a:endParaRPr b="0" lang="en-US" sz="12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TextBox 46"/>
          <p:cNvSpPr/>
          <p:nvPr/>
        </p:nvSpPr>
        <p:spPr>
          <a:xfrm>
            <a:off x="731520" y="5486400"/>
            <a:ext cx="31269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80" strike="noStrike" u="none">
                <a:solidFill>
                  <a:srgbClr val="2a3745"/>
                </a:solidFill>
                <a:effectLst/>
                <a:uFillTx/>
                <a:latin typeface="Aptos"/>
              </a:rPr>
              <a:t>review_id PK; customer_id FK; product_id FK</a:t>
            </a:r>
            <a:endParaRPr b="0" lang="en-US" sz="9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Rounded Rectangle 47"/>
          <p:cNvSpPr/>
          <p:nvPr/>
        </p:nvSpPr>
        <p:spPr>
          <a:xfrm>
            <a:off x="1920240" y="5559480"/>
            <a:ext cx="8320680" cy="639720"/>
          </a:xfrm>
          <a:prstGeom prst="roundRect">
            <a:avLst>
              <a:gd name="adj" fmla="val 16667"/>
            </a:avLst>
          </a:prstGeom>
          <a:solidFill>
            <a:srgbClr val="eff9f4"/>
          </a:solidFill>
          <a:ln>
            <a:solidFill>
              <a:srgbClr val="dce4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2" name="TextBox 48"/>
          <p:cNvSpPr/>
          <p:nvPr/>
        </p:nvSpPr>
        <p:spPr>
          <a:xfrm>
            <a:off x="2084760" y="5669280"/>
            <a:ext cx="79916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50" strike="noStrike" u="none">
                <a:solidFill>
                  <a:srgbClr val="278b5d"/>
                </a:solidFill>
                <a:effectLst/>
                <a:uFillTx/>
                <a:latin typeface="Aptos"/>
              </a:rPr>
              <a:t>Database integrity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TextBox 49"/>
          <p:cNvSpPr/>
          <p:nvPr/>
        </p:nvSpPr>
        <p:spPr>
          <a:xfrm>
            <a:off x="2084760" y="6016680"/>
            <a:ext cx="7991640" cy="9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20" strike="noStrike" u="none">
                <a:solidFill>
                  <a:srgbClr val="2a3745"/>
                </a:solidFill>
                <a:effectLst/>
                <a:uFillTx/>
                <a:latin typeface="Aptos"/>
              </a:rPr>
              <a:t>PK • FK • UNIQUE • CHECK • NOT NULL • ON UPDATE / ON DELETE rules • generated subtotal in Order Items</a:t>
            </a:r>
            <a:endParaRPr b="0" lang="en-US" sz="1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Rectangle 1"/>
          <p:cNvSpPr/>
          <p:nvPr/>
        </p:nvSpPr>
        <p:spPr>
          <a:xfrm>
            <a:off x="0" y="0"/>
            <a:ext cx="12191760" cy="82080"/>
          </a:xfrm>
          <a:prstGeom prst="rect">
            <a:avLst/>
          </a:prstGeom>
          <a:solidFill>
            <a:srgbClr val="2466d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37440" bIns="37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5" name="TextBox 2"/>
          <p:cNvSpPr/>
          <p:nvPr/>
        </p:nvSpPr>
        <p:spPr>
          <a:xfrm>
            <a:off x="567000" y="311040"/>
            <a:ext cx="813780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500" strike="noStrike" u="none">
                <a:solidFill>
                  <a:srgbClr val="112b44"/>
                </a:solidFill>
                <a:effectLst/>
                <a:uFillTx/>
                <a:latin typeface="Aptos"/>
              </a:rPr>
              <a:t>ER Diagram – E-Commerce Management System</a:t>
            </a:r>
            <a:endParaRPr b="0" lang="en-US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TextBox 3"/>
          <p:cNvSpPr/>
          <p:nvPr/>
        </p:nvSpPr>
        <p:spPr>
          <a:xfrm>
            <a:off x="7452360" y="356616"/>
            <a:ext cx="2331720" cy="256032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wrap="square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919" strike="noStrike" u="none">
                <a:solidFill>
                  <a:srgbClr val="2466D6"/>
                </a:solidFill>
                <a:effectLst/>
                <a:uFillTx/>
                <a:latin typeface="Aptos"/>
              </a:rPr>
              <a:t>RELATIONAL DESIGN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07" name="Picture 4" descr="image.png"/>
          <p:cNvPicPr/>
          <p:nvPr/>
        </p:nvPicPr>
        <p:blipFill>
          <a:blip r:embed="rId1"/>
          <a:stretch/>
        </p:blipFill>
        <p:spPr>
          <a:xfrm>
            <a:off x="10012680" y="173880"/>
            <a:ext cx="1627200" cy="306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8" name="Rectangle 55"/>
          <p:cNvSpPr/>
          <p:nvPr/>
        </p:nvSpPr>
        <p:spPr>
          <a:xfrm>
            <a:off x="567000" y="6473880"/>
            <a:ext cx="10926720" cy="13320"/>
          </a:xfrm>
          <a:prstGeom prst="rect">
            <a:avLst/>
          </a:prstGeom>
          <a:solidFill>
            <a:srgbClr val="dce4e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1320" bIns="-313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9" name="TextBox 56"/>
          <p:cNvSpPr/>
          <p:nvPr/>
        </p:nvSpPr>
        <p:spPr>
          <a:xfrm>
            <a:off x="585360" y="6519600"/>
            <a:ext cx="47545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0" lang="en-US" sz="750" strike="noStrike" u="none">
                <a:solidFill>
                  <a:srgbClr val="647484"/>
                </a:solidFill>
                <a:effectLst/>
                <a:uFillTx/>
                <a:latin typeface="Aptos"/>
              </a:rPr>
              <a:t>DBMS • E-COMMERCE MANAGEMENT SYSTEM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TextBox 57"/>
          <p:cNvSpPr/>
          <p:nvPr/>
        </p:nvSpPr>
        <p:spPr>
          <a:xfrm>
            <a:off x="10972800" y="6492240"/>
            <a:ext cx="3837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800" strike="noStrike" u="none">
                <a:solidFill>
                  <a:srgbClr val="647484"/>
                </a:solidFill>
                <a:effectLst/>
                <a:uFillTx/>
                <a:latin typeface="Aptos"/>
              </a:rPr>
              <a:t>8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61" name="Picture 360" descr="er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033271"/>
            <a:ext cx="10241280" cy="4224528"/>
          </a:xfrm>
          <a:prstGeom prst="rect">
            <a:avLst/>
          </a:prstGeom>
        </p:spPr>
      </p:pic>
      <p:sp>
        <p:nvSpPr>
          <p:cNvPr id="362" name="Rectangle 361"/>
          <p:cNvSpPr/>
          <p:nvPr/>
        </p:nvSpPr>
        <p:spPr>
          <a:xfrm>
            <a:off x="530352" y="5074920"/>
            <a:ext cx="10104120" cy="640080"/>
          </a:xfrm>
          <a:prstGeom prst="rect">
            <a:avLst/>
          </a:prstGeom>
          <a:solidFill>
            <a:srgbClr val="F8FAFD"/>
          </a:solidFill>
          <a:ln>
            <a:solidFill>
              <a:srgbClr val="D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900">
                <a:solidFill>
                  <a:srgbClr val="23375A"/>
                </a:solidFill>
              </a:defRPr>
            </a:pPr>
            <a:r>
              <a:t>RELATIONSHIP LEGEND — matches the supplied foreign-key schema</a:t>
            </a:r>
          </a:p>
          <a:p>
            <a:pPr>
              <a:defRPr sz="800">
                <a:solidFill>
                  <a:srgbClr val="2D3746"/>
                </a:solidFill>
              </a:defRPr>
            </a:pPr>
            <a:r>
              <a:t>1 : 1  → Customer–Cart • Order–Payment • Order–Shipping</a:t>
            </a:r>
          </a:p>
          <a:p>
            <a:pPr>
              <a:defRPr sz="800">
                <a:solidFill>
                  <a:srgbClr val="2D3746"/>
                </a:solidFill>
              </a:defRPr>
            </a:pPr>
            <a:r>
              <a:t>1 : M  → Seller–Product • Category–Product • Coupon–Order • Customer–Order • Customer–Review • Product–Review • Cart–Cart Items • Product–Cart Items • Order–Order Items • Product–Order Items</a:t>
            </a:r>
          </a:p>
          <a:p>
            <a:pPr>
              <a:defRPr sz="750">
                <a:solidFill>
                  <a:srgbClr val="5A6473"/>
                </a:solidFill>
              </a:defRPr>
            </a:pPr>
            <a:r>
              <a:t>Admin has no FK relationship in the supplied schema. No direct Product–Order or Order–Review relationship is shown.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Rectangle 1"/>
          <p:cNvSpPr/>
          <p:nvPr/>
        </p:nvSpPr>
        <p:spPr>
          <a:xfrm>
            <a:off x="0" y="0"/>
            <a:ext cx="12191760" cy="82080"/>
          </a:xfrm>
          <a:prstGeom prst="rect">
            <a:avLst/>
          </a:prstGeom>
          <a:solidFill>
            <a:srgbClr val="2466d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37440" bIns="37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2" name="TextBox 2"/>
          <p:cNvSpPr/>
          <p:nvPr/>
        </p:nvSpPr>
        <p:spPr>
          <a:xfrm>
            <a:off x="567000" y="311040"/>
            <a:ext cx="813780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500" strike="noStrike" u="none">
                <a:solidFill>
                  <a:srgbClr val="112b44"/>
                </a:solidFill>
                <a:effectLst/>
                <a:uFillTx/>
                <a:latin typeface="Aptos"/>
              </a:rPr>
              <a:t>Normalisation – 1NF, 2NF &amp; 3NF</a:t>
            </a:r>
            <a:endParaRPr b="0" lang="en-US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3" name="TextBox 3"/>
          <p:cNvSpPr/>
          <p:nvPr/>
        </p:nvSpPr>
        <p:spPr>
          <a:xfrm>
            <a:off x="7452360" y="356616"/>
            <a:ext cx="2331720" cy="256032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wrap="square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919" strike="noStrike" u="none">
                <a:solidFill>
                  <a:srgbClr val="2466D6"/>
                </a:solidFill>
                <a:effectLst/>
                <a:uFillTx/>
                <a:latin typeface="Aptos"/>
              </a:rPr>
              <a:t>DATABASE DESIGN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64" name="Picture 4" descr="dbms_logo_clean.png"/>
          <p:cNvPicPr/>
          <p:nvPr/>
        </p:nvPicPr>
        <p:blipFill>
          <a:blip r:embed="rId1"/>
          <a:stretch/>
        </p:blipFill>
        <p:spPr>
          <a:xfrm>
            <a:off x="10012680" y="173880"/>
            <a:ext cx="1627200" cy="306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5" name="Rectangle 5"/>
          <p:cNvSpPr/>
          <p:nvPr/>
        </p:nvSpPr>
        <p:spPr>
          <a:xfrm>
            <a:off x="567000" y="6473880"/>
            <a:ext cx="10926720" cy="13320"/>
          </a:xfrm>
          <a:prstGeom prst="rect">
            <a:avLst/>
          </a:prstGeom>
          <a:solidFill>
            <a:srgbClr val="dce4e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1320" bIns="-313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6" name="TextBox 6"/>
          <p:cNvSpPr/>
          <p:nvPr/>
        </p:nvSpPr>
        <p:spPr>
          <a:xfrm>
            <a:off x="585360" y="6519600"/>
            <a:ext cx="47545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0" lang="en-US" sz="750" strike="noStrike" u="none">
                <a:solidFill>
                  <a:srgbClr val="647484"/>
                </a:solidFill>
                <a:effectLst/>
                <a:uFillTx/>
                <a:latin typeface="Aptos"/>
              </a:rPr>
              <a:t>DBMS • E-COMMERCE MANAGEMENT SYSTEM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7" name="TextBox 7"/>
          <p:cNvSpPr/>
          <p:nvPr/>
        </p:nvSpPr>
        <p:spPr>
          <a:xfrm>
            <a:off x="10972800" y="6492240"/>
            <a:ext cx="3837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800" strike="noStrike" u="none">
                <a:solidFill>
                  <a:srgbClr val="647484"/>
                </a:solidFill>
                <a:effectLst/>
                <a:uFillTx/>
                <a:latin typeface="Aptos"/>
              </a:rPr>
              <a:t>9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8" name="Rounded Rectangle 8"/>
          <p:cNvSpPr/>
          <p:nvPr/>
        </p:nvSpPr>
        <p:spPr>
          <a:xfrm>
            <a:off x="658440" y="1234440"/>
            <a:ext cx="3428640" cy="1416960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>
            <a:solidFill>
              <a:srgbClr val="dce4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9" name="TextBox 9"/>
          <p:cNvSpPr/>
          <p:nvPr/>
        </p:nvSpPr>
        <p:spPr>
          <a:xfrm>
            <a:off x="822960" y="1344240"/>
            <a:ext cx="30996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2466d6"/>
                </a:solidFill>
                <a:effectLst/>
                <a:uFillTx/>
                <a:latin typeface="Aptos"/>
              </a:rPr>
              <a:t>1NF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0" name="TextBox 10"/>
          <p:cNvSpPr/>
          <p:nvPr/>
        </p:nvSpPr>
        <p:spPr>
          <a:xfrm>
            <a:off x="822960" y="1691640"/>
            <a:ext cx="309960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2a3745"/>
                </a:solidFill>
                <a:effectLst/>
                <a:uFillTx/>
                <a:latin typeface="Aptos"/>
              </a:rPr>
              <a:t>Atomic values • no repeating groups • one value per field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1" name="Rounded Rectangle 11"/>
          <p:cNvSpPr/>
          <p:nvPr/>
        </p:nvSpPr>
        <p:spPr>
          <a:xfrm>
            <a:off x="4380120" y="1234440"/>
            <a:ext cx="3428640" cy="1416960"/>
          </a:xfrm>
          <a:prstGeom prst="roundRect">
            <a:avLst>
              <a:gd name="adj" fmla="val 16667"/>
            </a:avLst>
          </a:prstGeom>
          <a:solidFill>
            <a:srgbClr val="fff6ef"/>
          </a:solidFill>
          <a:ln>
            <a:solidFill>
              <a:srgbClr val="dce4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2" name="TextBox 12"/>
          <p:cNvSpPr/>
          <p:nvPr/>
        </p:nvSpPr>
        <p:spPr>
          <a:xfrm>
            <a:off x="4544640" y="1344240"/>
            <a:ext cx="30996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e26823"/>
                </a:solidFill>
                <a:effectLst/>
                <a:uFillTx/>
                <a:latin typeface="Aptos"/>
              </a:rPr>
              <a:t>2NF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" name="TextBox 13"/>
          <p:cNvSpPr/>
          <p:nvPr/>
        </p:nvSpPr>
        <p:spPr>
          <a:xfrm>
            <a:off x="4544640" y="1691640"/>
            <a:ext cx="309960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80" strike="noStrike" u="none">
                <a:solidFill>
                  <a:srgbClr val="2a3745"/>
                </a:solidFill>
                <a:effectLst/>
                <a:uFillTx/>
                <a:latin typeface="Aptos"/>
              </a:rPr>
              <a:t>Satisfies 1NF • removes partial dependency • attributes depend on the whole key</a:t>
            </a:r>
            <a:endParaRPr b="0" lang="en-US" sz="11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Rounded Rectangle 14"/>
          <p:cNvSpPr/>
          <p:nvPr/>
        </p:nvSpPr>
        <p:spPr>
          <a:xfrm>
            <a:off x="8101440" y="1234440"/>
            <a:ext cx="3428640" cy="1416960"/>
          </a:xfrm>
          <a:prstGeom prst="roundRect">
            <a:avLst>
              <a:gd name="adj" fmla="val 16667"/>
            </a:avLst>
          </a:prstGeom>
          <a:solidFill>
            <a:srgbClr val="eff9f4"/>
          </a:solidFill>
          <a:ln>
            <a:solidFill>
              <a:srgbClr val="dce4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5" name="TextBox 15"/>
          <p:cNvSpPr/>
          <p:nvPr/>
        </p:nvSpPr>
        <p:spPr>
          <a:xfrm>
            <a:off x="8266320" y="1344240"/>
            <a:ext cx="30996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278b5d"/>
                </a:solidFill>
                <a:effectLst/>
                <a:uFillTx/>
                <a:latin typeface="Aptos"/>
              </a:rPr>
              <a:t>3NF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6" name="TextBox 16"/>
          <p:cNvSpPr/>
          <p:nvPr/>
        </p:nvSpPr>
        <p:spPr>
          <a:xfrm>
            <a:off x="8266320" y="1691640"/>
            <a:ext cx="309960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80" strike="noStrike" u="none">
                <a:solidFill>
                  <a:srgbClr val="2a3745"/>
                </a:solidFill>
                <a:effectLst/>
                <a:uFillTx/>
                <a:latin typeface="Aptos"/>
              </a:rPr>
              <a:t>Satisfies 2NF • removes transitive dependency • non-key attributes depend on the key</a:t>
            </a:r>
            <a:endParaRPr b="0" lang="en-US" sz="11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7" name="Rounded Rectangle 17"/>
          <p:cNvSpPr/>
          <p:nvPr/>
        </p:nvSpPr>
        <p:spPr>
          <a:xfrm>
            <a:off x="658440" y="3063240"/>
            <a:ext cx="5211720" cy="15541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ce4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8" name="TextBox 18"/>
          <p:cNvSpPr/>
          <p:nvPr/>
        </p:nvSpPr>
        <p:spPr>
          <a:xfrm>
            <a:off x="822960" y="3173040"/>
            <a:ext cx="4882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2466d6"/>
                </a:solidFill>
                <a:effectLst/>
                <a:uFillTx/>
                <a:latin typeface="Aptos"/>
              </a:rPr>
              <a:t>E-commerce example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9" name="TextBox 19"/>
          <p:cNvSpPr/>
          <p:nvPr/>
        </p:nvSpPr>
        <p:spPr>
          <a:xfrm>
            <a:off x="822960" y="3520440"/>
            <a:ext cx="488268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50" strike="noStrike" u="none">
                <a:solidFill>
                  <a:srgbClr val="2a3745"/>
                </a:solidFill>
                <a:effectLst/>
                <a:uFillTx/>
                <a:latin typeface="Aptos"/>
              </a:rPr>
              <a:t>Customer details are stored in Customers and order details in Orders / Order Items. Product and category data are stored separately instead of repeating them inside every order row.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Rounded Rectangle 20"/>
          <p:cNvSpPr/>
          <p:nvPr/>
        </p:nvSpPr>
        <p:spPr>
          <a:xfrm>
            <a:off x="6126480" y="3063240"/>
            <a:ext cx="5394600" cy="15541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ce4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1" name="TextBox 21"/>
          <p:cNvSpPr/>
          <p:nvPr/>
        </p:nvSpPr>
        <p:spPr>
          <a:xfrm>
            <a:off x="6291000" y="3173040"/>
            <a:ext cx="50655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e26823"/>
                </a:solidFill>
                <a:effectLst/>
                <a:uFillTx/>
                <a:latin typeface="Aptos"/>
              </a:rPr>
              <a:t>Why it matters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2" name="TextBox 22"/>
          <p:cNvSpPr/>
          <p:nvPr/>
        </p:nvSpPr>
        <p:spPr>
          <a:xfrm>
            <a:off x="6291000" y="3520440"/>
            <a:ext cx="506556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50" strike="noStrike" u="none">
                <a:solidFill>
                  <a:srgbClr val="2a3745"/>
                </a:solidFill>
                <a:effectLst/>
                <a:uFillTx/>
                <a:latin typeface="Aptos"/>
              </a:rPr>
              <a:t>Less duplication • better consistency • clear relationships • easier updates and retrieval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3" name="TextBox 23"/>
          <p:cNvSpPr/>
          <p:nvPr/>
        </p:nvSpPr>
        <p:spPr>
          <a:xfrm>
            <a:off x="1097280" y="5212080"/>
            <a:ext cx="99666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500" strike="noStrike" u="none">
                <a:solidFill>
                  <a:srgbClr val="112b44"/>
                </a:solidFill>
                <a:effectLst/>
                <a:uFillTx/>
                <a:latin typeface="Aptos"/>
              </a:rPr>
              <a:t>The project schema separates core entities rather than storing the entire transaction in one wide table.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Rectangle 1"/>
          <p:cNvSpPr/>
          <p:nvPr/>
        </p:nvSpPr>
        <p:spPr>
          <a:xfrm>
            <a:off x="0" y="0"/>
            <a:ext cx="12191760" cy="82080"/>
          </a:xfrm>
          <a:prstGeom prst="rect">
            <a:avLst/>
          </a:prstGeom>
          <a:solidFill>
            <a:srgbClr val="2466d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37440" bIns="37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5" name="TextBox 2"/>
          <p:cNvSpPr/>
          <p:nvPr/>
        </p:nvSpPr>
        <p:spPr>
          <a:xfrm>
            <a:off x="567000" y="311040"/>
            <a:ext cx="813780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500" strike="noStrike" u="none">
                <a:solidFill>
                  <a:srgbClr val="112b44"/>
                </a:solidFill>
                <a:effectLst/>
                <a:uFillTx/>
                <a:latin typeface="Aptos"/>
              </a:rPr>
              <a:t>Keys, Constraints &amp; Referential Integrity</a:t>
            </a:r>
            <a:endParaRPr b="0" lang="en-US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" name="TextBox 3"/>
          <p:cNvSpPr/>
          <p:nvPr/>
        </p:nvSpPr>
        <p:spPr>
          <a:xfrm>
            <a:off x="7452360" y="356616"/>
            <a:ext cx="2331720" cy="256032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wrap="square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919" strike="noStrike" u="none">
                <a:solidFill>
                  <a:srgbClr val="2466D6"/>
                </a:solidFill>
                <a:effectLst/>
                <a:uFillTx/>
                <a:latin typeface="Aptos"/>
              </a:rPr>
              <a:t>DBMS FOUNDATION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87" name="Picture 4" descr="dbms_logo_clean.png"/>
          <p:cNvPicPr/>
          <p:nvPr/>
        </p:nvPicPr>
        <p:blipFill>
          <a:blip r:embed="rId1"/>
          <a:stretch/>
        </p:blipFill>
        <p:spPr>
          <a:xfrm>
            <a:off x="10012680" y="173880"/>
            <a:ext cx="1627200" cy="306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8" name="Rectangle 5"/>
          <p:cNvSpPr/>
          <p:nvPr/>
        </p:nvSpPr>
        <p:spPr>
          <a:xfrm>
            <a:off x="567000" y="6473880"/>
            <a:ext cx="10926720" cy="13320"/>
          </a:xfrm>
          <a:prstGeom prst="rect">
            <a:avLst/>
          </a:prstGeom>
          <a:solidFill>
            <a:srgbClr val="dce4e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1320" bIns="-313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9" name="TextBox 6"/>
          <p:cNvSpPr/>
          <p:nvPr/>
        </p:nvSpPr>
        <p:spPr>
          <a:xfrm>
            <a:off x="585360" y="6519600"/>
            <a:ext cx="47545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0" lang="en-US" sz="750" strike="noStrike" u="none">
                <a:solidFill>
                  <a:srgbClr val="647484"/>
                </a:solidFill>
                <a:effectLst/>
                <a:uFillTx/>
                <a:latin typeface="Aptos"/>
              </a:rPr>
              <a:t>DBMS • E-COMMERCE MANAGEMENT SYSTEM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0" name="TextBox 7"/>
          <p:cNvSpPr/>
          <p:nvPr/>
        </p:nvSpPr>
        <p:spPr>
          <a:xfrm>
            <a:off x="10972800" y="6492240"/>
            <a:ext cx="3837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800" strike="noStrike" u="none">
                <a:solidFill>
                  <a:srgbClr val="647484"/>
                </a:solidFill>
                <a:effectLst/>
                <a:uFillTx/>
                <a:latin typeface="Aptos"/>
              </a:rPr>
              <a:t>10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1" name="Rounded Rectangle 8"/>
          <p:cNvSpPr/>
          <p:nvPr/>
        </p:nvSpPr>
        <p:spPr>
          <a:xfrm>
            <a:off x="658440" y="1143000"/>
            <a:ext cx="5074560" cy="895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ce4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92" name="TextBox 9"/>
          <p:cNvSpPr/>
          <p:nvPr/>
        </p:nvSpPr>
        <p:spPr>
          <a:xfrm>
            <a:off x="822960" y="1252800"/>
            <a:ext cx="47455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20" strike="noStrike" u="none">
                <a:solidFill>
                  <a:srgbClr val="2466d6"/>
                </a:solidFill>
                <a:effectLst/>
                <a:uFillTx/>
                <a:latin typeface="Aptos"/>
              </a:rPr>
              <a:t>PRIMARY KEY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TextBox 10"/>
          <p:cNvSpPr/>
          <p:nvPr/>
        </p:nvSpPr>
        <p:spPr>
          <a:xfrm>
            <a:off x="822960" y="1600200"/>
            <a:ext cx="47455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80" strike="noStrike" u="none">
                <a:solidFill>
                  <a:srgbClr val="2a3745"/>
                </a:solidFill>
                <a:effectLst/>
                <a:uFillTx/>
                <a:latin typeface="Aptos"/>
              </a:rPr>
              <a:t>Uniquely identifies each row.</a:t>
            </a:r>
            <a:endParaRPr b="0" lang="en-US" sz="10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4" name="Rounded Rectangle 11"/>
          <p:cNvSpPr/>
          <p:nvPr/>
        </p:nvSpPr>
        <p:spPr>
          <a:xfrm>
            <a:off x="6190560" y="1143000"/>
            <a:ext cx="5074560" cy="895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ce4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95" name="TextBox 12"/>
          <p:cNvSpPr/>
          <p:nvPr/>
        </p:nvSpPr>
        <p:spPr>
          <a:xfrm>
            <a:off x="6355080" y="1252800"/>
            <a:ext cx="47455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20" strike="noStrike" u="none">
                <a:solidFill>
                  <a:srgbClr val="e26823"/>
                </a:solidFill>
                <a:effectLst/>
                <a:uFillTx/>
                <a:latin typeface="Aptos"/>
              </a:rPr>
              <a:t>FOREIGN KEY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6" name="TextBox 13"/>
          <p:cNvSpPr/>
          <p:nvPr/>
        </p:nvSpPr>
        <p:spPr>
          <a:xfrm>
            <a:off x="6355080" y="1600200"/>
            <a:ext cx="47455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80" strike="noStrike" u="none">
                <a:solidFill>
                  <a:srgbClr val="2a3745"/>
                </a:solidFill>
                <a:effectLst/>
                <a:uFillTx/>
                <a:latin typeface="Aptos"/>
              </a:rPr>
              <a:t>Connects child records to parent records.</a:t>
            </a:r>
            <a:endParaRPr b="0" lang="en-US" sz="10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7" name="Rounded Rectangle 14"/>
          <p:cNvSpPr/>
          <p:nvPr/>
        </p:nvSpPr>
        <p:spPr>
          <a:xfrm>
            <a:off x="658440" y="2286000"/>
            <a:ext cx="5074560" cy="895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ce4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98" name="TextBox 15"/>
          <p:cNvSpPr/>
          <p:nvPr/>
        </p:nvSpPr>
        <p:spPr>
          <a:xfrm>
            <a:off x="822960" y="2395800"/>
            <a:ext cx="47455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20" strike="noStrike" u="none">
                <a:solidFill>
                  <a:srgbClr val="278b5d"/>
                </a:solidFill>
                <a:effectLst/>
                <a:uFillTx/>
                <a:latin typeface="Aptos"/>
              </a:rPr>
              <a:t>UNIQUE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9" name="TextBox 16"/>
          <p:cNvSpPr/>
          <p:nvPr/>
        </p:nvSpPr>
        <p:spPr>
          <a:xfrm>
            <a:off x="822960" y="2743200"/>
            <a:ext cx="47455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80" strike="noStrike" u="none">
                <a:solidFill>
                  <a:srgbClr val="2a3745"/>
                </a:solidFill>
                <a:effectLst/>
                <a:uFillTx/>
                <a:latin typeface="Aptos"/>
              </a:rPr>
              <a:t>Prevents duplicate emails, codes, transaction IDs and other constrained values.</a:t>
            </a:r>
            <a:endParaRPr b="0" lang="en-US" sz="10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0" name="Rounded Rectangle 17"/>
          <p:cNvSpPr/>
          <p:nvPr/>
        </p:nvSpPr>
        <p:spPr>
          <a:xfrm>
            <a:off x="6190560" y="2286000"/>
            <a:ext cx="5074560" cy="895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ce4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01" name="TextBox 18"/>
          <p:cNvSpPr/>
          <p:nvPr/>
        </p:nvSpPr>
        <p:spPr>
          <a:xfrm>
            <a:off x="6355080" y="2395800"/>
            <a:ext cx="47455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20" strike="noStrike" u="none">
                <a:solidFill>
                  <a:srgbClr val="2466d6"/>
                </a:solidFill>
                <a:effectLst/>
                <a:uFillTx/>
                <a:latin typeface="Aptos"/>
              </a:rPr>
              <a:t>CHECK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2" name="TextBox 19"/>
          <p:cNvSpPr/>
          <p:nvPr/>
        </p:nvSpPr>
        <p:spPr>
          <a:xfrm>
            <a:off x="6355080" y="2743200"/>
            <a:ext cx="47455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80" strike="noStrike" u="none">
                <a:solidFill>
                  <a:srgbClr val="2a3745"/>
                </a:solidFill>
                <a:effectLst/>
                <a:uFillTx/>
                <a:latin typeface="Aptos"/>
              </a:rPr>
              <a:t>Validates status, price, stock, rating, quantity and amount ranges.</a:t>
            </a:r>
            <a:endParaRPr b="0" lang="en-US" sz="10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3" name="Rounded Rectangle 20"/>
          <p:cNvSpPr/>
          <p:nvPr/>
        </p:nvSpPr>
        <p:spPr>
          <a:xfrm>
            <a:off x="658440" y="3429000"/>
            <a:ext cx="5074560" cy="895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ce4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04" name="TextBox 21"/>
          <p:cNvSpPr/>
          <p:nvPr/>
        </p:nvSpPr>
        <p:spPr>
          <a:xfrm>
            <a:off x="822960" y="3538800"/>
            <a:ext cx="47455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20" strike="noStrike" u="none">
                <a:solidFill>
                  <a:srgbClr val="e26823"/>
                </a:solidFill>
                <a:effectLst/>
                <a:uFillTx/>
                <a:latin typeface="Aptos"/>
              </a:rPr>
              <a:t>NOT NULL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5" name="TextBox 22"/>
          <p:cNvSpPr/>
          <p:nvPr/>
        </p:nvSpPr>
        <p:spPr>
          <a:xfrm>
            <a:off x="822960" y="3886200"/>
            <a:ext cx="47455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80" strike="noStrike" u="none">
                <a:solidFill>
                  <a:srgbClr val="2a3745"/>
                </a:solidFill>
                <a:effectLst/>
                <a:uFillTx/>
                <a:latin typeface="Aptos"/>
              </a:rPr>
              <a:t>Requires mandatory fields.</a:t>
            </a:r>
            <a:endParaRPr b="0" lang="en-US" sz="10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6" name="Rounded Rectangle 23"/>
          <p:cNvSpPr/>
          <p:nvPr/>
        </p:nvSpPr>
        <p:spPr>
          <a:xfrm>
            <a:off x="6190560" y="3429000"/>
            <a:ext cx="5074560" cy="895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ce4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07" name="TextBox 24"/>
          <p:cNvSpPr/>
          <p:nvPr/>
        </p:nvSpPr>
        <p:spPr>
          <a:xfrm>
            <a:off x="6355080" y="3538800"/>
            <a:ext cx="47455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20" strike="noStrike" u="none">
                <a:solidFill>
                  <a:srgbClr val="278b5d"/>
                </a:solidFill>
                <a:effectLst/>
                <a:uFillTx/>
                <a:latin typeface="Aptos"/>
              </a:rPr>
              <a:t>FK ACTIONS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8" name="TextBox 25"/>
          <p:cNvSpPr/>
          <p:nvPr/>
        </p:nvSpPr>
        <p:spPr>
          <a:xfrm>
            <a:off x="6355080" y="3886200"/>
            <a:ext cx="47455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80" strike="noStrike" u="none">
                <a:solidFill>
                  <a:srgbClr val="2a3745"/>
                </a:solidFill>
                <a:effectLst/>
                <a:uFillTx/>
                <a:latin typeface="Aptos"/>
              </a:rPr>
              <a:t>CASCADE / RESTRICT / SET NULL are used according to the relationship.</a:t>
            </a:r>
            <a:endParaRPr b="0" lang="en-US" sz="10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9" name="Rounded Rectangle 26"/>
          <p:cNvSpPr/>
          <p:nvPr/>
        </p:nvSpPr>
        <p:spPr>
          <a:xfrm>
            <a:off x="6144840" y="4754880"/>
            <a:ext cx="5074560" cy="13255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ce4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410" name="Picture 27" descr="1000253760.jpg"/>
          <p:cNvPicPr/>
          <p:nvPr/>
        </p:nvPicPr>
        <p:blipFill>
          <a:blip r:embed="rId2"/>
          <a:stretch/>
        </p:blipFill>
        <p:spPr>
          <a:xfrm>
            <a:off x="6181200" y="4791600"/>
            <a:ext cx="5001480" cy="1252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1" name="TextBox 28"/>
          <p:cNvSpPr/>
          <p:nvPr/>
        </p:nvSpPr>
        <p:spPr>
          <a:xfrm>
            <a:off x="6144840" y="6135480"/>
            <a:ext cx="50745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950" strike="noStrike" u="none">
                <a:solidFill>
                  <a:srgbClr val="647484"/>
                </a:solidFill>
                <a:effectLst/>
                <a:uFillTx/>
                <a:latin typeface="Aptos"/>
              </a:rPr>
              <a:t>Application evidence: referenced categories cannot be deleted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Rectangle 1"/>
          <p:cNvSpPr/>
          <p:nvPr/>
        </p:nvSpPr>
        <p:spPr>
          <a:xfrm>
            <a:off x="0" y="0"/>
            <a:ext cx="12191760" cy="82080"/>
          </a:xfrm>
          <a:prstGeom prst="rect">
            <a:avLst/>
          </a:prstGeom>
          <a:solidFill>
            <a:srgbClr val="2466d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37440" bIns="37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13" name="TextBox 2"/>
          <p:cNvSpPr/>
          <p:nvPr/>
        </p:nvSpPr>
        <p:spPr>
          <a:xfrm>
            <a:off x="567000" y="311040"/>
            <a:ext cx="813780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500" strike="noStrike" u="none">
                <a:solidFill>
                  <a:srgbClr val="112b44"/>
                </a:solidFill>
                <a:effectLst/>
                <a:uFillTx/>
                <a:latin typeface="Aptos"/>
              </a:rPr>
              <a:t>DDL – Database Definition</a:t>
            </a:r>
            <a:endParaRPr b="0" lang="en-US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4" name="TextBox 3"/>
          <p:cNvSpPr/>
          <p:nvPr/>
        </p:nvSpPr>
        <p:spPr>
          <a:xfrm>
            <a:off x="7452360" y="356616"/>
            <a:ext cx="2331720" cy="256032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wrap="square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919" strike="noStrike" u="none">
                <a:solidFill>
                  <a:srgbClr val="2466D6"/>
                </a:solidFill>
                <a:effectLst/>
                <a:uFillTx/>
                <a:latin typeface="Aptos"/>
              </a:rPr>
              <a:t>SQL OPERATIONS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15" name="Picture 4" descr="dbms_logo_clean.png"/>
          <p:cNvPicPr/>
          <p:nvPr/>
        </p:nvPicPr>
        <p:blipFill>
          <a:blip r:embed="rId1"/>
          <a:stretch/>
        </p:blipFill>
        <p:spPr>
          <a:xfrm>
            <a:off x="10012680" y="173880"/>
            <a:ext cx="1627200" cy="306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6" name="Rectangle 5"/>
          <p:cNvSpPr/>
          <p:nvPr/>
        </p:nvSpPr>
        <p:spPr>
          <a:xfrm>
            <a:off x="567000" y="6473880"/>
            <a:ext cx="10926720" cy="13320"/>
          </a:xfrm>
          <a:prstGeom prst="rect">
            <a:avLst/>
          </a:prstGeom>
          <a:solidFill>
            <a:srgbClr val="dce4e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1320" bIns="-313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17" name="TextBox 6"/>
          <p:cNvSpPr/>
          <p:nvPr/>
        </p:nvSpPr>
        <p:spPr>
          <a:xfrm>
            <a:off x="585360" y="6519600"/>
            <a:ext cx="47545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0" lang="en-US" sz="750" strike="noStrike" u="none">
                <a:solidFill>
                  <a:srgbClr val="647484"/>
                </a:solidFill>
                <a:effectLst/>
                <a:uFillTx/>
                <a:latin typeface="Aptos"/>
              </a:rPr>
              <a:t>DBMS • E-COMMERCE MANAGEMENT SYSTEM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8" name="TextBox 7"/>
          <p:cNvSpPr/>
          <p:nvPr/>
        </p:nvSpPr>
        <p:spPr>
          <a:xfrm>
            <a:off x="10972800" y="6492240"/>
            <a:ext cx="3837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800" strike="noStrike" u="none">
                <a:solidFill>
                  <a:srgbClr val="647484"/>
                </a:solidFill>
                <a:effectLst/>
                <a:uFillTx/>
                <a:latin typeface="Aptos"/>
              </a:rPr>
              <a:t>11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9" name="TextBox 8"/>
          <p:cNvSpPr/>
          <p:nvPr/>
        </p:nvSpPr>
        <p:spPr>
          <a:xfrm>
            <a:off x="658440" y="1078920"/>
            <a:ext cx="10515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50" strike="noStrike" u="none">
                <a:solidFill>
                  <a:srgbClr val="647484"/>
                </a:solidFill>
                <a:effectLst/>
                <a:uFillTx/>
                <a:latin typeface="Aptos"/>
              </a:rPr>
              <a:t>The supplied database script defines the relational structure using CREATE DATABASE and CREATE TABLE statements.</a:t>
            </a:r>
            <a:endParaRPr b="0" lang="en-US" sz="14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0" name="Rounded Rectangle 9"/>
          <p:cNvSpPr/>
          <p:nvPr/>
        </p:nvSpPr>
        <p:spPr>
          <a:xfrm>
            <a:off x="658440" y="1783080"/>
            <a:ext cx="6629040" cy="4068720"/>
          </a:xfrm>
          <a:prstGeom prst="roundRect">
            <a:avLst>
              <a:gd name="adj" fmla="val 16667"/>
            </a:avLst>
          </a:prstGeom>
          <a:solidFill>
            <a:srgbClr val="1f252c"/>
          </a:solidFill>
          <a:ln>
            <a:solidFill>
              <a:srgbClr val="37414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21" name="TextBox 10"/>
          <p:cNvSpPr/>
          <p:nvPr/>
        </p:nvSpPr>
        <p:spPr>
          <a:xfrm>
            <a:off x="822960" y="1874520"/>
            <a:ext cx="63000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950" strike="noStrike" u="none">
                <a:solidFill>
                  <a:srgbClr val="e26823"/>
                </a:solidFill>
                <a:effectLst/>
                <a:uFillTx/>
                <a:latin typeface="Aptos"/>
              </a:rPr>
              <a:t>DDL — ACTUAL SCHEMA EXCERPT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2" name="TextBox 11"/>
          <p:cNvSpPr/>
          <p:nvPr/>
        </p:nvSpPr>
        <p:spPr>
          <a:xfrm>
            <a:off x="822960" y="2167200"/>
            <a:ext cx="6300000" cy="359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020" strike="noStrike" u="none">
                <a:solidFill>
                  <a:srgbClr val="ffffff"/>
                </a:solidFill>
                <a:effectLst/>
                <a:uFillTx/>
                <a:latin typeface="Consolas"/>
              </a:rPr>
              <a:t>CREATE TABLE products (</a:t>
            </a:r>
            <a:endParaRPr b="0" lang="en-US" sz="1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en-US" sz="1020" strike="noStrike" u="none">
                <a:solidFill>
                  <a:srgbClr val="ffffff"/>
                </a:solidFill>
                <a:effectLst/>
                <a:uFillTx/>
                <a:latin typeface="Consolas"/>
              </a:rPr>
              <a:t>    product_id INT AUTO_INCREMENT PRIMARY KEY,</a:t>
            </a:r>
            <a:endParaRPr b="0" lang="en-US" sz="1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en-US" sz="1020" strike="noStrike" u="none">
                <a:solidFill>
                  <a:srgbClr val="ffffff"/>
                </a:solidFill>
                <a:effectLst/>
                <a:uFillTx/>
                <a:latin typeface="Consolas"/>
              </a:rPr>
              <a:t>    seller_id INT NOT NULL,</a:t>
            </a:r>
            <a:endParaRPr b="0" lang="en-US" sz="1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en-US" sz="1020" strike="noStrike" u="none">
                <a:solidFill>
                  <a:srgbClr val="ffffff"/>
                </a:solidFill>
                <a:effectLst/>
                <a:uFillTx/>
                <a:latin typeface="Consolas"/>
              </a:rPr>
              <a:t>    category_id INT NOT NULL,</a:t>
            </a:r>
            <a:endParaRPr b="0" lang="en-US" sz="1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en-US" sz="1020" strike="noStrike" u="none">
                <a:solidFill>
                  <a:srgbClr val="ffffff"/>
                </a:solidFill>
                <a:effectLst/>
                <a:uFillTx/>
                <a:latin typeface="Consolas"/>
              </a:rPr>
              <a:t>    product_name VARCHAR(150) NOT NULL,</a:t>
            </a:r>
            <a:endParaRPr b="0" lang="en-US" sz="1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en-US" sz="1020" strike="noStrike" u="none">
                <a:solidFill>
                  <a:srgbClr val="ffffff"/>
                </a:solidFill>
                <a:effectLst/>
                <a:uFillTx/>
                <a:latin typeface="Consolas"/>
              </a:rPr>
              <a:t>    price DECIMAL(10,2) NOT NULL,</a:t>
            </a:r>
            <a:endParaRPr b="0" lang="en-US" sz="1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en-US" sz="1020" strike="noStrike" u="none">
                <a:solidFill>
                  <a:srgbClr val="ffffff"/>
                </a:solidFill>
                <a:effectLst/>
                <a:uFillTx/>
                <a:latin typeface="Consolas"/>
              </a:rPr>
              <a:t>    stock_quantity INT NOT NULL DEFAULT 0,</a:t>
            </a:r>
            <a:endParaRPr b="0" lang="en-US" sz="1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en-US" sz="1020" strike="noStrike" u="none">
                <a:solidFill>
                  <a:srgbClr val="ffffff"/>
                </a:solidFill>
                <a:effectLst/>
                <a:uFillTx/>
                <a:latin typeface="Consolas"/>
              </a:rPr>
              <a:t>    FOREIGN KEY (seller_id) REFERENCES sellers(seller_id),</a:t>
            </a:r>
            <a:endParaRPr b="0" lang="en-US" sz="1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en-US" sz="1020" strike="noStrike" u="none">
                <a:solidFill>
                  <a:srgbClr val="ffffff"/>
                </a:solidFill>
                <a:effectLst/>
                <a:uFillTx/>
                <a:latin typeface="Consolas"/>
              </a:rPr>
              <a:t>    FOREIGN KEY (category_id) REFERENCES categories(category_id),</a:t>
            </a:r>
            <a:endParaRPr b="0" lang="en-US" sz="1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en-US" sz="1020" strike="noStrike" u="none">
                <a:solidFill>
                  <a:srgbClr val="ffffff"/>
                </a:solidFill>
                <a:effectLst/>
                <a:uFillTx/>
                <a:latin typeface="Consolas"/>
              </a:rPr>
              <a:t>    CHECK (price &gt;= 0),</a:t>
            </a:r>
            <a:endParaRPr b="0" lang="en-US" sz="1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en-US" sz="1020" strike="noStrike" u="none">
                <a:solidFill>
                  <a:srgbClr val="ffffff"/>
                </a:solidFill>
                <a:effectLst/>
                <a:uFillTx/>
                <a:latin typeface="Consolas"/>
              </a:rPr>
              <a:t>    CHECK (stock_quantity &gt;= 0)</a:t>
            </a:r>
            <a:endParaRPr b="0" lang="en-US" sz="1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20" strike="noStrike" u="none">
                <a:solidFill>
                  <a:srgbClr val="ffffff"/>
                </a:solidFill>
                <a:effectLst/>
                <a:uFillTx/>
                <a:latin typeface="Consolas"/>
              </a:rPr>
              <a:t>);</a:t>
            </a:r>
            <a:endParaRPr b="0" lang="en-US" sz="1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3" name="Rounded Rectangle 12"/>
          <p:cNvSpPr/>
          <p:nvPr/>
        </p:nvSpPr>
        <p:spPr>
          <a:xfrm>
            <a:off x="7543800" y="1874520"/>
            <a:ext cx="3702960" cy="1234080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>
            <a:solidFill>
              <a:srgbClr val="dce4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24" name="TextBox 13"/>
          <p:cNvSpPr/>
          <p:nvPr/>
        </p:nvSpPr>
        <p:spPr>
          <a:xfrm>
            <a:off x="7708320" y="1984320"/>
            <a:ext cx="33739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2466d6"/>
                </a:solidFill>
                <a:effectLst/>
                <a:uFillTx/>
                <a:latin typeface="Aptos"/>
              </a:rPr>
              <a:t>DDL purpose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5" name="TextBox 14"/>
          <p:cNvSpPr/>
          <p:nvPr/>
        </p:nvSpPr>
        <p:spPr>
          <a:xfrm>
            <a:off x="7708320" y="2331720"/>
            <a:ext cx="33739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50" strike="noStrike" u="none">
                <a:solidFill>
                  <a:srgbClr val="2a3745"/>
                </a:solidFill>
                <a:effectLst/>
                <a:uFillTx/>
                <a:latin typeface="Aptos"/>
              </a:rPr>
              <a:t>Creates the database objects and embeds integrity rules directly into the relational schema.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6" name="Rounded Rectangle 15"/>
          <p:cNvSpPr/>
          <p:nvPr/>
        </p:nvSpPr>
        <p:spPr>
          <a:xfrm>
            <a:off x="7543800" y="3429000"/>
            <a:ext cx="3702960" cy="1234080"/>
          </a:xfrm>
          <a:prstGeom prst="roundRect">
            <a:avLst>
              <a:gd name="adj" fmla="val 16667"/>
            </a:avLst>
          </a:prstGeom>
          <a:solidFill>
            <a:srgbClr val="eff9f4"/>
          </a:solidFill>
          <a:ln>
            <a:solidFill>
              <a:srgbClr val="dce4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27" name="TextBox 16"/>
          <p:cNvSpPr/>
          <p:nvPr/>
        </p:nvSpPr>
        <p:spPr>
          <a:xfrm>
            <a:off x="7708320" y="3538800"/>
            <a:ext cx="33739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278b5d"/>
                </a:solidFill>
                <a:effectLst/>
                <a:uFillTx/>
                <a:latin typeface="Aptos"/>
              </a:rPr>
              <a:t>Project evidence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8" name="TextBox 17"/>
          <p:cNvSpPr/>
          <p:nvPr/>
        </p:nvSpPr>
        <p:spPr>
          <a:xfrm>
            <a:off x="7708320" y="3886200"/>
            <a:ext cx="33739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50" strike="noStrike" u="none">
                <a:solidFill>
                  <a:srgbClr val="2a3745"/>
                </a:solidFill>
                <a:effectLst/>
                <a:uFillTx/>
                <a:latin typeface="Aptos"/>
              </a:rPr>
              <a:t>13 tables are created in the supplied SQL schema, including generated subtotal in Order Items.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Rectangle 1"/>
          <p:cNvSpPr/>
          <p:nvPr/>
        </p:nvSpPr>
        <p:spPr>
          <a:xfrm>
            <a:off x="0" y="0"/>
            <a:ext cx="12191760" cy="82080"/>
          </a:xfrm>
          <a:prstGeom prst="rect">
            <a:avLst/>
          </a:prstGeom>
          <a:solidFill>
            <a:srgbClr val="2466d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37440" bIns="37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30" name="TextBox 2"/>
          <p:cNvSpPr/>
          <p:nvPr/>
        </p:nvSpPr>
        <p:spPr>
          <a:xfrm>
            <a:off x="567000" y="311040"/>
            <a:ext cx="813780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500" strike="noStrike" u="none">
                <a:solidFill>
                  <a:srgbClr val="112b44"/>
                </a:solidFill>
                <a:effectLst/>
                <a:uFillTx/>
                <a:latin typeface="Aptos"/>
              </a:rPr>
              <a:t>DML – Data Manipulation Language</a:t>
            </a:r>
            <a:endParaRPr b="0" lang="en-US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1" name="TextBox 3"/>
          <p:cNvSpPr/>
          <p:nvPr/>
        </p:nvSpPr>
        <p:spPr>
          <a:xfrm>
            <a:off x="7452360" y="356616"/>
            <a:ext cx="2331720" cy="256032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wrap="square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919" strike="noStrike" u="none">
                <a:solidFill>
                  <a:srgbClr val="2466D6"/>
                </a:solidFill>
                <a:effectLst/>
                <a:uFillTx/>
                <a:latin typeface="Aptos"/>
              </a:rPr>
              <a:t>SQL OPERATIONS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32" name="Picture 4" descr="dbms_logo_clean.png"/>
          <p:cNvPicPr/>
          <p:nvPr/>
        </p:nvPicPr>
        <p:blipFill>
          <a:blip r:embed="rId1"/>
          <a:stretch/>
        </p:blipFill>
        <p:spPr>
          <a:xfrm>
            <a:off x="10012680" y="173880"/>
            <a:ext cx="1627200" cy="306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3" name="Rectangle 5"/>
          <p:cNvSpPr/>
          <p:nvPr/>
        </p:nvSpPr>
        <p:spPr>
          <a:xfrm>
            <a:off x="567000" y="6473880"/>
            <a:ext cx="10926720" cy="13320"/>
          </a:xfrm>
          <a:prstGeom prst="rect">
            <a:avLst/>
          </a:prstGeom>
          <a:solidFill>
            <a:srgbClr val="dce4e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1320" bIns="-313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34" name="TextBox 6"/>
          <p:cNvSpPr/>
          <p:nvPr/>
        </p:nvSpPr>
        <p:spPr>
          <a:xfrm>
            <a:off x="585360" y="6519600"/>
            <a:ext cx="47545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0" lang="en-US" sz="750" strike="noStrike" u="none">
                <a:solidFill>
                  <a:srgbClr val="647484"/>
                </a:solidFill>
                <a:effectLst/>
                <a:uFillTx/>
                <a:latin typeface="Aptos"/>
              </a:rPr>
              <a:t>DBMS • E-COMMERCE MANAGEMENT SYSTEM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5" name="TextBox 7"/>
          <p:cNvSpPr/>
          <p:nvPr/>
        </p:nvSpPr>
        <p:spPr>
          <a:xfrm>
            <a:off x="10972800" y="6492240"/>
            <a:ext cx="3837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800" strike="noStrike" u="none">
                <a:solidFill>
                  <a:srgbClr val="647484"/>
                </a:solidFill>
                <a:effectLst/>
                <a:uFillTx/>
                <a:latin typeface="Aptos"/>
              </a:rPr>
              <a:t>12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6" name="Rounded Rectangle 8"/>
          <p:cNvSpPr/>
          <p:nvPr/>
        </p:nvSpPr>
        <p:spPr>
          <a:xfrm>
            <a:off x="658440" y="1234440"/>
            <a:ext cx="3337200" cy="1325520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>
            <a:solidFill>
              <a:srgbClr val="dce4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37" name="TextBox 9"/>
          <p:cNvSpPr/>
          <p:nvPr/>
        </p:nvSpPr>
        <p:spPr>
          <a:xfrm>
            <a:off x="822960" y="1344240"/>
            <a:ext cx="30081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2466d6"/>
                </a:solidFill>
                <a:effectLst/>
                <a:uFillTx/>
                <a:latin typeface="Aptos"/>
              </a:rPr>
              <a:t>INSERT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8" name="TextBox 10"/>
          <p:cNvSpPr/>
          <p:nvPr/>
        </p:nvSpPr>
        <p:spPr>
          <a:xfrm>
            <a:off x="822960" y="1691640"/>
            <a:ext cx="30081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50" strike="noStrike" u="none">
                <a:solidFill>
                  <a:srgbClr val="2a3745"/>
                </a:solidFill>
                <a:effectLst/>
                <a:uFillTx/>
                <a:latin typeface="Aptos"/>
              </a:rPr>
              <a:t>Adds records such as customers, products, orders, order items, payments and shipping.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9" name="Rounded Rectangle 11"/>
          <p:cNvSpPr/>
          <p:nvPr/>
        </p:nvSpPr>
        <p:spPr>
          <a:xfrm>
            <a:off x="4361760" y="1234440"/>
            <a:ext cx="3337200" cy="1325520"/>
          </a:xfrm>
          <a:prstGeom prst="roundRect">
            <a:avLst>
              <a:gd name="adj" fmla="val 16667"/>
            </a:avLst>
          </a:prstGeom>
          <a:solidFill>
            <a:srgbClr val="fff6ef"/>
          </a:solidFill>
          <a:ln>
            <a:solidFill>
              <a:srgbClr val="dce4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40" name="TextBox 12"/>
          <p:cNvSpPr/>
          <p:nvPr/>
        </p:nvSpPr>
        <p:spPr>
          <a:xfrm>
            <a:off x="4526280" y="1344240"/>
            <a:ext cx="30081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e26823"/>
                </a:solidFill>
                <a:effectLst/>
                <a:uFillTx/>
                <a:latin typeface="Aptos"/>
              </a:rPr>
              <a:t>UPDATE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1" name="TextBox 13"/>
          <p:cNvSpPr/>
          <p:nvPr/>
        </p:nvSpPr>
        <p:spPr>
          <a:xfrm>
            <a:off x="4526280" y="1691640"/>
            <a:ext cx="30081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50" strike="noStrike" u="none">
                <a:solidFill>
                  <a:srgbClr val="2a3745"/>
                </a:solidFill>
                <a:effectLst/>
                <a:uFillTx/>
                <a:latin typeface="Aptos"/>
              </a:rPr>
              <a:t>Changes existing values such as stock, order status, payment status or profile data.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2" name="Rounded Rectangle 14"/>
          <p:cNvSpPr/>
          <p:nvPr/>
        </p:nvSpPr>
        <p:spPr>
          <a:xfrm>
            <a:off x="8065080" y="1234440"/>
            <a:ext cx="3337200" cy="1325520"/>
          </a:xfrm>
          <a:prstGeom prst="roundRect">
            <a:avLst>
              <a:gd name="adj" fmla="val 16667"/>
            </a:avLst>
          </a:prstGeom>
          <a:solidFill>
            <a:srgbClr val="eff9f4"/>
          </a:solidFill>
          <a:ln>
            <a:solidFill>
              <a:srgbClr val="dce4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43" name="TextBox 15"/>
          <p:cNvSpPr/>
          <p:nvPr/>
        </p:nvSpPr>
        <p:spPr>
          <a:xfrm>
            <a:off x="8229600" y="1344240"/>
            <a:ext cx="30081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278b5d"/>
                </a:solidFill>
                <a:effectLst/>
                <a:uFillTx/>
                <a:latin typeface="Aptos"/>
              </a:rPr>
              <a:t>DELETE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4" name="TextBox 16"/>
          <p:cNvSpPr/>
          <p:nvPr/>
        </p:nvSpPr>
        <p:spPr>
          <a:xfrm>
            <a:off x="8229600" y="1691640"/>
            <a:ext cx="30081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50" strike="noStrike" u="none">
                <a:solidFill>
                  <a:srgbClr val="2a3745"/>
                </a:solidFill>
                <a:effectLst/>
                <a:uFillTx/>
                <a:latin typeface="Aptos"/>
              </a:rPr>
              <a:t>Removes records when business rules and FK relationships allow it.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5" name="Rounded Rectangle 17"/>
          <p:cNvSpPr/>
          <p:nvPr/>
        </p:nvSpPr>
        <p:spPr>
          <a:xfrm>
            <a:off x="658440" y="2971800"/>
            <a:ext cx="6400440" cy="2239920"/>
          </a:xfrm>
          <a:prstGeom prst="roundRect">
            <a:avLst>
              <a:gd name="adj" fmla="val 16667"/>
            </a:avLst>
          </a:prstGeom>
          <a:solidFill>
            <a:srgbClr val="1f252c"/>
          </a:solidFill>
          <a:ln>
            <a:solidFill>
              <a:srgbClr val="37414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46" name="TextBox 18"/>
          <p:cNvSpPr/>
          <p:nvPr/>
        </p:nvSpPr>
        <p:spPr>
          <a:xfrm>
            <a:off x="822960" y="3063240"/>
            <a:ext cx="60714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950" strike="noStrike" u="none">
                <a:solidFill>
                  <a:srgbClr val="e26823"/>
                </a:solidFill>
                <a:effectLst/>
                <a:uFillTx/>
                <a:latin typeface="Aptos"/>
              </a:rPr>
              <a:t>DML — ACTUAL APPLICATION CODE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7" name="TextBox 19"/>
          <p:cNvSpPr/>
          <p:nvPr/>
        </p:nvSpPr>
        <p:spPr>
          <a:xfrm>
            <a:off x="822960" y="3355920"/>
            <a:ext cx="6071400" cy="176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8016" rIns="128016" tIns="64008" bIns="54864" anchor="t" wrap="square">
            <a:spAutoFit/>
          </a:bodyPr>
          <a:p>
            <a:endParaRPr b="0" lang="en-US" sz="1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spcBef>
                <a:spcPts val="0"/>
              </a:spcBef>
            </a:pPr>
            <a:r>
              <a:rPr sz="860" b="1">
                <a:solidFill>
                  <a:srgbClr val="50A0FF"/>
                </a:solidFill>
                <a:latin typeface="Aptos"/>
              </a:rPr>
              <a:t>DML — ACTUAL APPLICATION CODE</a:t>
            </a:r>
          </a:p>
          <a:p>
            <a:pPr>
              <a:spcBef>
                <a:spcPts val="0"/>
              </a:spcBef>
            </a:pPr>
            <a:r>
              <a:rPr sz="735" b="0">
                <a:solidFill>
                  <a:srgbClr val="F8FAFC"/>
                </a:solidFill>
                <a:latin typeface="Consolas"/>
              </a:rPr>
              <a:t>INSERT INTO orders (customer_id, coupon_id, total_amount,</a:t>
            </a:r>
          </a:p>
          <a:p>
            <a:pPr>
              <a:spcBef>
                <a:spcPts val="0"/>
              </a:spcBef>
            </a:pPr>
            <a:r>
              <a:rPr sz="735" b="0">
                <a:solidFill>
                  <a:srgbClr val="F8FAFC"/>
                </a:solidFill>
                <a:latin typeface="Consolas"/>
              </a:rPr>
              <a:t>       order_status, shipping_address)</a:t>
            </a:r>
          </a:p>
          <a:p>
            <a:pPr>
              <a:spcBef>
                <a:spcPts val="0"/>
              </a:spcBef>
            </a:pPr>
            <a:r>
              <a:rPr sz="735" b="0">
                <a:solidFill>
                  <a:srgbClr val="F8FAFC"/>
                </a:solidFill>
                <a:latin typeface="Consolas"/>
              </a:rPr>
              <a:t>VALUES (%s, %s, %s, 'PLACED', %s);</a:t>
            </a:r>
          </a:p>
          <a:p>
            <a:pPr>
              <a:spcBef>
                <a:spcPts val="0"/>
              </a:spcBef>
            </a:pPr>
            <a:r>
              <a:rPr sz="300" b="0">
                <a:solidFill>
                  <a:srgbClr val="F8FAFC"/>
                </a:solidFill>
                <a:latin typeface="Consolas"/>
              </a:rPr>
              <a:t/>
            </a:r>
          </a:p>
          <a:p>
            <a:pPr>
              <a:spcBef>
                <a:spcPts val="0"/>
              </a:spcBef>
            </a:pPr>
            <a:r>
              <a:rPr sz="735" b="0">
                <a:solidFill>
                  <a:srgbClr val="F8FAFC"/>
                </a:solidFill>
                <a:latin typeface="Consolas"/>
              </a:rPr>
              <a:t>UPDATE products SET price = %s, stock_quantity = %s</a:t>
            </a:r>
          </a:p>
          <a:p>
            <a:pPr>
              <a:spcBef>
                <a:spcPts val="0"/>
              </a:spcBef>
            </a:pPr>
            <a:r>
              <a:rPr sz="735" b="0">
                <a:solidFill>
                  <a:srgbClr val="F8FAFC"/>
                </a:solidFill>
                <a:latin typeface="Consolas"/>
              </a:rPr>
              <a:t>WHERE product_id = %s;</a:t>
            </a:r>
          </a:p>
          <a:p>
            <a:pPr>
              <a:spcBef>
                <a:spcPts val="0"/>
              </a:spcBef>
            </a:pPr>
            <a:r>
              <a:rPr sz="300" b="0">
                <a:solidFill>
                  <a:srgbClr val="F8FAFC"/>
                </a:solidFill>
                <a:latin typeface="Consolas"/>
              </a:rPr>
              <a:t/>
            </a:r>
          </a:p>
          <a:p>
            <a:pPr>
              <a:spcBef>
                <a:spcPts val="0"/>
              </a:spcBef>
            </a:pPr>
            <a:r>
              <a:rPr sz="735" b="0">
                <a:solidFill>
                  <a:srgbClr val="F8FAFC"/>
                </a:solidFill>
                <a:latin typeface="Consolas"/>
              </a:rPr>
              <a:t>DELETE FROM products WHERE product_id = %s;</a:t>
            </a:r>
          </a:p>
        </p:txBody>
      </p:sp>
      <p:sp>
        <p:nvSpPr>
          <p:cNvPr id="448" name="Rounded Rectangle 20"/>
          <p:cNvSpPr/>
          <p:nvPr/>
        </p:nvSpPr>
        <p:spPr>
          <a:xfrm>
            <a:off x="7315200" y="2971800"/>
            <a:ext cx="4205880" cy="1874160"/>
          </a:xfrm>
          <a:prstGeom prst="roundRect">
            <a:avLst>
              <a:gd name="adj" fmla="val 16667"/>
            </a:avLst>
          </a:prstGeom>
          <a:solidFill>
            <a:srgbClr val="fff6ef"/>
          </a:solidFill>
          <a:ln>
            <a:solidFill>
              <a:srgbClr val="dce4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49" name="TextBox 21"/>
          <p:cNvSpPr/>
          <p:nvPr/>
        </p:nvSpPr>
        <p:spPr>
          <a:xfrm>
            <a:off x="7479720" y="3081600"/>
            <a:ext cx="38768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e26823"/>
                </a:solidFill>
                <a:effectLst/>
                <a:uFillTx/>
                <a:latin typeface="Aptos"/>
              </a:rPr>
              <a:t>Where it appears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0" name="TextBox 22"/>
          <p:cNvSpPr/>
          <p:nvPr/>
        </p:nvSpPr>
        <p:spPr>
          <a:xfrm>
            <a:off x="7479720" y="3429000"/>
            <a:ext cx="3876840" cy="132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30" strike="noStrike" u="none">
                <a:solidFill>
                  <a:srgbClr val="2a3745"/>
                </a:solidFill>
                <a:effectLst/>
                <a:uFillTx/>
                <a:latin typeface="Aptos"/>
              </a:rPr>
              <a:t>CRUD screens manage products, categories, sellers, customers, coupons, orders and reviews. Checkout creates order-related records in one transaction.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Rectangle 1"/>
          <p:cNvSpPr/>
          <p:nvPr/>
        </p:nvSpPr>
        <p:spPr>
          <a:xfrm>
            <a:off x="0" y="0"/>
            <a:ext cx="12191760" cy="82080"/>
          </a:xfrm>
          <a:prstGeom prst="rect">
            <a:avLst/>
          </a:prstGeom>
          <a:solidFill>
            <a:srgbClr val="2466d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37440" bIns="37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52" name="TextBox 2"/>
          <p:cNvSpPr/>
          <p:nvPr/>
        </p:nvSpPr>
        <p:spPr>
          <a:xfrm>
            <a:off x="567000" y="311040"/>
            <a:ext cx="813780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500" strike="noStrike" u="none">
                <a:solidFill>
                  <a:srgbClr val="112b44"/>
                </a:solidFill>
                <a:effectLst/>
                <a:uFillTx/>
                <a:latin typeface="Aptos"/>
              </a:rPr>
              <a:t>DQL – Data Query Language</a:t>
            </a:r>
            <a:endParaRPr b="0" lang="en-US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3" name="TextBox 3"/>
          <p:cNvSpPr/>
          <p:nvPr/>
        </p:nvSpPr>
        <p:spPr>
          <a:xfrm>
            <a:off x="7452360" y="356616"/>
            <a:ext cx="2331720" cy="256032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wrap="square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919" strike="noStrike" u="none">
                <a:solidFill>
                  <a:srgbClr val="2466D6"/>
                </a:solidFill>
                <a:effectLst/>
                <a:uFillTx/>
                <a:latin typeface="Aptos"/>
              </a:rPr>
              <a:t>SQL OPERATIONS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54" name="Picture 4" descr="dbms_logo_clean.png"/>
          <p:cNvPicPr/>
          <p:nvPr/>
        </p:nvPicPr>
        <p:blipFill>
          <a:blip r:embed="rId1"/>
          <a:stretch/>
        </p:blipFill>
        <p:spPr>
          <a:xfrm>
            <a:off x="10012680" y="173880"/>
            <a:ext cx="1627200" cy="306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5" name="Rectangle 5"/>
          <p:cNvSpPr/>
          <p:nvPr/>
        </p:nvSpPr>
        <p:spPr>
          <a:xfrm>
            <a:off x="567000" y="6473880"/>
            <a:ext cx="10926720" cy="13320"/>
          </a:xfrm>
          <a:prstGeom prst="rect">
            <a:avLst/>
          </a:prstGeom>
          <a:solidFill>
            <a:srgbClr val="dce4e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1320" bIns="-313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56" name="TextBox 6"/>
          <p:cNvSpPr/>
          <p:nvPr/>
        </p:nvSpPr>
        <p:spPr>
          <a:xfrm>
            <a:off x="585360" y="6519600"/>
            <a:ext cx="47545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0" lang="en-US" sz="750" strike="noStrike" u="none">
                <a:solidFill>
                  <a:srgbClr val="647484"/>
                </a:solidFill>
                <a:effectLst/>
                <a:uFillTx/>
                <a:latin typeface="Aptos"/>
              </a:rPr>
              <a:t>DBMS • E-COMMERCE MANAGEMENT SYSTEM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7" name="TextBox 7"/>
          <p:cNvSpPr/>
          <p:nvPr/>
        </p:nvSpPr>
        <p:spPr>
          <a:xfrm>
            <a:off x="10972800" y="6492240"/>
            <a:ext cx="3837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800" strike="noStrike" u="none">
                <a:solidFill>
                  <a:srgbClr val="647484"/>
                </a:solidFill>
                <a:effectLst/>
                <a:uFillTx/>
                <a:latin typeface="Aptos"/>
              </a:rPr>
              <a:t>13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8" name="Rounded Rectangle 8"/>
          <p:cNvSpPr/>
          <p:nvPr/>
        </p:nvSpPr>
        <p:spPr>
          <a:xfrm>
            <a:off x="658440" y="1234440"/>
            <a:ext cx="2468520" cy="1142640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>
            <a:solidFill>
              <a:srgbClr val="dce4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59" name="TextBox 9"/>
          <p:cNvSpPr/>
          <p:nvPr/>
        </p:nvSpPr>
        <p:spPr>
          <a:xfrm>
            <a:off x="822960" y="1344240"/>
            <a:ext cx="21394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trike="noStrike" u="none">
                <a:solidFill>
                  <a:srgbClr val="2466d6"/>
                </a:solidFill>
                <a:effectLst/>
                <a:uFillTx/>
                <a:latin typeface="Aptos"/>
              </a:rPr>
              <a:t>SELECT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0" name="TextBox 10"/>
          <p:cNvSpPr/>
          <p:nvPr/>
        </p:nvSpPr>
        <p:spPr>
          <a:xfrm>
            <a:off x="822960" y="1691640"/>
            <a:ext cx="21394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20" strike="noStrike" u="none">
                <a:solidFill>
                  <a:srgbClr val="2a3745"/>
                </a:solidFill>
                <a:effectLst/>
                <a:uFillTx/>
                <a:latin typeface="Aptos"/>
              </a:rPr>
              <a:t>Retrieve records from one or more tables.</a:t>
            </a:r>
            <a:endParaRPr b="0" lang="en-US" sz="11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1" name="Rounded Rectangle 11"/>
          <p:cNvSpPr/>
          <p:nvPr/>
        </p:nvSpPr>
        <p:spPr>
          <a:xfrm>
            <a:off x="3447360" y="1234440"/>
            <a:ext cx="2468520" cy="1142640"/>
          </a:xfrm>
          <a:prstGeom prst="roundRect">
            <a:avLst>
              <a:gd name="adj" fmla="val 16667"/>
            </a:avLst>
          </a:prstGeom>
          <a:solidFill>
            <a:srgbClr val="fff6ef"/>
          </a:solidFill>
          <a:ln>
            <a:solidFill>
              <a:srgbClr val="dce4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62" name="TextBox 12"/>
          <p:cNvSpPr/>
          <p:nvPr/>
        </p:nvSpPr>
        <p:spPr>
          <a:xfrm>
            <a:off x="3611880" y="1344240"/>
            <a:ext cx="21394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trike="noStrike" u="none">
                <a:solidFill>
                  <a:srgbClr val="e26823"/>
                </a:solidFill>
                <a:effectLst/>
                <a:uFillTx/>
                <a:latin typeface="Aptos"/>
              </a:rPr>
              <a:t>WHERE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3" name="TextBox 13"/>
          <p:cNvSpPr/>
          <p:nvPr/>
        </p:nvSpPr>
        <p:spPr>
          <a:xfrm>
            <a:off x="3611880" y="1691640"/>
            <a:ext cx="21394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20" strike="noStrike" u="none">
                <a:solidFill>
                  <a:srgbClr val="2a3745"/>
                </a:solidFill>
                <a:effectLst/>
                <a:uFillTx/>
                <a:latin typeface="Aptos"/>
              </a:rPr>
              <a:t>Filter rows using conditions.</a:t>
            </a:r>
            <a:endParaRPr b="0" lang="en-US" sz="11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4" name="Rounded Rectangle 14"/>
          <p:cNvSpPr/>
          <p:nvPr/>
        </p:nvSpPr>
        <p:spPr>
          <a:xfrm>
            <a:off x="6236280" y="1234440"/>
            <a:ext cx="2468520" cy="1142640"/>
          </a:xfrm>
          <a:prstGeom prst="roundRect">
            <a:avLst>
              <a:gd name="adj" fmla="val 16667"/>
            </a:avLst>
          </a:prstGeom>
          <a:solidFill>
            <a:srgbClr val="eff9f4"/>
          </a:solidFill>
          <a:ln>
            <a:solidFill>
              <a:srgbClr val="dce4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65" name="TextBox 15"/>
          <p:cNvSpPr/>
          <p:nvPr/>
        </p:nvSpPr>
        <p:spPr>
          <a:xfrm>
            <a:off x="6400800" y="1344240"/>
            <a:ext cx="21394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trike="noStrike" u="none">
                <a:solidFill>
                  <a:srgbClr val="278b5d"/>
                </a:solidFill>
                <a:effectLst/>
                <a:uFillTx/>
                <a:latin typeface="Aptos"/>
              </a:rPr>
              <a:t>ORDER BY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6" name="TextBox 16"/>
          <p:cNvSpPr/>
          <p:nvPr/>
        </p:nvSpPr>
        <p:spPr>
          <a:xfrm>
            <a:off x="6400800" y="1691640"/>
            <a:ext cx="21394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20" strike="noStrike" u="none">
                <a:solidFill>
                  <a:srgbClr val="2a3745"/>
                </a:solidFill>
                <a:effectLst/>
                <a:uFillTx/>
                <a:latin typeface="Aptos"/>
              </a:rPr>
              <a:t>Sort results.</a:t>
            </a:r>
            <a:endParaRPr b="0" lang="en-US" sz="11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7" name="Rounded Rectangle 17"/>
          <p:cNvSpPr/>
          <p:nvPr/>
        </p:nvSpPr>
        <p:spPr>
          <a:xfrm>
            <a:off x="9025200" y="1234440"/>
            <a:ext cx="2468520" cy="1142640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>
            <a:solidFill>
              <a:srgbClr val="dce4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68" name="TextBox 18"/>
          <p:cNvSpPr/>
          <p:nvPr/>
        </p:nvSpPr>
        <p:spPr>
          <a:xfrm>
            <a:off x="9189720" y="1344240"/>
            <a:ext cx="21394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trike="noStrike" u="none">
                <a:solidFill>
                  <a:srgbClr val="2466d6"/>
                </a:solidFill>
                <a:effectLst/>
                <a:uFillTx/>
                <a:latin typeface="Aptos"/>
              </a:rPr>
              <a:t>GROUP BY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9" name="TextBox 19"/>
          <p:cNvSpPr/>
          <p:nvPr/>
        </p:nvSpPr>
        <p:spPr>
          <a:xfrm>
            <a:off x="9189720" y="1691640"/>
            <a:ext cx="21394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20" strike="noStrike" u="none">
                <a:solidFill>
                  <a:srgbClr val="2a3745"/>
                </a:solidFill>
                <a:effectLst/>
                <a:uFillTx/>
                <a:latin typeface="Aptos"/>
              </a:rPr>
              <a:t>Group records for analysis.</a:t>
            </a:r>
            <a:endParaRPr b="0" lang="en-US" sz="11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0" name="Rounded Rectangle 20"/>
          <p:cNvSpPr/>
          <p:nvPr/>
        </p:nvSpPr>
        <p:spPr>
          <a:xfrm>
            <a:off x="658440" y="2788920"/>
            <a:ext cx="5714640" cy="1965600"/>
          </a:xfrm>
          <a:prstGeom prst="roundRect">
            <a:avLst>
              <a:gd name="adj" fmla="val 16667"/>
            </a:avLst>
          </a:prstGeom>
          <a:solidFill>
            <a:srgbClr val="1f252c"/>
          </a:solidFill>
          <a:ln>
            <a:solidFill>
              <a:srgbClr val="37414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71" name="TextBox 21"/>
          <p:cNvSpPr/>
          <p:nvPr/>
        </p:nvSpPr>
        <p:spPr>
          <a:xfrm>
            <a:off x="822960" y="2880360"/>
            <a:ext cx="53856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950" strike="noStrike" u="none">
                <a:solidFill>
                  <a:srgbClr val="e26823"/>
                </a:solidFill>
                <a:effectLst/>
                <a:uFillTx/>
                <a:latin typeface="Aptos"/>
              </a:rPr>
              <a:t>DQL — ACTUAL REPORT QUERY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2" name="TextBox 22"/>
          <p:cNvSpPr/>
          <p:nvPr/>
        </p:nvSpPr>
        <p:spPr>
          <a:xfrm>
            <a:off x="822960" y="3173040"/>
            <a:ext cx="5385600" cy="149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8016" rIns="128016" tIns="64008" bIns="54864" anchor="t" wrap="square">
            <a:spAutoFit/>
          </a:bodyPr>
          <a:p>
            <a:endParaRPr b="0" lang="en-US" sz="1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spcBef>
                <a:spcPts val="0"/>
              </a:spcBef>
            </a:pPr>
            <a:r>
              <a:rPr sz="860" b="1">
                <a:solidFill>
                  <a:srgbClr val="50A0FF"/>
                </a:solidFill>
                <a:latin typeface="Aptos"/>
              </a:rPr>
              <a:t>DQL — ACTUAL APPLICATION QUERIES</a:t>
            </a:r>
          </a:p>
          <a:p>
            <a:pPr>
              <a:spcBef>
                <a:spcPts val="0"/>
              </a:spcBef>
            </a:pPr>
            <a:r>
              <a:rPr sz="725" b="0">
                <a:solidFill>
                  <a:srgbClr val="F8FAFC"/>
                </a:solidFill>
                <a:latin typeface="Consolas"/>
              </a:rPr>
              <a:t>SELECT product_id, product_name</a:t>
            </a:r>
          </a:p>
          <a:p>
            <a:pPr>
              <a:spcBef>
                <a:spcPts val="0"/>
              </a:spcBef>
            </a:pPr>
            <a:r>
              <a:rPr sz="725" b="0">
                <a:solidFill>
                  <a:srgbClr val="F8FAFC"/>
                </a:solidFill>
                <a:latin typeface="Consolas"/>
              </a:rPr>
              <a:t>FROM products</a:t>
            </a:r>
          </a:p>
          <a:p>
            <a:pPr>
              <a:spcBef>
                <a:spcPts val="0"/>
              </a:spcBef>
            </a:pPr>
            <a:r>
              <a:rPr sz="725" b="0">
                <a:solidFill>
                  <a:srgbClr val="F8FAFC"/>
                </a:solidFill>
                <a:latin typeface="Consolas"/>
              </a:rPr>
              <a:t>WHERE category_id = %s;</a:t>
            </a:r>
          </a:p>
          <a:p>
            <a:pPr>
              <a:spcBef>
                <a:spcPts val="0"/>
              </a:spcBef>
            </a:pPr>
            <a:r>
              <a:rPr sz="300" b="0">
                <a:solidFill>
                  <a:srgbClr val="F8FAFC"/>
                </a:solidFill>
                <a:latin typeface="Consolas"/>
              </a:rPr>
              <a:t/>
            </a:r>
          </a:p>
          <a:p>
            <a:pPr>
              <a:spcBef>
                <a:spcPts val="0"/>
              </a:spcBef>
            </a:pPr>
            <a:r>
              <a:rPr sz="725" b="0">
                <a:solidFill>
                  <a:srgbClr val="F8FAFC"/>
                </a:solidFill>
                <a:latin typeface="Consolas"/>
              </a:rPr>
              <a:t>SELECT product_id, COUNT(*) AS review_count</a:t>
            </a:r>
          </a:p>
          <a:p>
            <a:pPr>
              <a:spcBef>
                <a:spcPts val="0"/>
              </a:spcBef>
            </a:pPr>
            <a:r>
              <a:rPr sz="725" b="0">
                <a:solidFill>
                  <a:srgbClr val="F8FAFC"/>
                </a:solidFill>
                <a:latin typeface="Consolas"/>
              </a:rPr>
              <a:t>FROM reviews</a:t>
            </a:r>
          </a:p>
          <a:p>
            <a:pPr>
              <a:spcBef>
                <a:spcPts val="0"/>
              </a:spcBef>
            </a:pPr>
            <a:r>
              <a:rPr sz="725" b="0">
                <a:solidFill>
                  <a:srgbClr val="F8FAFC"/>
                </a:solidFill>
                <a:latin typeface="Consolas"/>
              </a:rPr>
              <a:t>GROUP BY product_id;</a:t>
            </a:r>
          </a:p>
          <a:p>
            <a:pPr>
              <a:spcBef>
                <a:spcPts val="0"/>
              </a:spcBef>
            </a:pPr>
            <a:r>
              <a:rPr sz="300" b="0">
                <a:solidFill>
                  <a:srgbClr val="F8FAFC"/>
                </a:solidFill>
                <a:latin typeface="Consolas"/>
              </a:rPr>
              <a:t/>
            </a:r>
          </a:p>
          <a:p>
            <a:pPr>
              <a:spcBef>
                <a:spcPts val="0"/>
              </a:spcBef>
            </a:pPr>
            <a:r>
              <a:rPr sz="690" b="0">
                <a:solidFill>
                  <a:srgbClr val="F8FAFC"/>
                </a:solidFill>
                <a:latin typeface="Consolas"/>
              </a:rPr>
              <a:t>SELECT product_id, product_name, category_name,</a:t>
            </a:r>
          </a:p>
          <a:p>
            <a:pPr>
              <a:spcBef>
                <a:spcPts val="0"/>
              </a:spcBef>
            </a:pPr>
            <a:r>
              <a:rPr sz="690" b="0">
                <a:solidFill>
                  <a:srgbClr val="F8FAFC"/>
                </a:solidFill>
                <a:latin typeface="Consolas"/>
              </a:rPr>
              <a:t>       quantity_sold, revenue</a:t>
            </a:r>
          </a:p>
          <a:p>
            <a:pPr>
              <a:spcBef>
                <a:spcPts val="0"/>
              </a:spcBef>
            </a:pPr>
            <a:r>
              <a:rPr sz="690" b="0">
                <a:solidFill>
                  <a:srgbClr val="F8FAFC"/>
                </a:solidFill>
                <a:latin typeface="Consolas"/>
              </a:rPr>
              <a:t>FROM product_sales ORDER BY revenue DESC;</a:t>
            </a:r>
          </a:p>
        </p:txBody>
      </p:sp>
      <p:sp>
        <p:nvSpPr>
          <p:cNvPr id="473" name="Rounded Rectangle 23"/>
          <p:cNvSpPr/>
          <p:nvPr/>
        </p:nvSpPr>
        <p:spPr>
          <a:xfrm>
            <a:off x="6675120" y="2788920"/>
            <a:ext cx="4800240" cy="1965600"/>
          </a:xfrm>
          <a:prstGeom prst="roundRect">
            <a:avLst>
              <a:gd name="adj" fmla="val 16667"/>
            </a:avLst>
          </a:prstGeom>
          <a:solidFill>
            <a:srgbClr val="eff9f4"/>
          </a:solidFill>
          <a:ln>
            <a:solidFill>
              <a:srgbClr val="dce4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74" name="TextBox 24"/>
          <p:cNvSpPr/>
          <p:nvPr/>
        </p:nvSpPr>
        <p:spPr>
          <a:xfrm>
            <a:off x="6839640" y="2898720"/>
            <a:ext cx="44712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278b5d"/>
                </a:solidFill>
                <a:effectLst/>
                <a:uFillTx/>
                <a:latin typeface="Aptos"/>
              </a:rPr>
              <a:t>Project retrieval examples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5" name="TextBox 25"/>
          <p:cNvSpPr/>
          <p:nvPr/>
        </p:nvSpPr>
        <p:spPr>
          <a:xfrm>
            <a:off x="6839640" y="3246120"/>
            <a:ext cx="4471200" cy="141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50" strike="noStrike" u="none">
                <a:solidFill>
                  <a:srgbClr val="2a3745"/>
                </a:solidFill>
                <a:effectLst/>
                <a:uFillTx/>
                <a:latin typeface="Aptos"/>
              </a:rPr>
              <a:t>Product sales ranking • customer orders • order/payment ledger • inventory • dashboard totals • review records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Rectangle 1"/>
          <p:cNvSpPr/>
          <p:nvPr/>
        </p:nvSpPr>
        <p:spPr>
          <a:xfrm>
            <a:off x="0" y="0"/>
            <a:ext cx="12191760" cy="82080"/>
          </a:xfrm>
          <a:prstGeom prst="rect">
            <a:avLst/>
          </a:prstGeom>
          <a:solidFill>
            <a:srgbClr val="2466d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37440" bIns="37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77" name="TextBox 2"/>
          <p:cNvSpPr/>
          <p:nvPr/>
        </p:nvSpPr>
        <p:spPr>
          <a:xfrm>
            <a:off x="567000" y="311040"/>
            <a:ext cx="813780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500" strike="noStrike" u="none">
                <a:solidFill>
                  <a:srgbClr val="112b44"/>
                </a:solidFill>
                <a:effectLst/>
                <a:uFillTx/>
                <a:latin typeface="Aptos"/>
              </a:rPr>
              <a:t>Joins &amp; Views</a:t>
            </a:r>
            <a:endParaRPr b="0" lang="en-US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8" name="TextBox 3"/>
          <p:cNvSpPr/>
          <p:nvPr/>
        </p:nvSpPr>
        <p:spPr>
          <a:xfrm>
            <a:off x="7452360" y="356616"/>
            <a:ext cx="2331720" cy="256032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wrap="square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919" strike="noStrike" u="none">
                <a:solidFill>
                  <a:srgbClr val="2466D6"/>
                </a:solidFill>
                <a:effectLst/>
                <a:uFillTx/>
                <a:latin typeface="Aptos"/>
              </a:rPr>
              <a:t>SQL OPERATIONS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79" name="Picture 4" descr="dbms_logo_clean.png"/>
          <p:cNvPicPr/>
          <p:nvPr/>
        </p:nvPicPr>
        <p:blipFill>
          <a:blip r:embed="rId1"/>
          <a:stretch/>
        </p:blipFill>
        <p:spPr>
          <a:xfrm>
            <a:off x="10012680" y="173880"/>
            <a:ext cx="1627200" cy="306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80" name="Rectangle 5"/>
          <p:cNvSpPr/>
          <p:nvPr/>
        </p:nvSpPr>
        <p:spPr>
          <a:xfrm>
            <a:off x="567000" y="6473880"/>
            <a:ext cx="10926720" cy="13320"/>
          </a:xfrm>
          <a:prstGeom prst="rect">
            <a:avLst/>
          </a:prstGeom>
          <a:solidFill>
            <a:srgbClr val="dce4e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1320" bIns="-313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81" name="TextBox 6"/>
          <p:cNvSpPr/>
          <p:nvPr/>
        </p:nvSpPr>
        <p:spPr>
          <a:xfrm>
            <a:off x="585360" y="6519600"/>
            <a:ext cx="47545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0" lang="en-US" sz="750" strike="noStrike" u="none">
                <a:solidFill>
                  <a:srgbClr val="647484"/>
                </a:solidFill>
                <a:effectLst/>
                <a:uFillTx/>
                <a:latin typeface="Aptos"/>
              </a:rPr>
              <a:t>DBMS • E-COMMERCE MANAGEMENT SYSTEM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2" name="TextBox 7"/>
          <p:cNvSpPr/>
          <p:nvPr/>
        </p:nvSpPr>
        <p:spPr>
          <a:xfrm>
            <a:off x="10972800" y="6492240"/>
            <a:ext cx="3837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800" strike="noStrike" u="none">
                <a:solidFill>
                  <a:srgbClr val="647484"/>
                </a:solidFill>
                <a:effectLst/>
                <a:uFillTx/>
                <a:latin typeface="Aptos"/>
              </a:rPr>
              <a:t>14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3" name="Rounded Rectangle 8"/>
          <p:cNvSpPr/>
          <p:nvPr/>
        </p:nvSpPr>
        <p:spPr>
          <a:xfrm>
            <a:off x="658440" y="1188720"/>
            <a:ext cx="3428640" cy="1096920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>
            <a:solidFill>
              <a:srgbClr val="dce4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84" name="TextBox 9"/>
          <p:cNvSpPr/>
          <p:nvPr/>
        </p:nvSpPr>
        <p:spPr>
          <a:xfrm>
            <a:off x="822960" y="1298520"/>
            <a:ext cx="30996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trike="noStrike" u="none">
                <a:solidFill>
                  <a:srgbClr val="2466d6"/>
                </a:solidFill>
                <a:effectLst/>
                <a:uFillTx/>
                <a:latin typeface="Aptos"/>
              </a:rPr>
              <a:t>INNER JOIN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5" name="TextBox 10"/>
          <p:cNvSpPr/>
          <p:nvPr/>
        </p:nvSpPr>
        <p:spPr>
          <a:xfrm>
            <a:off x="822960" y="1645920"/>
            <a:ext cx="30996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20" strike="noStrike" u="none">
                <a:solidFill>
                  <a:srgbClr val="2a3745"/>
                </a:solidFill>
                <a:effectLst/>
                <a:uFillTx/>
                <a:latin typeface="Aptos"/>
              </a:rPr>
              <a:t>Returns matching rows between related tables.</a:t>
            </a:r>
            <a:endParaRPr b="0" lang="en-US" sz="11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6" name="Rounded Rectangle 11"/>
          <p:cNvSpPr/>
          <p:nvPr/>
        </p:nvSpPr>
        <p:spPr>
          <a:xfrm>
            <a:off x="4380120" y="1188720"/>
            <a:ext cx="3428640" cy="1096920"/>
          </a:xfrm>
          <a:prstGeom prst="roundRect">
            <a:avLst>
              <a:gd name="adj" fmla="val 16667"/>
            </a:avLst>
          </a:prstGeom>
          <a:solidFill>
            <a:srgbClr val="fff6ef"/>
          </a:solidFill>
          <a:ln>
            <a:solidFill>
              <a:srgbClr val="dce4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87" name="TextBox 12"/>
          <p:cNvSpPr/>
          <p:nvPr/>
        </p:nvSpPr>
        <p:spPr>
          <a:xfrm>
            <a:off x="4544640" y="1298520"/>
            <a:ext cx="30996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trike="noStrike" u="none">
                <a:solidFill>
                  <a:srgbClr val="e26823"/>
                </a:solidFill>
                <a:effectLst/>
                <a:uFillTx/>
                <a:latin typeface="Aptos"/>
              </a:rPr>
              <a:t>LEFT JOIN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8" name="TextBox 13"/>
          <p:cNvSpPr/>
          <p:nvPr/>
        </p:nvSpPr>
        <p:spPr>
          <a:xfrm>
            <a:off x="4544640" y="1645920"/>
            <a:ext cx="30996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20" strike="noStrike" u="none">
                <a:solidFill>
                  <a:srgbClr val="2a3745"/>
                </a:solidFill>
                <a:effectLst/>
                <a:uFillTx/>
                <a:latin typeface="Aptos"/>
              </a:rPr>
              <a:t>Keeps all rows from the left table and matching rows from the right.</a:t>
            </a:r>
            <a:endParaRPr b="0" lang="en-US" sz="11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9" name="Rounded Rectangle 14"/>
          <p:cNvSpPr/>
          <p:nvPr/>
        </p:nvSpPr>
        <p:spPr>
          <a:xfrm>
            <a:off x="8101440" y="1188720"/>
            <a:ext cx="3428640" cy="1096920"/>
          </a:xfrm>
          <a:prstGeom prst="roundRect">
            <a:avLst>
              <a:gd name="adj" fmla="val 16667"/>
            </a:avLst>
          </a:prstGeom>
          <a:solidFill>
            <a:srgbClr val="eff9f4"/>
          </a:solidFill>
          <a:ln>
            <a:solidFill>
              <a:srgbClr val="dce4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90" name="TextBox 15"/>
          <p:cNvSpPr/>
          <p:nvPr/>
        </p:nvSpPr>
        <p:spPr>
          <a:xfrm>
            <a:off x="8266320" y="1298520"/>
            <a:ext cx="30996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trike="noStrike" u="none">
                <a:solidFill>
                  <a:srgbClr val="278b5d"/>
                </a:solidFill>
                <a:effectLst/>
                <a:uFillTx/>
                <a:latin typeface="Aptos"/>
              </a:rPr>
              <a:t>RIGHT JOIN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1" name="TextBox 16"/>
          <p:cNvSpPr/>
          <p:nvPr/>
        </p:nvSpPr>
        <p:spPr>
          <a:xfrm>
            <a:off x="8266320" y="1645920"/>
            <a:ext cx="30996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20" strike="noStrike" u="none">
                <a:solidFill>
                  <a:srgbClr val="2a3745"/>
                </a:solidFill>
                <a:effectLst/>
                <a:uFillTx/>
                <a:latin typeface="Aptos"/>
              </a:rPr>
              <a:t>Keeps all rows from the right table and matching rows from the left.</a:t>
            </a:r>
            <a:endParaRPr b="0" lang="en-US" sz="11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2" name="TextBox 17"/>
          <p:cNvSpPr/>
          <p:nvPr/>
        </p:nvSpPr>
        <p:spPr>
          <a:xfrm>
            <a:off x="713160" y="2670120"/>
            <a:ext cx="52117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152" rIns="73152" tIns="36576" bIns="36576" anchor="ctr" wrap="square">
            <a:spAutoFit/>
          </a:bodyPr>
          <a:p>
            <a:pPr defTabSz="457200" algn="l">
              <a:lnSpc>
                <a:spcPct val="100000"/>
              </a:lnSpc>
            </a:pPr>
            <a:r>
              <a:rPr sz="869" b="1">
                <a:solidFill>
                  <a:srgbClr val="2466D6"/>
                </a:solidFill>
                <a:latin typeface="Aptos"/>
              </a:rPr>
              <a:t>VIEW USAGE — ACTUAL APPLICATION EVIDENCE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3" name="Rounded Rectangle 18"/>
          <p:cNvSpPr/>
          <p:nvPr/>
        </p:nvSpPr>
        <p:spPr>
          <a:xfrm>
            <a:off x="713160" y="3154680"/>
            <a:ext cx="3428640" cy="1142640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>
            <a:solidFill>
              <a:srgbClr val="dce4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94" name="TextBox 19"/>
          <p:cNvSpPr/>
          <p:nvPr/>
        </p:nvSpPr>
        <p:spPr>
          <a:xfrm>
            <a:off x="877680" y="3264480"/>
            <a:ext cx="30996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50" strike="noStrike" u="none">
                <a:solidFill>
                  <a:srgbClr val="2466d6"/>
                </a:solidFill>
                <a:effectLst/>
                <a:uFillTx/>
                <a:latin typeface="Aptos"/>
              </a:rPr>
              <a:t>product_sales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5" name="TextBox 20"/>
          <p:cNvSpPr/>
          <p:nvPr/>
        </p:nvSpPr>
        <p:spPr>
          <a:xfrm>
            <a:off x="877680" y="3611880"/>
            <a:ext cx="30996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152" rIns="73152" tIns="36576" bIns="36576" anchor="ctr" wrap="square">
            <a:spAutoFit/>
          </a:bodyPr>
          <a:p>
            <a:pPr defTabSz="457200" algn="l">
              <a:lnSpc>
                <a:spcPct val="100000"/>
              </a:lnSpc>
            </a:pPr>
            <a:r>
              <a:rPr sz="760" b="0">
                <a:solidFill>
                  <a:srgbClr val="1F2937"/>
                </a:solidFill>
                <a:latin typeface="Aptos"/>
              </a:rPr>
              <a:t>Consumed by app.py for product-wise sales / revenue ranking.</a:t>
            </a:r>
            <a:endParaRPr b="0" lang="en-US" sz="10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6" name="Rounded Rectangle 21"/>
          <p:cNvSpPr/>
          <p:nvPr/>
        </p:nvSpPr>
        <p:spPr>
          <a:xfrm>
            <a:off x="4407480" y="3154680"/>
            <a:ext cx="3428640" cy="1142640"/>
          </a:xfrm>
          <a:prstGeom prst="roundRect">
            <a:avLst>
              <a:gd name="adj" fmla="val 16667"/>
            </a:avLst>
          </a:prstGeom>
          <a:solidFill>
            <a:srgbClr val="fff6ef"/>
          </a:solidFill>
          <a:ln>
            <a:solidFill>
              <a:srgbClr val="dce4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97" name="TextBox 22"/>
          <p:cNvSpPr/>
          <p:nvPr/>
        </p:nvSpPr>
        <p:spPr>
          <a:xfrm>
            <a:off x="4572000" y="3264480"/>
            <a:ext cx="30996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50" strike="noStrike" u="none">
                <a:solidFill>
                  <a:srgbClr val="e26823"/>
                </a:solidFill>
                <a:effectLst/>
                <a:uFillTx/>
                <a:latin typeface="Aptos"/>
              </a:rPr>
              <a:t>sales_report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8" name="TextBox 23"/>
          <p:cNvSpPr/>
          <p:nvPr/>
        </p:nvSpPr>
        <p:spPr>
          <a:xfrm>
            <a:off x="4572000" y="3611880"/>
            <a:ext cx="30996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152" rIns="73152" tIns="36576" bIns="36576" anchor="ctr" wrap="square">
            <a:spAutoFit/>
          </a:bodyPr>
          <a:p>
            <a:pPr defTabSz="457200" algn="l">
              <a:lnSpc>
                <a:spcPct val="100000"/>
              </a:lnSpc>
            </a:pPr>
            <a:r>
              <a:rPr sz="760" b="0">
                <a:solidFill>
                  <a:srgbClr val="1F2937"/>
                </a:solidFill>
                <a:latin typeface="Aptos"/>
              </a:rPr>
              <a:t>Consumed by app.py for the order &amp; payment ledger.</a:t>
            </a:r>
            <a:endParaRPr b="0" lang="en-US" sz="10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9" name="Rounded Rectangle 24"/>
          <p:cNvSpPr/>
          <p:nvPr/>
        </p:nvSpPr>
        <p:spPr>
          <a:xfrm>
            <a:off x="8101440" y="3154680"/>
            <a:ext cx="3428640" cy="1416960"/>
          </a:xfrm>
          <a:prstGeom prst="roundRect">
            <a:avLst>
              <a:gd name="adj" fmla="val 16667"/>
            </a:avLst>
          </a:prstGeom>
          <a:solidFill>
            <a:srgbClr val="eff9f4"/>
          </a:solidFill>
          <a:ln>
            <a:solidFill>
              <a:srgbClr val="dce4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00" name="TextBox 25"/>
          <p:cNvSpPr/>
          <p:nvPr/>
        </p:nvSpPr>
        <p:spPr>
          <a:xfrm>
            <a:off x="8266320" y="3264480"/>
            <a:ext cx="30996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152" rIns="73152" tIns="36576" bIns="36576" anchor="ctr" wrap="square">
            <a:spAutoFit/>
          </a:bodyPr>
          <a:p>
            <a:pPr defTabSz="457200" algn="l">
              <a:lnSpc>
                <a:spcPct val="100000"/>
              </a:lnSpc>
            </a:pPr>
            <a:r>
              <a:rPr sz="819" b="1">
                <a:solidFill>
                  <a:srgbClr val="2466D6"/>
                </a:solidFill>
                <a:latin typeface="Aptos"/>
              </a:rPr>
              <a:t>SOURCE VERIFICATION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1" name="TextBox 26"/>
          <p:cNvSpPr/>
          <p:nvPr/>
        </p:nvSpPr>
        <p:spPr>
          <a:xfrm>
            <a:off x="8266320" y="3611880"/>
            <a:ext cx="309960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152" rIns="73152" tIns="36576" bIns="36576" anchor="ctr" wrap="square">
            <a:spAutoFit/>
          </a:bodyPr>
          <a:p>
            <a:pPr defTabSz="457200" algn="l">
              <a:lnSpc>
                <a:spcPct val="100000"/>
              </a:lnSpc>
            </a:pPr>
            <a:r>
              <a:rPr sz="750" b="0">
                <a:solidFill>
                  <a:srgbClr val="1F2937"/>
                </a:solidFill>
                <a:latin typeface="Aptos"/>
              </a:rPr>
              <a:t>The supplied project SQL does not contain CREATE VIEW definitions. app.py consumes the pre-existing MySQL views product_sales and sales_report.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2" name="Rounded Rectangle 27"/>
          <p:cNvSpPr/>
          <p:nvPr/>
        </p:nvSpPr>
        <p:spPr>
          <a:xfrm>
            <a:off x="713160" y="4892040"/>
            <a:ext cx="5348880" cy="1078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ce4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503" name="Picture 28" descr="1000253771.jpg"/>
          <p:cNvPicPr/>
          <p:nvPr/>
        </p:nvPicPr>
        <p:blipFill>
          <a:blip r:embed="rId2"/>
          <a:stretch/>
        </p:blipFill>
        <p:spPr>
          <a:xfrm>
            <a:off x="749880" y="4928760"/>
            <a:ext cx="5275800" cy="1005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4" name="TextBox 29"/>
          <p:cNvSpPr/>
          <p:nvPr/>
        </p:nvSpPr>
        <p:spPr>
          <a:xfrm>
            <a:off x="713160" y="6026040"/>
            <a:ext cx="53488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950" strike="noStrike" u="none">
                <a:solidFill>
                  <a:srgbClr val="647484"/>
                </a:solidFill>
                <a:effectLst/>
                <a:uFillTx/>
                <a:latin typeface="Aptos"/>
              </a:rPr>
              <a:t>Product revenue ranking — evidence of product_sales usage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5" name="Rounded Rectangle 30"/>
          <p:cNvSpPr/>
          <p:nvPr/>
        </p:nvSpPr>
        <p:spPr>
          <a:xfrm>
            <a:off x="6199560" y="4892040"/>
            <a:ext cx="5348880" cy="1078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ce4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506" name="Picture 31" descr="1000253772.jpg"/>
          <p:cNvPicPr/>
          <p:nvPr/>
        </p:nvPicPr>
        <p:blipFill>
          <a:blip r:embed="rId3"/>
          <a:stretch/>
        </p:blipFill>
        <p:spPr>
          <a:xfrm>
            <a:off x="6236280" y="4928760"/>
            <a:ext cx="5275800" cy="1005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7" name="TextBox 32"/>
          <p:cNvSpPr/>
          <p:nvPr/>
        </p:nvSpPr>
        <p:spPr>
          <a:xfrm>
            <a:off x="6199560" y="6026040"/>
            <a:ext cx="53488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950" strike="noStrike" u="none">
                <a:solidFill>
                  <a:srgbClr val="647484"/>
                </a:solidFill>
                <a:effectLst/>
                <a:uFillTx/>
                <a:latin typeface="Aptos"/>
              </a:rPr>
              <a:t>Order &amp; payment ledger — evidence of sales_report usage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Rectangle 1"/>
          <p:cNvSpPr/>
          <p:nvPr/>
        </p:nvSpPr>
        <p:spPr>
          <a:xfrm>
            <a:off x="0" y="0"/>
            <a:ext cx="12191760" cy="82080"/>
          </a:xfrm>
          <a:prstGeom prst="rect">
            <a:avLst/>
          </a:prstGeom>
          <a:solidFill>
            <a:srgbClr val="2466d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37440" bIns="37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09" name="TextBox 2"/>
          <p:cNvSpPr/>
          <p:nvPr/>
        </p:nvSpPr>
        <p:spPr>
          <a:xfrm>
            <a:off x="567000" y="311040"/>
            <a:ext cx="813780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500" strike="noStrike" u="none">
                <a:solidFill>
                  <a:srgbClr val="112b44"/>
                </a:solidFill>
                <a:effectLst/>
                <a:uFillTx/>
                <a:latin typeface="Aptos"/>
              </a:rPr>
              <a:t>Stored Procedures – Database Reporting</a:t>
            </a:r>
            <a:endParaRPr b="0" lang="en-US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0" name="TextBox 3"/>
          <p:cNvSpPr/>
          <p:nvPr/>
        </p:nvSpPr>
        <p:spPr>
          <a:xfrm>
            <a:off x="7452360" y="356616"/>
            <a:ext cx="2331720" cy="256032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wrap="square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919" strike="noStrike" u="none">
                <a:solidFill>
                  <a:srgbClr val="2466D6"/>
                </a:solidFill>
                <a:effectLst/>
                <a:uFillTx/>
                <a:latin typeface="Aptos"/>
              </a:rPr>
              <a:t>DATABASE PROGRAMMABILITY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11" name="Picture 4" descr="dbms_logo_clean.png"/>
          <p:cNvPicPr/>
          <p:nvPr/>
        </p:nvPicPr>
        <p:blipFill>
          <a:blip r:embed="rId1"/>
          <a:stretch/>
        </p:blipFill>
        <p:spPr>
          <a:xfrm>
            <a:off x="10012680" y="173880"/>
            <a:ext cx="1627200" cy="306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12" name="Rectangle 5"/>
          <p:cNvSpPr/>
          <p:nvPr/>
        </p:nvSpPr>
        <p:spPr>
          <a:xfrm>
            <a:off x="567000" y="6473880"/>
            <a:ext cx="10926720" cy="13320"/>
          </a:xfrm>
          <a:prstGeom prst="rect">
            <a:avLst/>
          </a:prstGeom>
          <a:solidFill>
            <a:srgbClr val="dce4e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1320" bIns="-313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13" name="TextBox 6"/>
          <p:cNvSpPr/>
          <p:nvPr/>
        </p:nvSpPr>
        <p:spPr>
          <a:xfrm>
            <a:off x="585360" y="6519600"/>
            <a:ext cx="47545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0" lang="en-US" sz="750" strike="noStrike" u="none">
                <a:solidFill>
                  <a:srgbClr val="647484"/>
                </a:solidFill>
                <a:effectLst/>
                <a:uFillTx/>
                <a:latin typeface="Aptos"/>
              </a:rPr>
              <a:t>DBMS • E-COMMERCE MANAGEMENT SYSTEM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4" name="TextBox 7"/>
          <p:cNvSpPr/>
          <p:nvPr/>
        </p:nvSpPr>
        <p:spPr>
          <a:xfrm>
            <a:off x="10972800" y="6492240"/>
            <a:ext cx="3837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800" strike="noStrike" u="none">
                <a:solidFill>
                  <a:srgbClr val="647484"/>
                </a:solidFill>
                <a:effectLst/>
                <a:uFillTx/>
                <a:latin typeface="Aptos"/>
              </a:rPr>
              <a:t>15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5" name="Rounded Rectangle 8"/>
          <p:cNvSpPr/>
          <p:nvPr/>
        </p:nvSpPr>
        <p:spPr>
          <a:xfrm>
            <a:off x="658440" y="1207080"/>
            <a:ext cx="3428640" cy="1170000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>
            <a:solidFill>
              <a:srgbClr val="dce4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16" name="TextBox 9"/>
          <p:cNvSpPr/>
          <p:nvPr/>
        </p:nvSpPr>
        <p:spPr>
          <a:xfrm>
            <a:off x="822960" y="1316880"/>
            <a:ext cx="30996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2466d6"/>
                </a:solidFill>
                <a:effectLst/>
                <a:uFillTx/>
                <a:latin typeface="Aptos"/>
              </a:rPr>
              <a:t>GetSalesSummary()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7" name="TextBox 10"/>
          <p:cNvSpPr/>
          <p:nvPr/>
        </p:nvSpPr>
        <p:spPr>
          <a:xfrm>
            <a:off x="822960" y="1664280"/>
            <a:ext cx="309960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20" strike="noStrike" u="none">
                <a:solidFill>
                  <a:srgbClr val="2a3745"/>
                </a:solidFill>
                <a:effectLst/>
                <a:uFillTx/>
                <a:latin typeface="Aptos"/>
              </a:rPr>
              <a:t>Returns aggregated sales information used by the Reports page.</a:t>
            </a:r>
            <a:endParaRPr b="0" lang="en-US" sz="11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8" name="Rounded Rectangle 11"/>
          <p:cNvSpPr/>
          <p:nvPr/>
        </p:nvSpPr>
        <p:spPr>
          <a:xfrm>
            <a:off x="4380120" y="1207080"/>
            <a:ext cx="3428640" cy="1170000"/>
          </a:xfrm>
          <a:prstGeom prst="roundRect">
            <a:avLst>
              <a:gd name="adj" fmla="val 16667"/>
            </a:avLst>
          </a:prstGeom>
          <a:solidFill>
            <a:srgbClr val="fff6ef"/>
          </a:solidFill>
          <a:ln>
            <a:solidFill>
              <a:srgbClr val="dce4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19" name="TextBox 12"/>
          <p:cNvSpPr/>
          <p:nvPr/>
        </p:nvSpPr>
        <p:spPr>
          <a:xfrm>
            <a:off x="4544640" y="1316880"/>
            <a:ext cx="30996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e26823"/>
                </a:solidFill>
                <a:effectLst/>
                <a:uFillTx/>
                <a:latin typeface="Aptos"/>
              </a:rPr>
              <a:t>GetCustomerOrders(customer_id)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0" name="TextBox 13"/>
          <p:cNvSpPr/>
          <p:nvPr/>
        </p:nvSpPr>
        <p:spPr>
          <a:xfrm>
            <a:off x="4544640" y="1664280"/>
            <a:ext cx="309960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20" strike="noStrike" u="none">
                <a:solidFill>
                  <a:srgbClr val="2a3745"/>
                </a:solidFill>
                <a:effectLst/>
                <a:uFillTx/>
                <a:latin typeface="Aptos"/>
              </a:rPr>
              <a:t>Retrieves order history for the selected customer.</a:t>
            </a:r>
            <a:endParaRPr b="0" lang="en-US" sz="11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1" name="Rounded Rectangle 14"/>
          <p:cNvSpPr/>
          <p:nvPr/>
        </p:nvSpPr>
        <p:spPr>
          <a:xfrm>
            <a:off x="8101440" y="1207080"/>
            <a:ext cx="3428640" cy="1170000"/>
          </a:xfrm>
          <a:prstGeom prst="roundRect">
            <a:avLst>
              <a:gd name="adj" fmla="val 16667"/>
            </a:avLst>
          </a:prstGeom>
          <a:solidFill>
            <a:srgbClr val="eff9f4"/>
          </a:solidFill>
          <a:ln>
            <a:solidFill>
              <a:srgbClr val="dce4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22" name="TextBox 15"/>
          <p:cNvSpPr/>
          <p:nvPr/>
        </p:nvSpPr>
        <p:spPr>
          <a:xfrm>
            <a:off x="8266320" y="1316880"/>
            <a:ext cx="30996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278b5d"/>
                </a:solidFill>
                <a:effectLst/>
                <a:uFillTx/>
                <a:latin typeface="Aptos"/>
              </a:rPr>
              <a:t>GetProductsByCategory(category)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3" name="TextBox 16"/>
          <p:cNvSpPr/>
          <p:nvPr/>
        </p:nvSpPr>
        <p:spPr>
          <a:xfrm>
            <a:off x="8266320" y="1664280"/>
            <a:ext cx="309960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20" strike="noStrike" u="none">
                <a:solidFill>
                  <a:srgbClr val="2a3745"/>
                </a:solidFill>
                <a:effectLst/>
                <a:uFillTx/>
                <a:latin typeface="Aptos"/>
              </a:rPr>
              <a:t>Used by the product API when filtering by category.</a:t>
            </a:r>
            <a:endParaRPr b="0" lang="en-US" sz="11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4" name="Rounded Rectangle 17"/>
          <p:cNvSpPr/>
          <p:nvPr/>
        </p:nvSpPr>
        <p:spPr>
          <a:xfrm>
            <a:off x="658440" y="2788920"/>
            <a:ext cx="4937400" cy="2148480"/>
          </a:xfrm>
          <a:prstGeom prst="roundRect">
            <a:avLst>
              <a:gd name="adj" fmla="val 16667"/>
            </a:avLst>
          </a:prstGeom>
          <a:solidFill>
            <a:srgbClr val="1f252c"/>
          </a:solidFill>
          <a:ln>
            <a:solidFill>
              <a:srgbClr val="37414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25" name="TextBox 18"/>
          <p:cNvSpPr/>
          <p:nvPr/>
        </p:nvSpPr>
        <p:spPr>
          <a:xfrm>
            <a:off x="822960" y="2880360"/>
            <a:ext cx="46083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152" rIns="73152" tIns="36576" bIns="36576" anchor="ctr" wrap="square">
            <a:spAutoFit/>
          </a:bodyPr>
          <a:p>
            <a:pPr defTabSz="457200" algn="l">
              <a:lnSpc>
                <a:spcPct val="100000"/>
              </a:lnSpc>
            </a:pPr>
            <a:r>
              <a:rPr sz="840" b="1">
                <a:solidFill>
                  <a:srgbClr val="2466D6"/>
                </a:solidFill>
                <a:latin typeface="Aptos"/>
              </a:rPr>
              <a:t>ACTUAL APPLICATION CALLS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6" name="TextBox 19"/>
          <p:cNvSpPr/>
          <p:nvPr/>
        </p:nvSpPr>
        <p:spPr>
          <a:xfrm>
            <a:off x="822960" y="3173040"/>
            <a:ext cx="4608360" cy="167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8016" rIns="128016" tIns="64008" bIns="54864" anchor="t" wrap="square">
            <a:spAutoFit/>
          </a:bodyPr>
          <a:p>
            <a:endParaRPr b="0" lang="en-US" sz="1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spcBef>
                <a:spcPts val="0"/>
              </a:spcBef>
            </a:pPr>
            <a:r>
              <a:rPr sz="819" b="1">
                <a:solidFill>
                  <a:srgbClr val="50A0FF"/>
                </a:solidFill>
                <a:latin typeface="Aptos"/>
              </a:rPr>
              <a:t>ACTUAL APPLICATION CALLS</a:t>
            </a:r>
          </a:p>
          <a:p>
            <a:pPr>
              <a:spcBef>
                <a:spcPts val="0"/>
              </a:spcBef>
            </a:pPr>
            <a:r>
              <a:rPr sz="740" b="0">
                <a:solidFill>
                  <a:srgbClr val="F8FAFC"/>
                </a:solidFill>
                <a:latin typeface="Consolas"/>
              </a:rPr>
              <a:t>cur.callproc("GetSalesSummary")</a:t>
            </a:r>
          </a:p>
          <a:p>
            <a:pPr>
              <a:spcBef>
                <a:spcPts val="0"/>
              </a:spcBef>
            </a:pPr>
            <a:r>
              <a:rPr sz="740" b="0">
                <a:solidFill>
                  <a:srgbClr val="F8FAFC"/>
                </a:solidFill>
                <a:latin typeface="Consolas"/>
              </a:rPr>
              <a:t>cur.callproc("GetCustomerOrders",</a:t>
            </a:r>
          </a:p>
          <a:p>
            <a:pPr>
              <a:spcBef>
                <a:spcPts val="0"/>
              </a:spcBef>
            </a:pPr>
            <a:r>
              <a:rPr sz="740" b="0">
                <a:solidFill>
                  <a:srgbClr val="F8FAFC"/>
                </a:solidFill>
                <a:latin typeface="Consolas"/>
              </a:rPr>
              <a:t>             (selected_customer_id,))</a:t>
            </a:r>
          </a:p>
          <a:p>
            <a:pPr>
              <a:spcBef>
                <a:spcPts val="0"/>
              </a:spcBef>
            </a:pPr>
            <a:r>
              <a:rPr sz="740" b="0">
                <a:solidFill>
                  <a:srgbClr val="F8FAFC"/>
                </a:solidFill>
                <a:latin typeface="Consolas"/>
              </a:rPr>
              <a:t>cur.callproc("GetProductsByCategory",</a:t>
            </a:r>
          </a:p>
          <a:p>
            <a:pPr>
              <a:spcBef>
                <a:spcPts val="0"/>
              </a:spcBef>
            </a:pPr>
            <a:r>
              <a:rPr sz="740" b="0">
                <a:solidFill>
                  <a:srgbClr val="F8FAFC"/>
                </a:solidFill>
                <a:latin typeface="Consolas"/>
              </a:rPr>
              <a:t>             (category,))</a:t>
            </a:r>
          </a:p>
        </p:txBody>
      </p:sp>
      <p:sp>
        <p:nvSpPr>
          <p:cNvPr id="527" name="Rounded Rectangle 20"/>
          <p:cNvSpPr/>
          <p:nvPr/>
        </p:nvSpPr>
        <p:spPr>
          <a:xfrm>
            <a:off x="5852160" y="2788920"/>
            <a:ext cx="5531760" cy="32457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ce4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528" name="Picture 21" descr="1000253770.jpg"/>
          <p:cNvPicPr/>
          <p:nvPr/>
        </p:nvPicPr>
        <p:blipFill>
          <a:blip r:embed="rId2"/>
          <a:stretch/>
        </p:blipFill>
        <p:spPr>
          <a:xfrm>
            <a:off x="5888880" y="2825640"/>
            <a:ext cx="5458680" cy="3172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9" name="TextBox 22"/>
          <p:cNvSpPr/>
          <p:nvPr/>
        </p:nvSpPr>
        <p:spPr>
          <a:xfrm>
            <a:off x="5852160" y="6089760"/>
            <a:ext cx="55317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950" strike="noStrike" u="none">
                <a:solidFill>
                  <a:srgbClr val="647484"/>
                </a:solidFill>
                <a:effectLst/>
                <a:uFillTx/>
                <a:latin typeface="Aptos"/>
              </a:rPr>
              <a:t>Actual Reports page showing stored-procedure execution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0" name="Rounded Rectangle 529"/>
          <p:cNvSpPr/>
          <p:nvPr/>
        </p:nvSpPr>
        <p:spPr>
          <a:xfrm>
            <a:off x="658368" y="4919472"/>
            <a:ext cx="4937760" cy="932688"/>
          </a:xfrm>
          <a:prstGeom prst="roundRect">
            <a:avLst/>
          </a:prstGeom>
          <a:solidFill>
            <a:srgbClr val="F8FAFC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/>
          <a:lstStyle/>
          <a:p>
            <a:pPr algn="ctr"/>
            <a:r>
              <a:rPr sz="810" b="1">
                <a:solidFill>
                  <a:srgbClr val="2466D6"/>
                </a:solidFill>
                <a:latin typeface="Aptos"/>
              </a:rPr>
              <a:t>SOURCE VERIFICATION</a:t>
            </a:r>
          </a:p>
          <a:p>
            <a:r>
              <a:rPr sz="730">
                <a:solidFill>
                  <a:srgbClr val="1F2937"/>
                </a:solidFill>
                <a:latin typeface="Aptos"/>
              </a:rPr>
              <a:t>The supplied project source contains application calls to these pre-existing MySQL procedures, but no CREATE PROCEDURE definitions. Definitions are therefore not fabricated here.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Rectangle 1"/>
          <p:cNvSpPr/>
          <p:nvPr/>
        </p:nvSpPr>
        <p:spPr>
          <a:xfrm>
            <a:off x="0" y="0"/>
            <a:ext cx="12191760" cy="82080"/>
          </a:xfrm>
          <a:prstGeom prst="rect">
            <a:avLst/>
          </a:prstGeom>
          <a:solidFill>
            <a:srgbClr val="2466d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37440" bIns="37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31" name="TextBox 2"/>
          <p:cNvSpPr/>
          <p:nvPr/>
        </p:nvSpPr>
        <p:spPr>
          <a:xfrm>
            <a:off x="567000" y="311040"/>
            <a:ext cx="813780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500" strike="noStrike" u="none">
                <a:solidFill>
                  <a:srgbClr val="112b44"/>
                </a:solidFill>
                <a:effectLst/>
                <a:uFillTx/>
                <a:latin typeface="Aptos"/>
              </a:rPr>
              <a:t>ACID Properties &amp; Transaction Control</a:t>
            </a:r>
            <a:endParaRPr b="0" lang="en-US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2" name="TextBox 3"/>
          <p:cNvSpPr/>
          <p:nvPr/>
        </p:nvSpPr>
        <p:spPr>
          <a:xfrm>
            <a:off x="7452360" y="356616"/>
            <a:ext cx="2331720" cy="256032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wrap="square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919" strike="noStrike" u="none">
                <a:solidFill>
                  <a:srgbClr val="2466D6"/>
                </a:solidFill>
                <a:effectLst/>
                <a:uFillTx/>
                <a:latin typeface="Aptos"/>
              </a:rPr>
              <a:t>TRANSACTIONS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33" name="Picture 4" descr="dbms_logo_clean.png"/>
          <p:cNvPicPr/>
          <p:nvPr/>
        </p:nvPicPr>
        <p:blipFill>
          <a:blip r:embed="rId1"/>
          <a:stretch/>
        </p:blipFill>
        <p:spPr>
          <a:xfrm>
            <a:off x="10012680" y="173880"/>
            <a:ext cx="1627200" cy="306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34" name="Rectangle 5"/>
          <p:cNvSpPr/>
          <p:nvPr/>
        </p:nvSpPr>
        <p:spPr>
          <a:xfrm>
            <a:off x="567000" y="6473880"/>
            <a:ext cx="10926720" cy="13320"/>
          </a:xfrm>
          <a:prstGeom prst="rect">
            <a:avLst/>
          </a:prstGeom>
          <a:solidFill>
            <a:srgbClr val="dce4e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1320" bIns="-313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35" name="TextBox 6"/>
          <p:cNvSpPr/>
          <p:nvPr/>
        </p:nvSpPr>
        <p:spPr>
          <a:xfrm>
            <a:off x="585360" y="6519600"/>
            <a:ext cx="47545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0" lang="en-US" sz="750" strike="noStrike" u="none">
                <a:solidFill>
                  <a:srgbClr val="647484"/>
                </a:solidFill>
                <a:effectLst/>
                <a:uFillTx/>
                <a:latin typeface="Aptos"/>
              </a:rPr>
              <a:t>DBMS • E-COMMERCE MANAGEMENT SYSTEM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6" name="TextBox 7"/>
          <p:cNvSpPr/>
          <p:nvPr/>
        </p:nvSpPr>
        <p:spPr>
          <a:xfrm>
            <a:off x="10972800" y="6492240"/>
            <a:ext cx="3837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800" strike="noStrike" u="none">
                <a:solidFill>
                  <a:srgbClr val="647484"/>
                </a:solidFill>
                <a:effectLst/>
                <a:uFillTx/>
                <a:latin typeface="Aptos"/>
              </a:rPr>
              <a:t>16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7" name="Rounded Rectangle 8"/>
          <p:cNvSpPr/>
          <p:nvPr/>
        </p:nvSpPr>
        <p:spPr>
          <a:xfrm>
            <a:off x="658440" y="1143000"/>
            <a:ext cx="5074560" cy="1005480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>
            <a:solidFill>
              <a:srgbClr val="dce4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38" name="TextBox 9"/>
          <p:cNvSpPr/>
          <p:nvPr/>
        </p:nvSpPr>
        <p:spPr>
          <a:xfrm>
            <a:off x="822960" y="1252800"/>
            <a:ext cx="47455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trike="noStrike" u="none">
                <a:solidFill>
                  <a:srgbClr val="2466d6"/>
                </a:solidFill>
                <a:effectLst/>
                <a:uFillTx/>
                <a:latin typeface="Aptos"/>
              </a:rPr>
              <a:t>Atomicity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9" name="TextBox 10"/>
          <p:cNvSpPr/>
          <p:nvPr/>
        </p:nvSpPr>
        <p:spPr>
          <a:xfrm>
            <a:off x="822960" y="1600200"/>
            <a:ext cx="4745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20" strike="noStrike" u="none">
                <a:solidFill>
                  <a:srgbClr val="2a3745"/>
                </a:solidFill>
                <a:effectLst/>
                <a:uFillTx/>
                <a:latin typeface="Aptos"/>
              </a:rPr>
              <a:t>All related checkout writes commit together or roll back.</a:t>
            </a:r>
            <a:endParaRPr b="0" lang="en-US" sz="11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0" name="Rounded Rectangle 11"/>
          <p:cNvSpPr/>
          <p:nvPr/>
        </p:nvSpPr>
        <p:spPr>
          <a:xfrm>
            <a:off x="6190560" y="1143000"/>
            <a:ext cx="5074560" cy="1005480"/>
          </a:xfrm>
          <a:prstGeom prst="roundRect">
            <a:avLst>
              <a:gd name="adj" fmla="val 16667"/>
            </a:avLst>
          </a:prstGeom>
          <a:solidFill>
            <a:srgbClr val="fff6ef"/>
          </a:solidFill>
          <a:ln>
            <a:solidFill>
              <a:srgbClr val="dce4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41" name="TextBox 12"/>
          <p:cNvSpPr/>
          <p:nvPr/>
        </p:nvSpPr>
        <p:spPr>
          <a:xfrm>
            <a:off x="6355080" y="1252800"/>
            <a:ext cx="47455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trike="noStrike" u="none">
                <a:solidFill>
                  <a:srgbClr val="e26823"/>
                </a:solidFill>
                <a:effectLst/>
                <a:uFillTx/>
                <a:latin typeface="Aptos"/>
              </a:rPr>
              <a:t>Consistency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2" name="TextBox 13"/>
          <p:cNvSpPr/>
          <p:nvPr/>
        </p:nvSpPr>
        <p:spPr>
          <a:xfrm>
            <a:off x="6355080" y="1600200"/>
            <a:ext cx="4745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20" strike="noStrike" u="none">
                <a:solidFill>
                  <a:srgbClr val="2a3745"/>
                </a:solidFill>
                <a:effectLst/>
                <a:uFillTx/>
                <a:latin typeface="Aptos"/>
              </a:rPr>
              <a:t>PK/FK/CHECK rules remain valid after the transaction.</a:t>
            </a:r>
            <a:endParaRPr b="0" lang="en-US" sz="11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3" name="Rounded Rectangle 14"/>
          <p:cNvSpPr/>
          <p:nvPr/>
        </p:nvSpPr>
        <p:spPr>
          <a:xfrm>
            <a:off x="658440" y="2377440"/>
            <a:ext cx="5074560" cy="1005480"/>
          </a:xfrm>
          <a:prstGeom prst="roundRect">
            <a:avLst>
              <a:gd name="adj" fmla="val 16667"/>
            </a:avLst>
          </a:prstGeom>
          <a:solidFill>
            <a:srgbClr val="eff9f4"/>
          </a:solidFill>
          <a:ln>
            <a:solidFill>
              <a:srgbClr val="dce4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44" name="TextBox 15"/>
          <p:cNvSpPr/>
          <p:nvPr/>
        </p:nvSpPr>
        <p:spPr>
          <a:xfrm>
            <a:off x="822960" y="2487240"/>
            <a:ext cx="47455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trike="noStrike" u="none">
                <a:solidFill>
                  <a:srgbClr val="278b5d"/>
                </a:solidFill>
                <a:effectLst/>
                <a:uFillTx/>
                <a:latin typeface="Aptos"/>
              </a:rPr>
              <a:t>Isolation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5" name="TextBox 16"/>
          <p:cNvSpPr/>
          <p:nvPr/>
        </p:nvSpPr>
        <p:spPr>
          <a:xfrm>
            <a:off x="822960" y="2834640"/>
            <a:ext cx="4745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152" rIns="73152" tIns="36576" bIns="36576" anchor="ctr" wrap="square">
            <a:spAutoFit/>
          </a:bodyPr>
          <a:p>
            <a:pPr defTabSz="457200" algn="l">
              <a:lnSpc>
                <a:spcPct val="100000"/>
              </a:lnSpc>
            </a:pPr>
            <a:r>
              <a:rPr sz="860" b="0">
                <a:solidFill>
                  <a:srgbClr val="1F2937"/>
                </a:solidFill>
                <a:latin typeface="Aptos"/>
              </a:rPr>
              <a:t>SELECT ... FOR UPDATE locks the product row before a stock update.</a:t>
            </a:r>
            <a:endParaRPr b="0" lang="en-US" sz="11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6" name="Rounded Rectangle 17"/>
          <p:cNvSpPr/>
          <p:nvPr/>
        </p:nvSpPr>
        <p:spPr>
          <a:xfrm>
            <a:off x="6190560" y="2377440"/>
            <a:ext cx="5074560" cy="1005480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>
            <a:solidFill>
              <a:srgbClr val="dce4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47" name="TextBox 18"/>
          <p:cNvSpPr/>
          <p:nvPr/>
        </p:nvSpPr>
        <p:spPr>
          <a:xfrm>
            <a:off x="6355080" y="2487240"/>
            <a:ext cx="47455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trike="noStrike" u="none">
                <a:solidFill>
                  <a:srgbClr val="2466d6"/>
                </a:solidFill>
                <a:effectLst/>
                <a:uFillTx/>
                <a:latin typeface="Aptos"/>
              </a:rPr>
              <a:t>Durability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8" name="TextBox 19"/>
          <p:cNvSpPr/>
          <p:nvPr/>
        </p:nvSpPr>
        <p:spPr>
          <a:xfrm>
            <a:off x="6355080" y="2834640"/>
            <a:ext cx="4745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20" strike="noStrike" u="none">
                <a:solidFill>
                  <a:srgbClr val="2a3745"/>
                </a:solidFill>
                <a:effectLst/>
                <a:uFillTx/>
                <a:latin typeface="Aptos"/>
              </a:rPr>
              <a:t>Committed changes remain stored.</a:t>
            </a:r>
            <a:endParaRPr b="0" lang="en-US" sz="11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9" name="Rounded Rectangle 20"/>
          <p:cNvSpPr/>
          <p:nvPr/>
        </p:nvSpPr>
        <p:spPr>
          <a:xfrm>
            <a:off x="658440" y="3886200"/>
            <a:ext cx="4617360" cy="1737000"/>
          </a:xfrm>
          <a:prstGeom prst="roundRect">
            <a:avLst>
              <a:gd name="adj" fmla="val 16667"/>
            </a:avLst>
          </a:prstGeom>
          <a:solidFill>
            <a:srgbClr val="1f252c"/>
          </a:solidFill>
          <a:ln>
            <a:solidFill>
              <a:srgbClr val="37414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50" name="TextBox 21"/>
          <p:cNvSpPr/>
          <p:nvPr/>
        </p:nvSpPr>
        <p:spPr>
          <a:xfrm>
            <a:off x="822960" y="3977640"/>
            <a:ext cx="42883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950" strike="noStrike" u="none">
                <a:solidFill>
                  <a:srgbClr val="e26823"/>
                </a:solidFill>
                <a:effectLst/>
                <a:uFillTx/>
                <a:latin typeface="Aptos"/>
              </a:rPr>
              <a:t>ACTUAL TRANSACTION HELPER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1" name="TextBox 22"/>
          <p:cNvSpPr/>
          <p:nvPr/>
        </p:nvSpPr>
        <p:spPr>
          <a:xfrm>
            <a:off x="822960" y="4270320"/>
            <a:ext cx="4288320" cy="12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8016" rIns="128016" tIns="64008" bIns="54864" anchor="t" wrap="square">
            <a:spAutoFit/>
          </a:bodyPr>
          <a:p>
            <a:endParaRPr b="0" lang="en-US" sz="1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spcBef>
                <a:spcPts val="0"/>
              </a:spcBef>
            </a:pPr>
            <a:r>
              <a:rPr sz="800" b="1">
                <a:solidFill>
                  <a:srgbClr val="50A0FF"/>
                </a:solidFill>
                <a:latin typeface="Aptos"/>
              </a:rPr>
              <a:t>ACTUAL TRANSACTION + LOCKING EVIDENCE</a:t>
            </a:r>
          </a:p>
          <a:p>
            <a:pPr>
              <a:spcBef>
                <a:spcPts val="0"/>
              </a:spcBef>
            </a:pPr>
            <a:r>
              <a:rPr sz="700" b="0">
                <a:solidFill>
                  <a:srgbClr val="F8FAFC"/>
                </a:solidFill>
                <a:latin typeface="Consolas"/>
              </a:rPr>
              <a:t>conn.autocommit = False</a:t>
            </a:r>
          </a:p>
          <a:p>
            <a:pPr>
              <a:spcBef>
                <a:spcPts val="0"/>
              </a:spcBef>
            </a:pPr>
            <a:r>
              <a:rPr sz="700" b="0">
                <a:solidFill>
                  <a:srgbClr val="F8FAFC"/>
                </a:solidFill>
                <a:latin typeface="Consolas"/>
              </a:rPr>
              <a:t>SELECT product_id, stock_quantity</a:t>
            </a:r>
          </a:p>
          <a:p>
            <a:pPr>
              <a:spcBef>
                <a:spcPts val="0"/>
              </a:spcBef>
            </a:pPr>
            <a:r>
              <a:rPr sz="680" b="0">
                <a:solidFill>
                  <a:srgbClr val="F8FAFC"/>
                </a:solidFill>
                <a:latin typeface="Consolas"/>
              </a:rPr>
              <a:t>FROM products WHERE product_id = %s FOR UPDATE;</a:t>
            </a:r>
          </a:p>
          <a:p>
            <a:pPr>
              <a:spcBef>
                <a:spcPts val="0"/>
              </a:spcBef>
            </a:pPr>
            <a:r>
              <a:rPr sz="700" b="0">
                <a:solidFill>
                  <a:srgbClr val="F8FAFC"/>
                </a:solidFill>
                <a:latin typeface="Consolas"/>
              </a:rPr>
              <a:t>conn.commit()</a:t>
            </a:r>
          </a:p>
          <a:p>
            <a:pPr>
              <a:spcBef>
                <a:spcPts val="0"/>
              </a:spcBef>
            </a:pPr>
            <a:r>
              <a:rPr sz="700" b="0">
                <a:solidFill>
                  <a:srgbClr val="F8FAFC"/>
                </a:solidFill>
                <a:latin typeface="Consolas"/>
              </a:rPr>
              <a:t>conn.rollback()  # on exception</a:t>
            </a:r>
          </a:p>
        </p:txBody>
      </p:sp>
      <p:sp>
        <p:nvSpPr>
          <p:cNvPr id="552" name="Rounded Rectangle 23"/>
          <p:cNvSpPr/>
          <p:nvPr/>
        </p:nvSpPr>
        <p:spPr>
          <a:xfrm>
            <a:off x="5532120" y="3886200"/>
            <a:ext cx="5806080" cy="1737000"/>
          </a:xfrm>
          <a:prstGeom prst="roundRect">
            <a:avLst>
              <a:gd name="adj" fmla="val 16667"/>
            </a:avLst>
          </a:prstGeom>
          <a:solidFill>
            <a:srgbClr val="fff6ef"/>
          </a:solidFill>
          <a:ln>
            <a:solidFill>
              <a:srgbClr val="dce4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53" name="TextBox 24"/>
          <p:cNvSpPr/>
          <p:nvPr/>
        </p:nvSpPr>
        <p:spPr>
          <a:xfrm>
            <a:off x="5696640" y="3996000"/>
            <a:ext cx="54770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e26823"/>
                </a:solidFill>
                <a:effectLst/>
                <a:uFillTx/>
                <a:latin typeface="Aptos"/>
              </a:rPr>
              <a:t>Checkout transaction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4" name="TextBox 25"/>
          <p:cNvSpPr/>
          <p:nvPr/>
        </p:nvSpPr>
        <p:spPr>
          <a:xfrm>
            <a:off x="5696640" y="4343400"/>
            <a:ext cx="547704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20" strike="noStrike" u="none">
                <a:solidFill>
                  <a:srgbClr val="2a3745"/>
                </a:solidFill>
                <a:effectLst/>
                <a:uFillTx/>
                <a:latin typeface="Aptos"/>
              </a:rPr>
              <a:t>Validate → lock product rows → create order → create order items → create payment → create shipping → clear cart → COMMIT. Any exception triggers ROLLBACK.</a:t>
            </a:r>
            <a:endParaRPr b="0" lang="en-US" sz="11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Rectangle 1"/>
          <p:cNvSpPr/>
          <p:nvPr/>
        </p:nvSpPr>
        <p:spPr>
          <a:xfrm>
            <a:off x="0" y="0"/>
            <a:ext cx="12191760" cy="82080"/>
          </a:xfrm>
          <a:prstGeom prst="rect">
            <a:avLst/>
          </a:prstGeom>
          <a:solidFill>
            <a:srgbClr val="2466d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37440" bIns="37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56" name="TextBox 2"/>
          <p:cNvSpPr/>
          <p:nvPr/>
        </p:nvSpPr>
        <p:spPr>
          <a:xfrm>
            <a:off x="567000" y="311040"/>
            <a:ext cx="813780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500" strike="noStrike" u="none">
                <a:solidFill>
                  <a:srgbClr val="112b44"/>
                </a:solidFill>
                <a:effectLst/>
                <a:uFillTx/>
                <a:latin typeface="Aptos"/>
              </a:rPr>
              <a:t>API &amp; Database Connectivity</a:t>
            </a:r>
            <a:endParaRPr b="0" lang="en-US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7" name="TextBox 3"/>
          <p:cNvSpPr/>
          <p:nvPr/>
        </p:nvSpPr>
        <p:spPr>
          <a:xfrm>
            <a:off x="7452360" y="356616"/>
            <a:ext cx="2331720" cy="256032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wrap="square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919" strike="noStrike" u="none">
                <a:solidFill>
                  <a:srgbClr val="2466D6"/>
                </a:solidFill>
                <a:effectLst/>
                <a:uFillTx/>
                <a:latin typeface="Aptos"/>
              </a:rPr>
              <a:t>IMPLEMENTATION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58" name="Picture 4" descr="dbms_logo_clean.png"/>
          <p:cNvPicPr/>
          <p:nvPr/>
        </p:nvPicPr>
        <p:blipFill>
          <a:blip r:embed="rId1"/>
          <a:stretch/>
        </p:blipFill>
        <p:spPr>
          <a:xfrm>
            <a:off x="10012680" y="173880"/>
            <a:ext cx="1627200" cy="306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59" name="Rectangle 5"/>
          <p:cNvSpPr/>
          <p:nvPr/>
        </p:nvSpPr>
        <p:spPr>
          <a:xfrm>
            <a:off x="567000" y="6473880"/>
            <a:ext cx="10926720" cy="13320"/>
          </a:xfrm>
          <a:prstGeom prst="rect">
            <a:avLst/>
          </a:prstGeom>
          <a:solidFill>
            <a:srgbClr val="dce4e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1320" bIns="-313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60" name="TextBox 6"/>
          <p:cNvSpPr/>
          <p:nvPr/>
        </p:nvSpPr>
        <p:spPr>
          <a:xfrm>
            <a:off x="585360" y="6519600"/>
            <a:ext cx="47545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0" lang="en-US" sz="750" strike="noStrike" u="none">
                <a:solidFill>
                  <a:srgbClr val="647484"/>
                </a:solidFill>
                <a:effectLst/>
                <a:uFillTx/>
                <a:latin typeface="Aptos"/>
              </a:rPr>
              <a:t>DBMS • E-COMMERCE MANAGEMENT SYSTEM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1" name="TextBox 7"/>
          <p:cNvSpPr/>
          <p:nvPr/>
        </p:nvSpPr>
        <p:spPr>
          <a:xfrm>
            <a:off x="10972800" y="6492240"/>
            <a:ext cx="3837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800" strike="noStrike" u="none">
                <a:solidFill>
                  <a:srgbClr val="647484"/>
                </a:solidFill>
                <a:effectLst/>
                <a:uFillTx/>
                <a:latin typeface="Aptos"/>
              </a:rPr>
              <a:t>17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2" name="Rounded Rectangle 8"/>
          <p:cNvSpPr/>
          <p:nvPr/>
        </p:nvSpPr>
        <p:spPr>
          <a:xfrm>
            <a:off x="658440" y="1143000"/>
            <a:ext cx="5074560" cy="1188360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>
            <a:solidFill>
              <a:srgbClr val="dce4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63" name="TextBox 9"/>
          <p:cNvSpPr/>
          <p:nvPr/>
        </p:nvSpPr>
        <p:spPr>
          <a:xfrm>
            <a:off x="822960" y="1252800"/>
            <a:ext cx="47455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2466d6"/>
                </a:solidFill>
                <a:effectLst/>
                <a:uFillTx/>
                <a:latin typeface="Aptos"/>
              </a:rPr>
              <a:t>REST API layer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4" name="TextBox 10"/>
          <p:cNvSpPr/>
          <p:nvPr/>
        </p:nvSpPr>
        <p:spPr>
          <a:xfrm>
            <a:off x="822960" y="1600200"/>
            <a:ext cx="47455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50" strike="noStrike" u="none">
                <a:solidFill>
                  <a:srgbClr val="2a3745"/>
                </a:solidFill>
                <a:effectLst/>
                <a:uFillTx/>
                <a:latin typeface="Aptos"/>
              </a:rPr>
              <a:t>The Flask application exposes JSON endpoints for products, orders, reports and the database health check.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5" name="Rounded Rectangle 11"/>
          <p:cNvSpPr/>
          <p:nvPr/>
        </p:nvSpPr>
        <p:spPr>
          <a:xfrm>
            <a:off x="658440" y="2697480"/>
            <a:ext cx="5074560" cy="2102760"/>
          </a:xfrm>
          <a:prstGeom prst="roundRect">
            <a:avLst>
              <a:gd name="adj" fmla="val 16667"/>
            </a:avLst>
          </a:prstGeom>
          <a:solidFill>
            <a:srgbClr val="1f252c"/>
          </a:solidFill>
          <a:ln>
            <a:solidFill>
              <a:srgbClr val="37414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66" name="TextBox 12"/>
          <p:cNvSpPr/>
          <p:nvPr/>
        </p:nvSpPr>
        <p:spPr>
          <a:xfrm>
            <a:off x="822960" y="2788920"/>
            <a:ext cx="4745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950" strike="noStrike" u="none">
                <a:solidFill>
                  <a:srgbClr val="e26823"/>
                </a:solidFill>
                <a:effectLst/>
                <a:uFillTx/>
                <a:latin typeface="Aptos"/>
              </a:rPr>
              <a:t>API ENDPOINTS IN THE APPLICATION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7" name="TextBox 13"/>
          <p:cNvSpPr/>
          <p:nvPr/>
        </p:nvSpPr>
        <p:spPr>
          <a:xfrm>
            <a:off x="822960" y="3081600"/>
            <a:ext cx="4745520" cy="162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020" strike="noStrike" u="none">
                <a:solidFill>
                  <a:srgbClr val="ffffff"/>
                </a:solidFill>
                <a:effectLst/>
                <a:uFillTx/>
                <a:latin typeface="Consolas"/>
              </a:rPr>
              <a:t>GET /api/products</a:t>
            </a:r>
            <a:endParaRPr b="0" lang="en-US" sz="1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en-US" sz="1020" strike="noStrike" u="none">
                <a:solidFill>
                  <a:srgbClr val="ffffff"/>
                </a:solidFill>
                <a:effectLst/>
                <a:uFillTx/>
                <a:latin typeface="Consolas"/>
              </a:rPr>
              <a:t>GET /api/orders/&lt;order_id&gt;</a:t>
            </a:r>
            <a:endParaRPr b="0" lang="en-US" sz="1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en-US" sz="1020" strike="noStrike" u="none">
                <a:solidFill>
                  <a:srgbClr val="ffffff"/>
                </a:solidFill>
                <a:effectLst/>
                <a:uFillTx/>
                <a:latin typeface="Consolas"/>
              </a:rPr>
              <a:t>GET /api/reports/sales-summary</a:t>
            </a:r>
            <a:endParaRPr b="0" lang="en-US" sz="1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en-US" sz="1020" strike="noStrike" u="none">
                <a:solidFill>
                  <a:srgbClr val="ffffff"/>
                </a:solidFill>
                <a:effectLst/>
                <a:uFillTx/>
                <a:latin typeface="Consolas"/>
              </a:rPr>
              <a:t>GET /api/reports/product-sales</a:t>
            </a:r>
            <a:endParaRPr b="0" lang="en-US" sz="1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en-US" sz="1020" strike="noStrike" u="none">
                <a:solidFill>
                  <a:srgbClr val="ffffff"/>
                </a:solidFill>
                <a:effectLst/>
                <a:uFillTx/>
                <a:latin typeface="Consolas"/>
              </a:rPr>
              <a:t>GET /api/reports/customer-orders</a:t>
            </a:r>
            <a:endParaRPr b="0" lang="en-US" sz="1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20" strike="noStrike" u="none">
                <a:solidFill>
                  <a:srgbClr val="ffffff"/>
                </a:solidFill>
                <a:effectLst/>
                <a:uFillTx/>
                <a:latin typeface="Consolas"/>
              </a:rPr>
              <a:t>GET /test-db</a:t>
            </a:r>
            <a:endParaRPr b="0" lang="en-US" sz="1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8" name="Rounded Rectangle 14"/>
          <p:cNvSpPr/>
          <p:nvPr/>
        </p:nvSpPr>
        <p:spPr>
          <a:xfrm>
            <a:off x="6080760" y="1143000"/>
            <a:ext cx="5211720" cy="2788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ce4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569" name="Picture 15" descr="1000253776.jpg"/>
          <p:cNvPicPr/>
          <p:nvPr/>
        </p:nvPicPr>
        <p:blipFill>
          <a:blip r:embed="rId2"/>
          <a:stretch/>
        </p:blipFill>
        <p:spPr>
          <a:xfrm>
            <a:off x="6117480" y="1179720"/>
            <a:ext cx="5138640" cy="2715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70" name="TextBox 16"/>
          <p:cNvSpPr/>
          <p:nvPr/>
        </p:nvSpPr>
        <p:spPr>
          <a:xfrm>
            <a:off x="6080760" y="3986640"/>
            <a:ext cx="52117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950" strike="noStrike" u="none">
                <a:solidFill>
                  <a:srgbClr val="647484"/>
                </a:solidFill>
                <a:effectLst/>
                <a:uFillTx/>
                <a:latin typeface="Aptos"/>
              </a:rPr>
              <a:t>Actual DB health-check output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1" name="Rounded Rectangle 17"/>
          <p:cNvSpPr/>
          <p:nvPr/>
        </p:nvSpPr>
        <p:spPr>
          <a:xfrm>
            <a:off x="6080760" y="4206240"/>
            <a:ext cx="5211720" cy="1142640"/>
          </a:xfrm>
          <a:prstGeom prst="roundRect">
            <a:avLst>
              <a:gd name="adj" fmla="val 16667"/>
            </a:avLst>
          </a:prstGeom>
          <a:solidFill>
            <a:srgbClr val="eff9f4"/>
          </a:solidFill>
          <a:ln>
            <a:solidFill>
              <a:srgbClr val="dce4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72" name="TextBox 18"/>
          <p:cNvSpPr/>
          <p:nvPr/>
        </p:nvSpPr>
        <p:spPr>
          <a:xfrm>
            <a:off x="6245280" y="4316040"/>
            <a:ext cx="4882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trike="noStrike" u="none">
                <a:solidFill>
                  <a:srgbClr val="278b5d"/>
                </a:solidFill>
                <a:effectLst/>
                <a:uFillTx/>
                <a:latin typeface="Aptos"/>
              </a:rPr>
              <a:t>Database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3" name="TextBox 19"/>
          <p:cNvSpPr/>
          <p:nvPr/>
        </p:nvSpPr>
        <p:spPr>
          <a:xfrm>
            <a:off x="6245280" y="4663440"/>
            <a:ext cx="48826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200" strike="noStrike" u="none">
                <a:solidFill>
                  <a:srgbClr val="2a3745"/>
                </a:solidFill>
                <a:effectLst/>
                <a:uFillTx/>
                <a:latin typeface="Aptos"/>
              </a:rPr>
              <a:t>ecommerce_management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2a3745"/>
                </a:solidFill>
                <a:effectLst/>
                <a:uFillTx/>
                <a:latin typeface="Aptos"/>
              </a:rPr>
              <a:t>MySQL connection successful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Rectangle 1"/>
          <p:cNvSpPr/>
          <p:nvPr/>
        </p:nvSpPr>
        <p:spPr>
          <a:xfrm>
            <a:off x="0" y="0"/>
            <a:ext cx="12191760" cy="82080"/>
          </a:xfrm>
          <a:prstGeom prst="rect">
            <a:avLst/>
          </a:prstGeom>
          <a:solidFill>
            <a:srgbClr val="2466d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37440" bIns="37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75" name="TextBox 2"/>
          <p:cNvSpPr/>
          <p:nvPr/>
        </p:nvSpPr>
        <p:spPr>
          <a:xfrm>
            <a:off x="567000" y="311040"/>
            <a:ext cx="813780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500" strike="noStrike" u="none">
                <a:solidFill>
                  <a:srgbClr val="112b44"/>
                </a:solidFill>
                <a:effectLst/>
                <a:uFillTx/>
                <a:latin typeface="Aptos"/>
              </a:rPr>
              <a:t>Implementation Evidence – Master Data</a:t>
            </a:r>
            <a:endParaRPr b="0" lang="en-US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6" name="TextBox 3"/>
          <p:cNvSpPr/>
          <p:nvPr/>
        </p:nvSpPr>
        <p:spPr>
          <a:xfrm>
            <a:off x="7452360" y="356616"/>
            <a:ext cx="2331720" cy="256032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wrap="square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919" strike="noStrike" u="none">
                <a:solidFill>
                  <a:srgbClr val="2466D6"/>
                </a:solidFill>
                <a:effectLst/>
                <a:uFillTx/>
                <a:latin typeface="Aptos"/>
              </a:rPr>
              <a:t>ACTUAL OUTPUT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77" name="Picture 4" descr="dbms_logo_clean.png"/>
          <p:cNvPicPr/>
          <p:nvPr/>
        </p:nvPicPr>
        <p:blipFill>
          <a:blip r:embed="rId1"/>
          <a:stretch/>
        </p:blipFill>
        <p:spPr>
          <a:xfrm>
            <a:off x="10012680" y="173880"/>
            <a:ext cx="1627200" cy="306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78" name="Rectangle 5"/>
          <p:cNvSpPr/>
          <p:nvPr/>
        </p:nvSpPr>
        <p:spPr>
          <a:xfrm>
            <a:off x="567000" y="6473880"/>
            <a:ext cx="10926720" cy="13320"/>
          </a:xfrm>
          <a:prstGeom prst="rect">
            <a:avLst/>
          </a:prstGeom>
          <a:solidFill>
            <a:srgbClr val="dce4e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1320" bIns="-313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79" name="TextBox 6"/>
          <p:cNvSpPr/>
          <p:nvPr/>
        </p:nvSpPr>
        <p:spPr>
          <a:xfrm>
            <a:off x="585360" y="6519600"/>
            <a:ext cx="47545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0" lang="en-US" sz="750" strike="noStrike" u="none">
                <a:solidFill>
                  <a:srgbClr val="647484"/>
                </a:solidFill>
                <a:effectLst/>
                <a:uFillTx/>
                <a:latin typeface="Aptos"/>
              </a:rPr>
              <a:t>DBMS • E-COMMERCE MANAGEMENT SYSTEM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0" name="TextBox 7"/>
          <p:cNvSpPr/>
          <p:nvPr/>
        </p:nvSpPr>
        <p:spPr>
          <a:xfrm>
            <a:off x="10972800" y="6492240"/>
            <a:ext cx="3837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800" strike="noStrike" u="none">
                <a:solidFill>
                  <a:srgbClr val="647484"/>
                </a:solidFill>
                <a:effectLst/>
                <a:uFillTx/>
                <a:latin typeface="Aptos"/>
              </a:rPr>
              <a:t>18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1" name="Rounded Rectangle 8"/>
          <p:cNvSpPr/>
          <p:nvPr/>
        </p:nvSpPr>
        <p:spPr>
          <a:xfrm>
            <a:off x="640080" y="1188720"/>
            <a:ext cx="5257440" cy="2331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ce4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582" name="Picture 9" descr="1000253759.jpg"/>
          <p:cNvPicPr/>
          <p:nvPr/>
        </p:nvPicPr>
        <p:blipFill>
          <a:blip r:embed="rId2"/>
          <a:stretch/>
        </p:blipFill>
        <p:spPr>
          <a:xfrm>
            <a:off x="475488" y="1170432"/>
            <a:ext cx="5413248" cy="2359152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83" name="TextBox 10"/>
          <p:cNvSpPr/>
          <p:nvPr/>
        </p:nvSpPr>
        <p:spPr>
          <a:xfrm>
            <a:off x="475488" y="3547872"/>
            <a:ext cx="5413248" cy="210312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wrap="square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819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Categories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4" name="Rounded Rectangle 11"/>
          <p:cNvSpPr/>
          <p:nvPr/>
        </p:nvSpPr>
        <p:spPr>
          <a:xfrm>
            <a:off x="6263640" y="1188720"/>
            <a:ext cx="5257440" cy="2331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ce4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585" name="Picture 12" descr="1000253763.jpg"/>
          <p:cNvPicPr/>
          <p:nvPr/>
        </p:nvPicPr>
        <p:blipFill>
          <a:blip r:embed="rId3"/>
          <a:stretch/>
        </p:blipFill>
        <p:spPr>
          <a:xfrm>
            <a:off x="6300216" y="1170432"/>
            <a:ext cx="5413248" cy="2359152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86" name="TextBox 13"/>
          <p:cNvSpPr/>
          <p:nvPr/>
        </p:nvSpPr>
        <p:spPr>
          <a:xfrm>
            <a:off x="6300216" y="3547872"/>
            <a:ext cx="5413248" cy="210312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wrap="square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819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Sellers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7" name="Rounded Rectangle 14"/>
          <p:cNvSpPr/>
          <p:nvPr/>
        </p:nvSpPr>
        <p:spPr>
          <a:xfrm>
            <a:off x="640080" y="3886200"/>
            <a:ext cx="5257440" cy="2331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ce4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588" name="Picture 15" descr="1000253765.jpg"/>
          <p:cNvPicPr/>
          <p:nvPr/>
        </p:nvPicPr>
        <p:blipFill>
          <a:blip r:embed="rId4"/>
          <a:stretch/>
        </p:blipFill>
        <p:spPr>
          <a:xfrm>
            <a:off x="475488" y="3822191"/>
            <a:ext cx="5413248" cy="2267712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89" name="TextBox 16"/>
          <p:cNvSpPr/>
          <p:nvPr/>
        </p:nvSpPr>
        <p:spPr>
          <a:xfrm>
            <a:off x="475488" y="6126480"/>
            <a:ext cx="5413248" cy="210312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wrap="square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819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Customers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0" name="Rounded Rectangle 17"/>
          <p:cNvSpPr/>
          <p:nvPr/>
        </p:nvSpPr>
        <p:spPr>
          <a:xfrm>
            <a:off x="6263640" y="3886200"/>
            <a:ext cx="5257440" cy="2331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ce4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591" name="Picture 18" descr="1000253777.jpg"/>
          <p:cNvPicPr/>
          <p:nvPr/>
        </p:nvPicPr>
        <p:blipFill>
          <a:blip r:embed="rId5"/>
          <a:stretch/>
        </p:blipFill>
        <p:spPr>
          <a:xfrm>
            <a:off x="6300216" y="3822191"/>
            <a:ext cx="5413248" cy="2267712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92" name="TextBox 19"/>
          <p:cNvSpPr/>
          <p:nvPr/>
        </p:nvSpPr>
        <p:spPr>
          <a:xfrm>
            <a:off x="6300216" y="6126480"/>
            <a:ext cx="5413248" cy="210312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wrap="square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819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Administrator Login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Rectangle 1"/>
          <p:cNvSpPr/>
          <p:nvPr/>
        </p:nvSpPr>
        <p:spPr>
          <a:xfrm>
            <a:off x="0" y="0"/>
            <a:ext cx="12191760" cy="82080"/>
          </a:xfrm>
          <a:prstGeom prst="rect">
            <a:avLst/>
          </a:prstGeom>
          <a:solidFill>
            <a:srgbClr val="2466d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37440" bIns="37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94" name="TextBox 2"/>
          <p:cNvSpPr/>
          <p:nvPr/>
        </p:nvSpPr>
        <p:spPr>
          <a:xfrm>
            <a:off x="567000" y="311040"/>
            <a:ext cx="813780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500" strike="noStrike" u="none">
                <a:solidFill>
                  <a:srgbClr val="112b44"/>
                </a:solidFill>
                <a:effectLst/>
                <a:uFillTx/>
                <a:latin typeface="Aptos"/>
              </a:rPr>
              <a:t>Implementation Evidence – Order &amp; Cart Flow</a:t>
            </a:r>
            <a:endParaRPr b="0" lang="en-US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5" name="TextBox 3"/>
          <p:cNvSpPr/>
          <p:nvPr/>
        </p:nvSpPr>
        <p:spPr>
          <a:xfrm>
            <a:off x="7452360" y="356616"/>
            <a:ext cx="2331720" cy="256032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wrap="square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919" strike="noStrike" u="none">
                <a:solidFill>
                  <a:srgbClr val="2466D6"/>
                </a:solidFill>
                <a:effectLst/>
                <a:uFillTx/>
                <a:latin typeface="Aptos"/>
              </a:rPr>
              <a:t>ACTUAL OUTPUT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96" name="Picture 4" descr="dbms_logo_clean.png"/>
          <p:cNvPicPr/>
          <p:nvPr/>
        </p:nvPicPr>
        <p:blipFill>
          <a:blip r:embed="rId1"/>
          <a:stretch/>
        </p:blipFill>
        <p:spPr>
          <a:xfrm>
            <a:off x="10012680" y="173880"/>
            <a:ext cx="1627200" cy="306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97" name="Rectangle 5"/>
          <p:cNvSpPr/>
          <p:nvPr/>
        </p:nvSpPr>
        <p:spPr>
          <a:xfrm>
            <a:off x="567000" y="6473880"/>
            <a:ext cx="10926720" cy="13320"/>
          </a:xfrm>
          <a:prstGeom prst="rect">
            <a:avLst/>
          </a:prstGeom>
          <a:solidFill>
            <a:srgbClr val="dce4e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1320" bIns="-313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98" name="TextBox 6"/>
          <p:cNvSpPr/>
          <p:nvPr/>
        </p:nvSpPr>
        <p:spPr>
          <a:xfrm>
            <a:off x="585360" y="6519600"/>
            <a:ext cx="47545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0" lang="en-US" sz="750" strike="noStrike" u="none">
                <a:solidFill>
                  <a:srgbClr val="647484"/>
                </a:solidFill>
                <a:effectLst/>
                <a:uFillTx/>
                <a:latin typeface="Aptos"/>
              </a:rPr>
              <a:t>DBMS • E-COMMERCE MANAGEMENT SYSTEM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9" name="TextBox 7"/>
          <p:cNvSpPr/>
          <p:nvPr/>
        </p:nvSpPr>
        <p:spPr>
          <a:xfrm>
            <a:off x="10972800" y="6492240"/>
            <a:ext cx="3837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800" strike="noStrike" u="none">
                <a:solidFill>
                  <a:srgbClr val="647484"/>
                </a:solidFill>
                <a:effectLst/>
                <a:uFillTx/>
                <a:latin typeface="Aptos"/>
              </a:rPr>
              <a:t>19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0" name="Rounded Rectangle 8"/>
          <p:cNvSpPr/>
          <p:nvPr/>
        </p:nvSpPr>
        <p:spPr>
          <a:xfrm>
            <a:off x="640080" y="1188720"/>
            <a:ext cx="6583320" cy="32457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ce4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601" name="Picture 9" descr="1000253762.jpg"/>
          <p:cNvPicPr/>
          <p:nvPr/>
        </p:nvPicPr>
        <p:blipFill>
          <a:blip r:embed="rId2"/>
          <a:stretch/>
        </p:blipFill>
        <p:spPr>
          <a:xfrm>
            <a:off x="457200" y="1152144"/>
            <a:ext cx="6675120" cy="3310128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02" name="TextBox 10"/>
          <p:cNvSpPr/>
          <p:nvPr/>
        </p:nvSpPr>
        <p:spPr>
          <a:xfrm>
            <a:off x="457200" y="4498848"/>
            <a:ext cx="6675120" cy="210312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wrap="square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819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Orders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3" name="Rounded Rectangle 11"/>
          <p:cNvSpPr/>
          <p:nvPr/>
        </p:nvSpPr>
        <p:spPr>
          <a:xfrm>
            <a:off x="7452360" y="1188720"/>
            <a:ext cx="4068720" cy="32457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ce4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604" name="Picture 12" descr="1000253767.jpg"/>
          <p:cNvPicPr/>
          <p:nvPr/>
        </p:nvPicPr>
        <p:blipFill>
          <a:blip r:embed="rId3"/>
          <a:stretch/>
        </p:blipFill>
        <p:spPr>
          <a:xfrm>
            <a:off x="7360920" y="1152144"/>
            <a:ext cx="4370832" cy="3310128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05" name="TextBox 13"/>
          <p:cNvSpPr/>
          <p:nvPr/>
        </p:nvSpPr>
        <p:spPr>
          <a:xfrm>
            <a:off x="7360920" y="4498848"/>
            <a:ext cx="4370832" cy="210312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wrap="square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819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Shopping Cart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6" name="Rounded Rectangle 14"/>
          <p:cNvSpPr/>
          <p:nvPr/>
        </p:nvSpPr>
        <p:spPr>
          <a:xfrm>
            <a:off x="1325880" y="4800600"/>
            <a:ext cx="9692280" cy="1005480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>
            <a:solidFill>
              <a:srgbClr val="dce4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07" name="TextBox 15"/>
          <p:cNvSpPr/>
          <p:nvPr/>
        </p:nvSpPr>
        <p:spPr>
          <a:xfrm>
            <a:off x="1490400" y="4910400"/>
            <a:ext cx="93632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2466d6"/>
                </a:solidFill>
                <a:effectLst/>
                <a:uFillTx/>
                <a:latin typeface="Aptos"/>
              </a:rPr>
              <a:t>DBMS connection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8" name="TextBox 16"/>
          <p:cNvSpPr/>
          <p:nvPr/>
        </p:nvSpPr>
        <p:spPr>
          <a:xfrm>
            <a:off x="1490400" y="5257800"/>
            <a:ext cx="9363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50" strike="noStrike" u="none">
                <a:solidFill>
                  <a:srgbClr val="2a3745"/>
                </a:solidFill>
                <a:effectLst/>
                <a:uFillTx/>
                <a:latin typeface="Aptos"/>
              </a:rPr>
              <a:t>Orders reference customers; order items reference products; payments and shipping reference orders. The UI exposes these connected records.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Rectangle 1"/>
          <p:cNvSpPr/>
          <p:nvPr/>
        </p:nvSpPr>
        <p:spPr>
          <a:xfrm>
            <a:off x="0" y="0"/>
            <a:ext cx="12191760" cy="82080"/>
          </a:xfrm>
          <a:prstGeom prst="rect">
            <a:avLst/>
          </a:prstGeom>
          <a:solidFill>
            <a:srgbClr val="2466d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37440" bIns="37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10" name="TextBox 2"/>
          <p:cNvSpPr/>
          <p:nvPr/>
        </p:nvSpPr>
        <p:spPr>
          <a:xfrm>
            <a:off x="567000" y="311040"/>
            <a:ext cx="813780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500" strike="noStrike" u="none">
                <a:solidFill>
                  <a:srgbClr val="112b44"/>
                </a:solidFill>
                <a:effectLst/>
                <a:uFillTx/>
                <a:latin typeface="Aptos"/>
              </a:rPr>
              <a:t>Implementation Evidence – Coupons &amp; Reviews</a:t>
            </a:r>
            <a:endParaRPr b="0" lang="en-US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1" name="TextBox 3"/>
          <p:cNvSpPr/>
          <p:nvPr/>
        </p:nvSpPr>
        <p:spPr>
          <a:xfrm>
            <a:off x="7452360" y="356616"/>
            <a:ext cx="2331720" cy="256032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wrap="square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919" strike="noStrike" u="none">
                <a:solidFill>
                  <a:srgbClr val="2466D6"/>
                </a:solidFill>
                <a:effectLst/>
                <a:uFillTx/>
                <a:latin typeface="Aptos"/>
              </a:rPr>
              <a:t>ACTUAL OUTPUT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12" name="Picture 4" descr="dbms_logo_clean.png"/>
          <p:cNvPicPr/>
          <p:nvPr/>
        </p:nvPicPr>
        <p:blipFill>
          <a:blip r:embed="rId1"/>
          <a:stretch/>
        </p:blipFill>
        <p:spPr>
          <a:xfrm>
            <a:off x="10012680" y="173880"/>
            <a:ext cx="1627200" cy="306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13" name="Rectangle 5"/>
          <p:cNvSpPr/>
          <p:nvPr/>
        </p:nvSpPr>
        <p:spPr>
          <a:xfrm>
            <a:off x="567000" y="6473880"/>
            <a:ext cx="10926720" cy="13320"/>
          </a:xfrm>
          <a:prstGeom prst="rect">
            <a:avLst/>
          </a:prstGeom>
          <a:solidFill>
            <a:srgbClr val="dce4e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1320" bIns="-313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14" name="TextBox 6"/>
          <p:cNvSpPr/>
          <p:nvPr/>
        </p:nvSpPr>
        <p:spPr>
          <a:xfrm>
            <a:off x="585360" y="6519600"/>
            <a:ext cx="47545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0" lang="en-US" sz="750" strike="noStrike" u="none">
                <a:solidFill>
                  <a:srgbClr val="647484"/>
                </a:solidFill>
                <a:effectLst/>
                <a:uFillTx/>
                <a:latin typeface="Aptos"/>
              </a:rPr>
              <a:t>DBMS • E-COMMERCE MANAGEMENT SYSTEM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5" name="TextBox 7"/>
          <p:cNvSpPr/>
          <p:nvPr/>
        </p:nvSpPr>
        <p:spPr>
          <a:xfrm>
            <a:off x="10972800" y="6492240"/>
            <a:ext cx="3837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800" strike="noStrike" u="none">
                <a:solidFill>
                  <a:srgbClr val="647484"/>
                </a:solidFill>
                <a:effectLst/>
                <a:uFillTx/>
                <a:latin typeface="Aptos"/>
              </a:rPr>
              <a:t>20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6" name="Rounded Rectangle 8"/>
          <p:cNvSpPr/>
          <p:nvPr/>
        </p:nvSpPr>
        <p:spPr>
          <a:xfrm>
            <a:off x="640080" y="1188720"/>
            <a:ext cx="5257440" cy="2605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ce4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617" name="Picture 9" descr="1000253768.jpg"/>
          <p:cNvPicPr/>
          <p:nvPr/>
        </p:nvPicPr>
        <p:blipFill>
          <a:blip r:embed="rId2"/>
          <a:stretch/>
        </p:blipFill>
        <p:spPr>
          <a:xfrm>
            <a:off x="457200" y="1152144"/>
            <a:ext cx="5413248" cy="269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18" name="TextBox 10"/>
          <p:cNvSpPr/>
          <p:nvPr/>
        </p:nvSpPr>
        <p:spPr>
          <a:xfrm>
            <a:off x="457200" y="3858768"/>
            <a:ext cx="5413248" cy="210312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wrap="square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81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Coupon Management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9" name="Rounded Rectangle 11"/>
          <p:cNvSpPr/>
          <p:nvPr/>
        </p:nvSpPr>
        <p:spPr>
          <a:xfrm>
            <a:off x="6263640" y="1188720"/>
            <a:ext cx="5257440" cy="2605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ce4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620" name="Picture 12" descr="1000253769.jpg"/>
          <p:cNvPicPr/>
          <p:nvPr/>
        </p:nvPicPr>
        <p:blipFill>
          <a:blip r:embed="rId3"/>
          <a:stretch/>
        </p:blipFill>
        <p:spPr>
          <a:xfrm>
            <a:off x="6300216" y="1152144"/>
            <a:ext cx="5413248" cy="269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21" name="TextBox 13"/>
          <p:cNvSpPr/>
          <p:nvPr/>
        </p:nvSpPr>
        <p:spPr>
          <a:xfrm>
            <a:off x="6300216" y="3858768"/>
            <a:ext cx="5413248" cy="210312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wrap="square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81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Coupon records &amp; redemptions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2" name="Rounded Rectangle 14"/>
          <p:cNvSpPr/>
          <p:nvPr/>
        </p:nvSpPr>
        <p:spPr>
          <a:xfrm>
            <a:off x="640080" y="4160520"/>
            <a:ext cx="5257440" cy="20570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ce4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623" name="Picture 15" descr="1000253775.jpg"/>
          <p:cNvPicPr/>
          <p:nvPr/>
        </p:nvPicPr>
        <p:blipFill>
          <a:blip r:embed="rId4"/>
          <a:stretch/>
        </p:blipFill>
        <p:spPr>
          <a:xfrm>
            <a:off x="457200" y="4050791"/>
            <a:ext cx="5413248" cy="2103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24" name="TextBox 16"/>
          <p:cNvSpPr/>
          <p:nvPr/>
        </p:nvSpPr>
        <p:spPr>
          <a:xfrm>
            <a:off x="457200" y="6190488"/>
            <a:ext cx="5413248" cy="210312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wrap="square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81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Reviews &amp; Ratings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5" name="Rounded Rectangle 17"/>
          <p:cNvSpPr/>
          <p:nvPr/>
        </p:nvSpPr>
        <p:spPr>
          <a:xfrm>
            <a:off x="6300216" y="4050791"/>
            <a:ext cx="5413248" cy="1097280"/>
          </a:xfrm>
          <a:prstGeom prst="roundRect">
            <a:avLst>
              <a:gd name="adj" fmla="val 16667"/>
            </a:avLst>
          </a:prstGeom>
          <a:solidFill>
            <a:srgbClr val="fff6ef"/>
          </a:solidFill>
          <a:ln>
            <a:solidFill>
              <a:srgbClr val="dce4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6" name="TextBox 18"/>
          <p:cNvSpPr/>
          <p:nvPr/>
        </p:nvSpPr>
        <p:spPr>
          <a:xfrm>
            <a:off x="6464808" y="4151376"/>
            <a:ext cx="5084064" cy="292608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152" rIns="73152" tIns="36576" bIns="36576" anchor="ctr" wrap="square">
            <a:spAutoFit/>
          </a:bodyPr>
          <a:p>
            <a:pPr defTabSz="457200" algn="l">
              <a:lnSpc>
                <a:spcPct val="100000"/>
              </a:lnSpc>
            </a:pPr>
            <a:r>
              <a:rPr b="1" lang="en-US" sz="819" strike="noStrike" u="none">
                <a:solidFill>
                  <a:srgbClr val="2466D6"/>
                </a:solidFill>
                <a:effectLst/>
                <a:uFillTx/>
                <a:latin typeface="Aptos"/>
              </a:rPr>
              <a:t>Integrity behaviour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7" name="TextBox 19"/>
          <p:cNvSpPr/>
          <p:nvPr/>
        </p:nvSpPr>
        <p:spPr>
          <a:xfrm>
            <a:off x="6464808" y="4480560"/>
            <a:ext cx="5084064" cy="530352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152" rIns="73152" tIns="36576" bIns="36576" anchor="ctr" wrap="square">
            <a:spAutoFit/>
          </a:bodyPr>
          <a:p>
            <a:pPr defTabSz="457200" algn="l">
              <a:lnSpc>
                <a:spcPct val="100000"/>
              </a:lnSpc>
            </a:pPr>
            <a:r>
              <a:rPr b="0" lang="en-US" sz="78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Redeemed coupons cannot be deleted; the application keeps order history intact.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Rectangle 1"/>
          <p:cNvSpPr/>
          <p:nvPr/>
        </p:nvSpPr>
        <p:spPr>
          <a:xfrm>
            <a:off x="0" y="0"/>
            <a:ext cx="12191760" cy="82080"/>
          </a:xfrm>
          <a:prstGeom prst="rect">
            <a:avLst/>
          </a:prstGeom>
          <a:solidFill>
            <a:srgbClr val="2466d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37440" bIns="37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9" name="TextBox 2"/>
          <p:cNvSpPr/>
          <p:nvPr/>
        </p:nvSpPr>
        <p:spPr>
          <a:xfrm>
            <a:off x="567000" y="311040"/>
            <a:ext cx="813780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500" strike="noStrike" u="none">
                <a:solidFill>
                  <a:srgbClr val="112b44"/>
                </a:solidFill>
                <a:effectLst/>
                <a:uFillTx/>
                <a:latin typeface="Aptos"/>
              </a:rPr>
              <a:t>Implementation Evidence – Reports &amp; Inventory</a:t>
            </a:r>
            <a:endParaRPr b="0" lang="en-US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0" name="TextBox 3"/>
          <p:cNvSpPr/>
          <p:nvPr/>
        </p:nvSpPr>
        <p:spPr>
          <a:xfrm>
            <a:off x="7452360" y="356616"/>
            <a:ext cx="2331720" cy="256032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wrap="square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919" strike="noStrike" u="none">
                <a:solidFill>
                  <a:srgbClr val="2466D6"/>
                </a:solidFill>
                <a:effectLst/>
                <a:uFillTx/>
                <a:latin typeface="Aptos"/>
              </a:rPr>
              <a:t>ACTUAL OUTPUT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31" name="Picture 4" descr="dbms_logo_clean.png"/>
          <p:cNvPicPr/>
          <p:nvPr/>
        </p:nvPicPr>
        <p:blipFill>
          <a:blip r:embed="rId1"/>
          <a:stretch/>
        </p:blipFill>
        <p:spPr>
          <a:xfrm>
            <a:off x="10012680" y="173880"/>
            <a:ext cx="1627200" cy="306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32" name="Rectangle 5"/>
          <p:cNvSpPr/>
          <p:nvPr/>
        </p:nvSpPr>
        <p:spPr>
          <a:xfrm>
            <a:off x="567000" y="6473880"/>
            <a:ext cx="10926720" cy="13320"/>
          </a:xfrm>
          <a:prstGeom prst="rect">
            <a:avLst/>
          </a:prstGeom>
          <a:solidFill>
            <a:srgbClr val="dce4e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1320" bIns="-313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33" name="TextBox 6"/>
          <p:cNvSpPr/>
          <p:nvPr/>
        </p:nvSpPr>
        <p:spPr>
          <a:xfrm>
            <a:off x="585360" y="6519600"/>
            <a:ext cx="47545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0" lang="en-US" sz="750" strike="noStrike" u="none">
                <a:solidFill>
                  <a:srgbClr val="647484"/>
                </a:solidFill>
                <a:effectLst/>
                <a:uFillTx/>
                <a:latin typeface="Aptos"/>
              </a:rPr>
              <a:t>DBMS • E-COMMERCE MANAGEMENT SYSTEM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4" name="TextBox 7"/>
          <p:cNvSpPr/>
          <p:nvPr/>
        </p:nvSpPr>
        <p:spPr>
          <a:xfrm>
            <a:off x="10972800" y="6492240"/>
            <a:ext cx="3837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800" strike="noStrike" u="none">
                <a:solidFill>
                  <a:srgbClr val="647484"/>
                </a:solidFill>
                <a:effectLst/>
                <a:uFillTx/>
                <a:latin typeface="Aptos"/>
              </a:rPr>
              <a:t>21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5" name="Rounded Rectangle 8"/>
          <p:cNvSpPr/>
          <p:nvPr/>
        </p:nvSpPr>
        <p:spPr>
          <a:xfrm>
            <a:off x="640080" y="1188720"/>
            <a:ext cx="6537600" cy="32457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ce4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636" name="Picture 9" descr="1000253770.jpg"/>
          <p:cNvPicPr/>
          <p:nvPr/>
        </p:nvPicPr>
        <p:blipFill>
          <a:blip r:embed="rId2"/>
          <a:stretch/>
        </p:blipFill>
        <p:spPr>
          <a:xfrm>
            <a:off x="438912" y="1143000"/>
            <a:ext cx="6675120" cy="3310128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37" name="TextBox 10"/>
          <p:cNvSpPr/>
          <p:nvPr/>
        </p:nvSpPr>
        <p:spPr>
          <a:xfrm>
            <a:off x="438912" y="4480560"/>
            <a:ext cx="6675120" cy="210312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wrap="square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80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Business Analytics &amp; Reports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8" name="Rounded Rectangle 11"/>
          <p:cNvSpPr/>
          <p:nvPr/>
        </p:nvSpPr>
        <p:spPr>
          <a:xfrm>
            <a:off x="7406640" y="1188720"/>
            <a:ext cx="4114440" cy="32457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ce4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639" name="Picture 12" descr="1000253773.jpg"/>
          <p:cNvPicPr/>
          <p:nvPr/>
        </p:nvPicPr>
        <p:blipFill>
          <a:blip r:embed="rId3"/>
          <a:stretch/>
        </p:blipFill>
        <p:spPr>
          <a:xfrm>
            <a:off x="7315200" y="1143000"/>
            <a:ext cx="4407408" cy="3310128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40" name="TextBox 13"/>
          <p:cNvSpPr/>
          <p:nvPr/>
        </p:nvSpPr>
        <p:spPr>
          <a:xfrm>
            <a:off x="7315200" y="4480560"/>
            <a:ext cx="4407408" cy="210312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wrap="square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80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Inventory Control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1" name="Rounded Rectangle 14"/>
          <p:cNvSpPr/>
          <p:nvPr/>
        </p:nvSpPr>
        <p:spPr>
          <a:xfrm>
            <a:off x="640080" y="4663440"/>
            <a:ext cx="5257440" cy="1416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ce4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642" name="Picture 15" descr="1000253771.jpg"/>
          <p:cNvPicPr/>
          <p:nvPr/>
        </p:nvPicPr>
        <p:blipFill>
          <a:blip r:embed="rId4"/>
          <a:stretch/>
        </p:blipFill>
        <p:spPr>
          <a:xfrm>
            <a:off x="457200" y="4608576"/>
            <a:ext cx="5440680" cy="1417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43" name="TextBox 16"/>
          <p:cNvSpPr/>
          <p:nvPr/>
        </p:nvSpPr>
        <p:spPr>
          <a:xfrm>
            <a:off x="457200" y="6071616"/>
            <a:ext cx="5440680" cy="210312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wrap="square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80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Product Revenue Ranking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4" name="Rounded Rectangle 17"/>
          <p:cNvSpPr/>
          <p:nvPr/>
        </p:nvSpPr>
        <p:spPr>
          <a:xfrm>
            <a:off x="6263640" y="4663440"/>
            <a:ext cx="5257440" cy="1416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ce4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645" name="Picture 18" descr="1000253772.jpg"/>
          <p:cNvPicPr/>
          <p:nvPr/>
        </p:nvPicPr>
        <p:blipFill>
          <a:blip r:embed="rId5"/>
          <a:stretch/>
        </p:blipFill>
        <p:spPr>
          <a:xfrm>
            <a:off x="6291072" y="4608576"/>
            <a:ext cx="5440680" cy="1417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46" name="TextBox 19"/>
          <p:cNvSpPr/>
          <p:nvPr/>
        </p:nvSpPr>
        <p:spPr>
          <a:xfrm>
            <a:off x="6291072" y="6071616"/>
            <a:ext cx="5440680" cy="210312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wrap="square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80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Order &amp; Payment Ledger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Rectangle 1"/>
          <p:cNvSpPr/>
          <p:nvPr/>
        </p:nvSpPr>
        <p:spPr>
          <a:xfrm>
            <a:off x="0" y="0"/>
            <a:ext cx="12191760" cy="82080"/>
          </a:xfrm>
          <a:prstGeom prst="rect">
            <a:avLst/>
          </a:prstGeom>
          <a:solidFill>
            <a:srgbClr val="2466d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37440" bIns="37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48" name="TextBox 2"/>
          <p:cNvSpPr/>
          <p:nvPr/>
        </p:nvSpPr>
        <p:spPr>
          <a:xfrm>
            <a:off x="567000" y="311040"/>
            <a:ext cx="813780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500" strike="noStrike" u="none">
                <a:solidFill>
                  <a:srgbClr val="112b44"/>
                </a:solidFill>
                <a:effectLst/>
                <a:uFillTx/>
                <a:latin typeface="Aptos"/>
              </a:rPr>
              <a:t>Implementation Evidence – Dashboard &amp; System State</a:t>
            </a:r>
            <a:endParaRPr b="0" lang="en-US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9" name="TextBox 3"/>
          <p:cNvSpPr/>
          <p:nvPr/>
        </p:nvSpPr>
        <p:spPr>
          <a:xfrm>
            <a:off x="7452360" y="356616"/>
            <a:ext cx="2331720" cy="256032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wrap="square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919" strike="noStrike" u="none">
                <a:solidFill>
                  <a:srgbClr val="2466D6"/>
                </a:solidFill>
                <a:effectLst/>
                <a:uFillTx/>
                <a:latin typeface="Aptos"/>
              </a:rPr>
              <a:t>ACTUAL OUTPUT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50" name="Picture 4" descr="dbms_logo_clean.png"/>
          <p:cNvPicPr/>
          <p:nvPr/>
        </p:nvPicPr>
        <p:blipFill>
          <a:blip r:embed="rId1"/>
          <a:stretch/>
        </p:blipFill>
        <p:spPr>
          <a:xfrm>
            <a:off x="10012680" y="173880"/>
            <a:ext cx="1627200" cy="306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51" name="Rectangle 5"/>
          <p:cNvSpPr/>
          <p:nvPr/>
        </p:nvSpPr>
        <p:spPr>
          <a:xfrm>
            <a:off x="567000" y="6473880"/>
            <a:ext cx="10926720" cy="13320"/>
          </a:xfrm>
          <a:prstGeom prst="rect">
            <a:avLst/>
          </a:prstGeom>
          <a:solidFill>
            <a:srgbClr val="dce4e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1320" bIns="-313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52" name="TextBox 6"/>
          <p:cNvSpPr/>
          <p:nvPr/>
        </p:nvSpPr>
        <p:spPr>
          <a:xfrm>
            <a:off x="585360" y="6519600"/>
            <a:ext cx="47545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0" lang="en-US" sz="750" strike="noStrike" u="none">
                <a:solidFill>
                  <a:srgbClr val="647484"/>
                </a:solidFill>
                <a:effectLst/>
                <a:uFillTx/>
                <a:latin typeface="Aptos"/>
              </a:rPr>
              <a:t>DBMS • E-COMMERCE MANAGEMENT SYSTEM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3" name="TextBox 7"/>
          <p:cNvSpPr/>
          <p:nvPr/>
        </p:nvSpPr>
        <p:spPr>
          <a:xfrm>
            <a:off x="10972800" y="6492240"/>
            <a:ext cx="3837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800" strike="noStrike" u="none">
                <a:solidFill>
                  <a:srgbClr val="647484"/>
                </a:solidFill>
                <a:effectLst/>
                <a:uFillTx/>
                <a:latin typeface="Aptos"/>
              </a:rPr>
              <a:t>22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4" name="Rounded Rectangle 8"/>
          <p:cNvSpPr/>
          <p:nvPr/>
        </p:nvSpPr>
        <p:spPr>
          <a:xfrm>
            <a:off x="640080" y="1188720"/>
            <a:ext cx="6720480" cy="45259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ce4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655" name="Picture 9" descr="1000253761.jpg"/>
          <p:cNvPicPr/>
          <p:nvPr/>
        </p:nvPicPr>
        <p:blipFill>
          <a:blip r:embed="rId2"/>
          <a:stretch/>
        </p:blipFill>
        <p:spPr>
          <a:xfrm>
            <a:off x="411480" y="1133856"/>
            <a:ext cx="6995160" cy="4590288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56" name="TextBox 10"/>
          <p:cNvSpPr/>
          <p:nvPr/>
        </p:nvSpPr>
        <p:spPr>
          <a:xfrm>
            <a:off x="411480" y="5769864"/>
            <a:ext cx="6995160" cy="210312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wrap="square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819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Actual project dashboard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7" name="Rounded Rectangle 11"/>
          <p:cNvSpPr/>
          <p:nvPr/>
        </p:nvSpPr>
        <p:spPr>
          <a:xfrm>
            <a:off x="7635240" y="1325880"/>
            <a:ext cx="3749039" cy="2057040"/>
          </a:xfrm>
          <a:prstGeom prst="roundRect">
            <a:avLst>
              <a:gd name="adj" fmla="val 16667"/>
            </a:avLst>
          </a:prstGeom>
          <a:solidFill>
            <a:srgbClr val="eff9f4"/>
          </a:solidFill>
          <a:ln>
            <a:solidFill>
              <a:srgbClr val="dce4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58" name="TextBox 12"/>
          <p:cNvSpPr/>
          <p:nvPr/>
        </p:nvSpPr>
        <p:spPr>
          <a:xfrm>
            <a:off x="7799831" y="1435680"/>
            <a:ext cx="3419856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trike="noStrike" u="none">
                <a:solidFill>
                  <a:srgbClr val="278b5d"/>
                </a:solidFill>
                <a:effectLst/>
                <a:uFillTx/>
                <a:latin typeface="Aptos"/>
              </a:rPr>
              <a:t>Visible project snapshot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9" name="TextBox 13"/>
          <p:cNvSpPr/>
          <p:nvPr/>
        </p:nvSpPr>
        <p:spPr>
          <a:xfrm>
            <a:off x="7799831" y="1783080"/>
            <a:ext cx="3419856" cy="150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200" strike="noStrike" u="none">
                <a:solidFill>
                  <a:srgbClr val="2a3745"/>
                </a:solidFill>
                <a:effectLst/>
                <a:uFillTx/>
                <a:latin typeface="Aptos"/>
              </a:rPr>
              <a:t>12 products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en-US" sz="1200" strike="noStrike" u="none">
                <a:solidFill>
                  <a:srgbClr val="2a3745"/>
                </a:solidFill>
                <a:effectLst/>
                <a:uFillTx/>
                <a:latin typeface="Aptos"/>
              </a:rPr>
              <a:t>5 customers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en-US" sz="1200" strike="noStrike" u="none">
                <a:solidFill>
                  <a:srgbClr val="2a3745"/>
                </a:solidFill>
                <a:effectLst/>
                <a:uFillTx/>
                <a:latin typeface="Aptos"/>
              </a:rPr>
              <a:t>9 orders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en-US" sz="1200" strike="noStrike" u="none">
                <a:solidFill>
                  <a:srgbClr val="2a3745"/>
                </a:solidFill>
                <a:effectLst/>
                <a:uFillTx/>
                <a:latin typeface="Aptos"/>
              </a:rPr>
              <a:t>₹23,736.45 total sales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en-US" sz="1200" strike="noStrike" u="none">
                <a:solidFill>
                  <a:srgbClr val="2a3745"/>
                </a:solidFill>
                <a:effectLst/>
                <a:uFillTx/>
                <a:latin typeface="Aptos"/>
              </a:rPr>
              <a:t>629 units on hand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2a3745"/>
                </a:solidFill>
                <a:effectLst/>
                <a:uFillTx/>
                <a:latin typeface="Aptos"/>
              </a:rPr>
              <a:t>5 categories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0" name="Rounded Rectangle 14"/>
          <p:cNvSpPr/>
          <p:nvPr/>
        </p:nvSpPr>
        <p:spPr>
          <a:xfrm>
            <a:off x="7635240" y="3657600"/>
            <a:ext cx="3749039" cy="1371240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>
            <a:solidFill>
              <a:srgbClr val="dce4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61" name="TextBox 15"/>
          <p:cNvSpPr/>
          <p:nvPr/>
        </p:nvSpPr>
        <p:spPr>
          <a:xfrm>
            <a:off x="7799831" y="3767400"/>
            <a:ext cx="3419856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2466d6"/>
                </a:solidFill>
                <a:effectLst/>
                <a:uFillTx/>
                <a:latin typeface="Aptos"/>
              </a:rPr>
              <a:t>Why it matters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2" name="TextBox 16"/>
          <p:cNvSpPr/>
          <p:nvPr/>
        </p:nvSpPr>
        <p:spPr>
          <a:xfrm>
            <a:off x="7799831" y="4114800"/>
            <a:ext cx="3419856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20" strike="noStrike" u="none">
                <a:solidFill>
                  <a:srgbClr val="2a3745"/>
                </a:solidFill>
                <a:effectLst/>
                <a:uFillTx/>
                <a:latin typeface="Aptos"/>
              </a:rPr>
              <a:t>Dashboard values are retrieved from the database and summarise operational records rather than being static presentation data.</a:t>
            </a:r>
            <a:endParaRPr b="0" lang="en-US" sz="11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Rectangle 1"/>
          <p:cNvSpPr/>
          <p:nvPr/>
        </p:nvSpPr>
        <p:spPr>
          <a:xfrm>
            <a:off x="0" y="0"/>
            <a:ext cx="12191760" cy="82080"/>
          </a:xfrm>
          <a:prstGeom prst="rect">
            <a:avLst/>
          </a:prstGeom>
          <a:solidFill>
            <a:srgbClr val="2466d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37440" bIns="37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64" name="TextBox 2"/>
          <p:cNvSpPr/>
          <p:nvPr/>
        </p:nvSpPr>
        <p:spPr>
          <a:xfrm>
            <a:off x="567000" y="311040"/>
            <a:ext cx="813780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500" strike="noStrike" u="none">
                <a:solidFill>
                  <a:srgbClr val="112b44"/>
                </a:solidFill>
                <a:effectLst/>
                <a:uFillTx/>
                <a:latin typeface="Aptos"/>
              </a:rPr>
              <a:t>Implementation Verification</a:t>
            </a:r>
            <a:endParaRPr b="0" lang="en-US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5" name="TextBox 3"/>
          <p:cNvSpPr/>
          <p:nvPr/>
        </p:nvSpPr>
        <p:spPr>
          <a:xfrm>
            <a:off x="7452360" y="356616"/>
            <a:ext cx="2331720" cy="256032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wrap="square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919" strike="noStrike" u="none">
                <a:solidFill>
                  <a:srgbClr val="2466D6"/>
                </a:solidFill>
                <a:effectLst/>
                <a:uFillTx/>
                <a:latin typeface="Aptos"/>
              </a:rPr>
              <a:t>RESULTS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66" name="Picture 4" descr="dbms_logo_clean.png"/>
          <p:cNvPicPr/>
          <p:nvPr/>
        </p:nvPicPr>
        <p:blipFill>
          <a:blip r:embed="rId1"/>
          <a:stretch/>
        </p:blipFill>
        <p:spPr>
          <a:xfrm>
            <a:off x="10012680" y="173880"/>
            <a:ext cx="1627200" cy="306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67" name="Rectangle 5"/>
          <p:cNvSpPr/>
          <p:nvPr/>
        </p:nvSpPr>
        <p:spPr>
          <a:xfrm>
            <a:off x="567000" y="6473880"/>
            <a:ext cx="10926720" cy="13320"/>
          </a:xfrm>
          <a:prstGeom prst="rect">
            <a:avLst/>
          </a:prstGeom>
          <a:solidFill>
            <a:srgbClr val="dce4e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1320" bIns="-313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68" name="TextBox 6"/>
          <p:cNvSpPr/>
          <p:nvPr/>
        </p:nvSpPr>
        <p:spPr>
          <a:xfrm>
            <a:off x="585360" y="6519600"/>
            <a:ext cx="47545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0" lang="en-US" sz="750" strike="noStrike" u="none">
                <a:solidFill>
                  <a:srgbClr val="647484"/>
                </a:solidFill>
                <a:effectLst/>
                <a:uFillTx/>
                <a:latin typeface="Aptos"/>
              </a:rPr>
              <a:t>DBMS • E-COMMERCE MANAGEMENT SYSTEM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9" name="TextBox 7"/>
          <p:cNvSpPr/>
          <p:nvPr/>
        </p:nvSpPr>
        <p:spPr>
          <a:xfrm>
            <a:off x="10972800" y="6492240"/>
            <a:ext cx="3837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800" strike="noStrike" u="none">
                <a:solidFill>
                  <a:srgbClr val="647484"/>
                </a:solidFill>
                <a:effectLst/>
                <a:uFillTx/>
                <a:latin typeface="Aptos"/>
              </a:rPr>
              <a:t>23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0" name="Rounded Rectangle 8"/>
          <p:cNvSpPr/>
          <p:nvPr/>
        </p:nvSpPr>
        <p:spPr>
          <a:xfrm>
            <a:off x="658440" y="1143000"/>
            <a:ext cx="5074560" cy="1078560"/>
          </a:xfrm>
          <a:prstGeom prst="roundRect">
            <a:avLst>
              <a:gd name="adj" fmla="val 16667"/>
            </a:avLst>
          </a:prstGeom>
          <a:solidFill>
            <a:srgbClr val="eff9f4"/>
          </a:solidFill>
          <a:ln>
            <a:solidFill>
              <a:srgbClr val="dce4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71" name="TextBox 9"/>
          <p:cNvSpPr/>
          <p:nvPr/>
        </p:nvSpPr>
        <p:spPr>
          <a:xfrm>
            <a:off x="822960" y="1252800"/>
            <a:ext cx="47455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50" strike="noStrike" u="none">
                <a:solidFill>
                  <a:srgbClr val="278b5d"/>
                </a:solidFill>
                <a:effectLst/>
                <a:uFillTx/>
                <a:latin typeface="Aptos"/>
              </a:rPr>
              <a:t>✓  Database connectivity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2" name="TextBox 10"/>
          <p:cNvSpPr/>
          <p:nvPr/>
        </p:nvSpPr>
        <p:spPr>
          <a:xfrm>
            <a:off x="822960" y="1600200"/>
            <a:ext cx="474552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2a3745"/>
                </a:solidFill>
                <a:effectLst/>
                <a:uFillTx/>
                <a:latin typeface="Aptos"/>
              </a:rPr>
              <a:t>/test-db reports a successful MySQL connection.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3" name="Rounded Rectangle 11"/>
          <p:cNvSpPr/>
          <p:nvPr/>
        </p:nvSpPr>
        <p:spPr>
          <a:xfrm>
            <a:off x="6190560" y="1143000"/>
            <a:ext cx="5074560" cy="1078560"/>
          </a:xfrm>
          <a:prstGeom prst="roundRect">
            <a:avLst>
              <a:gd name="adj" fmla="val 16667"/>
            </a:avLst>
          </a:prstGeom>
          <a:solidFill>
            <a:srgbClr val="eff9f4"/>
          </a:solidFill>
          <a:ln>
            <a:solidFill>
              <a:srgbClr val="dce4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74" name="TextBox 12"/>
          <p:cNvSpPr/>
          <p:nvPr/>
        </p:nvSpPr>
        <p:spPr>
          <a:xfrm>
            <a:off x="6355080" y="1252800"/>
            <a:ext cx="47455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50" strike="noStrike" u="none">
                <a:solidFill>
                  <a:srgbClr val="278b5d"/>
                </a:solidFill>
                <a:effectLst/>
                <a:uFillTx/>
                <a:latin typeface="Aptos"/>
              </a:rPr>
              <a:t>✓  Stored procedures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5" name="TextBox 13"/>
          <p:cNvSpPr/>
          <p:nvPr/>
        </p:nvSpPr>
        <p:spPr>
          <a:xfrm>
            <a:off x="6355080" y="1600200"/>
            <a:ext cx="474552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2a3745"/>
                </a:solidFill>
                <a:effectLst/>
                <a:uFillTx/>
                <a:latin typeface="Aptos"/>
              </a:rPr>
              <a:t>Reports page executes sales summary and customer order procedures.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6" name="Rounded Rectangle 14"/>
          <p:cNvSpPr/>
          <p:nvPr/>
        </p:nvSpPr>
        <p:spPr>
          <a:xfrm>
            <a:off x="658440" y="2496240"/>
            <a:ext cx="5074560" cy="1078560"/>
          </a:xfrm>
          <a:prstGeom prst="roundRect">
            <a:avLst>
              <a:gd name="adj" fmla="val 16667"/>
            </a:avLst>
          </a:prstGeom>
          <a:solidFill>
            <a:srgbClr val="eff9f4"/>
          </a:solidFill>
          <a:ln>
            <a:solidFill>
              <a:srgbClr val="dce4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77" name="TextBox 15"/>
          <p:cNvSpPr/>
          <p:nvPr/>
        </p:nvSpPr>
        <p:spPr>
          <a:xfrm>
            <a:off x="822960" y="2606040"/>
            <a:ext cx="47455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50" strike="noStrike" u="none">
                <a:solidFill>
                  <a:srgbClr val="278b5d"/>
                </a:solidFill>
                <a:effectLst/>
                <a:uFillTx/>
                <a:latin typeface="Aptos"/>
              </a:rPr>
              <a:t>✓  Views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8" name="TextBox 16"/>
          <p:cNvSpPr/>
          <p:nvPr/>
        </p:nvSpPr>
        <p:spPr>
          <a:xfrm>
            <a:off x="822960" y="2953440"/>
            <a:ext cx="474552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2a3745"/>
                </a:solidFill>
                <a:effectLst/>
                <a:uFillTx/>
                <a:latin typeface="Aptos"/>
              </a:rPr>
              <a:t>Application queries product_sales and sales_report for reporting.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9" name="Rounded Rectangle 17"/>
          <p:cNvSpPr/>
          <p:nvPr/>
        </p:nvSpPr>
        <p:spPr>
          <a:xfrm>
            <a:off x="6190560" y="2496240"/>
            <a:ext cx="5074560" cy="1078560"/>
          </a:xfrm>
          <a:prstGeom prst="roundRect">
            <a:avLst>
              <a:gd name="adj" fmla="val 16667"/>
            </a:avLst>
          </a:prstGeom>
          <a:solidFill>
            <a:srgbClr val="eff9f4"/>
          </a:solidFill>
          <a:ln>
            <a:solidFill>
              <a:srgbClr val="dce4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80" name="TextBox 18"/>
          <p:cNvSpPr/>
          <p:nvPr/>
        </p:nvSpPr>
        <p:spPr>
          <a:xfrm>
            <a:off x="6355080" y="2606040"/>
            <a:ext cx="47455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50" strike="noStrike" u="none">
                <a:solidFill>
                  <a:srgbClr val="278b5d"/>
                </a:solidFill>
                <a:effectLst/>
                <a:uFillTx/>
                <a:latin typeface="Aptos"/>
              </a:rPr>
              <a:t>✓  Integrity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1" name="TextBox 19"/>
          <p:cNvSpPr/>
          <p:nvPr/>
        </p:nvSpPr>
        <p:spPr>
          <a:xfrm>
            <a:off x="6355080" y="2953440"/>
            <a:ext cx="474552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152" rIns="73152" tIns="36576" bIns="36576" anchor="ctr" wrap="square">
            <a:spAutoFit/>
          </a:bodyPr>
          <a:p>
            <a:pPr defTabSz="457200" algn="l">
              <a:lnSpc>
                <a:spcPct val="100000"/>
              </a:lnSpc>
            </a:pPr>
            <a:r>
              <a:rPr sz="770" b="0">
                <a:solidFill>
                  <a:srgbClr val="1F2937"/>
                </a:solidFill>
                <a:latin typeface="Aptos"/>
              </a:rPr>
              <a:t>Schema defines PK, FK, NOT NULL, UNIQUE and CHECK constraints; selected integrity behaviour is validated in the application.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2" name="Rounded Rectangle 20"/>
          <p:cNvSpPr/>
          <p:nvPr/>
        </p:nvSpPr>
        <p:spPr>
          <a:xfrm>
            <a:off x="658440" y="3849480"/>
            <a:ext cx="5074560" cy="1078560"/>
          </a:xfrm>
          <a:prstGeom prst="roundRect">
            <a:avLst>
              <a:gd name="adj" fmla="val 16667"/>
            </a:avLst>
          </a:prstGeom>
          <a:solidFill>
            <a:srgbClr val="eff9f4"/>
          </a:solidFill>
          <a:ln>
            <a:solidFill>
              <a:srgbClr val="dce4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83" name="TextBox 21"/>
          <p:cNvSpPr/>
          <p:nvPr/>
        </p:nvSpPr>
        <p:spPr>
          <a:xfrm>
            <a:off x="822960" y="3959280"/>
            <a:ext cx="47455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50" strike="noStrike" u="none">
                <a:solidFill>
                  <a:srgbClr val="278b5d"/>
                </a:solidFill>
                <a:effectLst/>
                <a:uFillTx/>
                <a:latin typeface="Aptos"/>
              </a:rPr>
              <a:t>✓  Transactions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4" name="TextBox 22"/>
          <p:cNvSpPr/>
          <p:nvPr/>
        </p:nvSpPr>
        <p:spPr>
          <a:xfrm>
            <a:off x="822960" y="4306680"/>
            <a:ext cx="474552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2a3745"/>
                </a:solidFill>
                <a:effectLst/>
                <a:uFillTx/>
                <a:latin typeface="Aptos"/>
              </a:rPr>
              <a:t>Write operations use explicit COMMIT / ROLLBACK handling.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5" name="Rounded Rectangle 23"/>
          <p:cNvSpPr/>
          <p:nvPr/>
        </p:nvSpPr>
        <p:spPr>
          <a:xfrm>
            <a:off x="6190560" y="3849480"/>
            <a:ext cx="5074560" cy="1078560"/>
          </a:xfrm>
          <a:prstGeom prst="roundRect">
            <a:avLst>
              <a:gd name="adj" fmla="val 16667"/>
            </a:avLst>
          </a:prstGeom>
          <a:solidFill>
            <a:srgbClr val="eff9f4"/>
          </a:solidFill>
          <a:ln>
            <a:solidFill>
              <a:srgbClr val="dce4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86" name="TextBox 24"/>
          <p:cNvSpPr/>
          <p:nvPr/>
        </p:nvSpPr>
        <p:spPr>
          <a:xfrm>
            <a:off x="6355080" y="3959280"/>
            <a:ext cx="47455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50" strike="noStrike" u="none">
                <a:solidFill>
                  <a:srgbClr val="278b5d"/>
                </a:solidFill>
                <a:effectLst/>
                <a:uFillTx/>
                <a:latin typeface="Aptos"/>
              </a:rPr>
              <a:t>✓  Working modules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7" name="TextBox 25"/>
          <p:cNvSpPr/>
          <p:nvPr/>
        </p:nvSpPr>
        <p:spPr>
          <a:xfrm>
            <a:off x="6355080" y="4306680"/>
            <a:ext cx="474552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2a3745"/>
                </a:solidFill>
                <a:effectLst/>
                <a:uFillTx/>
                <a:latin typeface="Aptos"/>
              </a:rPr>
              <a:t>Products, categories, sellers, customers, orders, cart, coupons, inventory, reviews and reports are evidenced.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8" name="Rounded Rectangle 26"/>
          <p:cNvSpPr/>
          <p:nvPr/>
        </p:nvSpPr>
        <p:spPr>
          <a:xfrm>
            <a:off x="1554480" y="5321808"/>
            <a:ext cx="9189360" cy="850392"/>
          </a:xfrm>
          <a:prstGeom prst="roundRect">
            <a:avLst>
              <a:gd name="adj" fmla="val 16667"/>
            </a:avLst>
          </a:prstGeom>
          <a:solidFill>
            <a:srgbClr val="fff6ef"/>
          </a:solidFill>
          <a:ln>
            <a:solidFill>
              <a:srgbClr val="dce4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89" name="TextBox 27"/>
          <p:cNvSpPr/>
          <p:nvPr/>
        </p:nvSpPr>
        <p:spPr>
          <a:xfrm>
            <a:off x="1719000" y="5404104"/>
            <a:ext cx="8860320" cy="246888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50" strike="noStrike" u="none">
                <a:solidFill>
                  <a:srgbClr val="e26823"/>
                </a:solidFill>
                <a:effectLst/>
                <a:uFillTx/>
                <a:latin typeface="Aptos"/>
              </a:rPr>
              <a:t>Result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0" name="TextBox 28"/>
          <p:cNvSpPr/>
          <p:nvPr/>
        </p:nvSpPr>
        <p:spPr>
          <a:xfrm>
            <a:off x="1719000" y="5705856"/>
            <a:ext cx="8860320" cy="310896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36576" bIns="36576" anchor="ctr" wrap="square">
            <a:spAutoFit/>
          </a:bodyPr>
          <a:p>
            <a:pPr defTabSz="457200" algn="ctr">
              <a:lnSpc>
                <a:spcPct val="100000"/>
              </a:lnSpc>
            </a:pPr>
            <a:r>
              <a:rPr sz="800" b="0">
                <a:solidFill>
                  <a:srgbClr val="1F2937"/>
                </a:solidFill>
                <a:latin typeface="Aptos"/>
              </a:rPr>
              <a:t>The project demonstrates a working DBMS-backed application with relational design, SQL retrieval, reporting-object consumption, and transaction handling.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Rectangle 1"/>
          <p:cNvSpPr/>
          <p:nvPr/>
        </p:nvSpPr>
        <p:spPr>
          <a:xfrm>
            <a:off x="0" y="0"/>
            <a:ext cx="12191760" cy="82080"/>
          </a:xfrm>
          <a:prstGeom prst="rect">
            <a:avLst/>
          </a:prstGeom>
          <a:solidFill>
            <a:srgbClr val="2466d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37440" bIns="37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92" name="TextBox 2"/>
          <p:cNvSpPr/>
          <p:nvPr/>
        </p:nvSpPr>
        <p:spPr>
          <a:xfrm>
            <a:off x="567000" y="311040"/>
            <a:ext cx="813780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500" strike="noStrike" u="none">
                <a:solidFill>
                  <a:srgbClr val="112b44"/>
                </a:solidFill>
                <a:effectLst/>
                <a:uFillTx/>
                <a:latin typeface="Aptos"/>
              </a:rPr>
              <a:t>Future Scope</a:t>
            </a:r>
            <a:endParaRPr b="0" lang="en-US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3" name="TextBox 3"/>
          <p:cNvSpPr/>
          <p:nvPr/>
        </p:nvSpPr>
        <p:spPr>
          <a:xfrm>
            <a:off x="7452360" y="356616"/>
            <a:ext cx="2331720" cy="256032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wrap="square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919" strike="noStrike" u="none">
                <a:solidFill>
                  <a:srgbClr val="2466D6"/>
                </a:solidFill>
                <a:effectLst/>
                <a:uFillTx/>
                <a:latin typeface="Aptos"/>
              </a:rPr>
              <a:t>NEXT DEVELOPMENT OPPORTUNITIES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94" name="Picture 4" descr="dbms_logo_clean.png"/>
          <p:cNvPicPr/>
          <p:nvPr/>
        </p:nvPicPr>
        <p:blipFill>
          <a:blip r:embed="rId1"/>
          <a:stretch/>
        </p:blipFill>
        <p:spPr>
          <a:xfrm>
            <a:off x="10012680" y="173880"/>
            <a:ext cx="1627200" cy="306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95" name="Rectangle 5"/>
          <p:cNvSpPr/>
          <p:nvPr/>
        </p:nvSpPr>
        <p:spPr>
          <a:xfrm>
            <a:off x="567000" y="6473880"/>
            <a:ext cx="10926720" cy="13320"/>
          </a:xfrm>
          <a:prstGeom prst="rect">
            <a:avLst/>
          </a:prstGeom>
          <a:solidFill>
            <a:srgbClr val="dce4e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1320" bIns="-313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96" name="TextBox 6"/>
          <p:cNvSpPr/>
          <p:nvPr/>
        </p:nvSpPr>
        <p:spPr>
          <a:xfrm>
            <a:off x="585360" y="6519600"/>
            <a:ext cx="47545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0" lang="en-US" sz="750" strike="noStrike" u="none">
                <a:solidFill>
                  <a:srgbClr val="647484"/>
                </a:solidFill>
                <a:effectLst/>
                <a:uFillTx/>
                <a:latin typeface="Aptos"/>
              </a:rPr>
              <a:t>DBMS • E-COMMERCE MANAGEMENT SYSTEM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7" name="TextBox 7"/>
          <p:cNvSpPr/>
          <p:nvPr/>
        </p:nvSpPr>
        <p:spPr>
          <a:xfrm>
            <a:off x="10972800" y="6492240"/>
            <a:ext cx="3837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800" strike="noStrike" u="none">
                <a:solidFill>
                  <a:srgbClr val="647484"/>
                </a:solidFill>
                <a:effectLst/>
                <a:uFillTx/>
                <a:latin typeface="Aptos"/>
              </a:rPr>
              <a:t>24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8" name="Oval 8"/>
          <p:cNvSpPr/>
          <p:nvPr/>
        </p:nvSpPr>
        <p:spPr>
          <a:xfrm>
            <a:off x="658440" y="1143000"/>
            <a:ext cx="420120" cy="420120"/>
          </a:xfrm>
          <a:prstGeom prst="ellipse">
            <a:avLst/>
          </a:prstGeom>
          <a:solidFill>
            <a:srgbClr val="2466d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99" name="TextBox 9"/>
          <p:cNvSpPr/>
          <p:nvPr/>
        </p:nvSpPr>
        <p:spPr>
          <a:xfrm>
            <a:off x="658440" y="1152000"/>
            <a:ext cx="420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01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0" name="TextBox 10"/>
          <p:cNvSpPr/>
          <p:nvPr/>
        </p:nvSpPr>
        <p:spPr>
          <a:xfrm>
            <a:off x="1225440" y="1124640"/>
            <a:ext cx="4507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112b44"/>
                </a:solidFill>
                <a:effectLst/>
                <a:uFillTx/>
                <a:latin typeface="Aptos"/>
              </a:rPr>
              <a:t>AI recommendations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1" name="TextBox 11"/>
          <p:cNvSpPr/>
          <p:nvPr/>
        </p:nvSpPr>
        <p:spPr>
          <a:xfrm>
            <a:off x="1225440" y="1454040"/>
            <a:ext cx="450756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80" strike="noStrike" u="none">
                <a:solidFill>
                  <a:srgbClr val="647484"/>
                </a:solidFill>
                <a:effectLst/>
                <a:uFillTx/>
                <a:latin typeface="Aptos"/>
              </a:rPr>
              <a:t>Personalised product suggestions using customer behaviour.</a:t>
            </a:r>
            <a:endParaRPr b="0" lang="en-US" sz="10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2" name="Oval 12"/>
          <p:cNvSpPr/>
          <p:nvPr/>
        </p:nvSpPr>
        <p:spPr>
          <a:xfrm>
            <a:off x="6190560" y="1143000"/>
            <a:ext cx="420120" cy="420120"/>
          </a:xfrm>
          <a:prstGeom prst="ellipse">
            <a:avLst/>
          </a:prstGeom>
          <a:solidFill>
            <a:srgbClr val="e2682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03" name="TextBox 13"/>
          <p:cNvSpPr/>
          <p:nvPr/>
        </p:nvSpPr>
        <p:spPr>
          <a:xfrm>
            <a:off x="6190560" y="1152000"/>
            <a:ext cx="420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02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4" name="TextBox 14"/>
          <p:cNvSpPr/>
          <p:nvPr/>
        </p:nvSpPr>
        <p:spPr>
          <a:xfrm>
            <a:off x="6757560" y="1124640"/>
            <a:ext cx="4507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112b44"/>
                </a:solidFill>
                <a:effectLst/>
                <a:uFillTx/>
                <a:latin typeface="Aptos"/>
              </a:rPr>
              <a:t>Advanced analytics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5" name="TextBox 15"/>
          <p:cNvSpPr/>
          <p:nvPr/>
        </p:nvSpPr>
        <p:spPr>
          <a:xfrm>
            <a:off x="6757560" y="1454040"/>
            <a:ext cx="450756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80" strike="noStrike" u="none">
                <a:solidFill>
                  <a:srgbClr val="647484"/>
                </a:solidFill>
                <a:effectLst/>
                <a:uFillTx/>
                <a:latin typeface="Aptos"/>
              </a:rPr>
              <a:t>More detailed dashboards and customer insights.</a:t>
            </a:r>
            <a:endParaRPr b="0" lang="en-US" sz="10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6" name="Oval 16"/>
          <p:cNvSpPr/>
          <p:nvPr/>
        </p:nvSpPr>
        <p:spPr>
          <a:xfrm>
            <a:off x="658440" y="2496240"/>
            <a:ext cx="420120" cy="420120"/>
          </a:xfrm>
          <a:prstGeom prst="ellipse">
            <a:avLst/>
          </a:prstGeom>
          <a:solidFill>
            <a:srgbClr val="278b5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07" name="TextBox 17"/>
          <p:cNvSpPr/>
          <p:nvPr/>
        </p:nvSpPr>
        <p:spPr>
          <a:xfrm>
            <a:off x="658440" y="2505600"/>
            <a:ext cx="420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03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8" name="TextBox 18"/>
          <p:cNvSpPr/>
          <p:nvPr/>
        </p:nvSpPr>
        <p:spPr>
          <a:xfrm>
            <a:off x="1225440" y="2477880"/>
            <a:ext cx="4507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112b44"/>
                </a:solidFill>
                <a:effectLst/>
                <a:uFillTx/>
                <a:latin typeface="Aptos"/>
              </a:rPr>
              <a:t>Inventory prediction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9" name="TextBox 19"/>
          <p:cNvSpPr/>
          <p:nvPr/>
        </p:nvSpPr>
        <p:spPr>
          <a:xfrm>
            <a:off x="1225440" y="2807280"/>
            <a:ext cx="450756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80" strike="noStrike" u="none">
                <a:solidFill>
                  <a:srgbClr val="647484"/>
                </a:solidFill>
                <a:effectLst/>
                <a:uFillTx/>
                <a:latin typeface="Aptos"/>
              </a:rPr>
              <a:t>Forecast demand and improve stock planning.</a:t>
            </a:r>
            <a:endParaRPr b="0" lang="en-US" sz="10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0" name="Oval 20"/>
          <p:cNvSpPr/>
          <p:nvPr/>
        </p:nvSpPr>
        <p:spPr>
          <a:xfrm>
            <a:off x="6190560" y="2496240"/>
            <a:ext cx="420120" cy="420120"/>
          </a:xfrm>
          <a:prstGeom prst="ellipse">
            <a:avLst/>
          </a:prstGeom>
          <a:solidFill>
            <a:srgbClr val="2466d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11" name="TextBox 21"/>
          <p:cNvSpPr/>
          <p:nvPr/>
        </p:nvSpPr>
        <p:spPr>
          <a:xfrm>
            <a:off x="6190560" y="2505600"/>
            <a:ext cx="420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04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2" name="TextBox 22"/>
          <p:cNvSpPr/>
          <p:nvPr/>
        </p:nvSpPr>
        <p:spPr>
          <a:xfrm>
            <a:off x="6757560" y="2477880"/>
            <a:ext cx="4507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112b44"/>
                </a:solidFill>
                <a:effectLst/>
                <a:uFillTx/>
                <a:latin typeface="Aptos"/>
              </a:rPr>
              <a:t>Payment integration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3" name="TextBox 23"/>
          <p:cNvSpPr/>
          <p:nvPr/>
        </p:nvSpPr>
        <p:spPr>
          <a:xfrm>
            <a:off x="6757560" y="2807280"/>
            <a:ext cx="450756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80" strike="noStrike" u="none">
                <a:solidFill>
                  <a:srgbClr val="647484"/>
                </a:solidFill>
                <a:effectLst/>
                <a:uFillTx/>
                <a:latin typeface="Aptos"/>
              </a:rPr>
              <a:t>Support additional secure payment methods.</a:t>
            </a:r>
            <a:endParaRPr b="0" lang="en-US" sz="10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4" name="Oval 24"/>
          <p:cNvSpPr/>
          <p:nvPr/>
        </p:nvSpPr>
        <p:spPr>
          <a:xfrm>
            <a:off x="658440" y="3849480"/>
            <a:ext cx="420120" cy="420120"/>
          </a:xfrm>
          <a:prstGeom prst="ellipse">
            <a:avLst/>
          </a:prstGeom>
          <a:solidFill>
            <a:srgbClr val="e2682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15" name="TextBox 25"/>
          <p:cNvSpPr/>
          <p:nvPr/>
        </p:nvSpPr>
        <p:spPr>
          <a:xfrm>
            <a:off x="658440" y="3858840"/>
            <a:ext cx="420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05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6" name="TextBox 26"/>
          <p:cNvSpPr/>
          <p:nvPr/>
        </p:nvSpPr>
        <p:spPr>
          <a:xfrm>
            <a:off x="1225440" y="3831480"/>
            <a:ext cx="4507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112b44"/>
                </a:solidFill>
                <a:effectLst/>
                <a:uFillTx/>
                <a:latin typeface="Aptos"/>
              </a:rPr>
              <a:t>Cloud scalability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7" name="TextBox 27"/>
          <p:cNvSpPr/>
          <p:nvPr/>
        </p:nvSpPr>
        <p:spPr>
          <a:xfrm>
            <a:off x="1225440" y="4160520"/>
            <a:ext cx="450756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80" strike="noStrike" u="none">
                <a:solidFill>
                  <a:srgbClr val="647484"/>
                </a:solidFill>
                <a:effectLst/>
                <a:uFillTx/>
                <a:latin typeface="Aptos"/>
              </a:rPr>
              <a:t>Support larger workloads and distributed deployment.</a:t>
            </a:r>
            <a:endParaRPr b="0" lang="en-US" sz="10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8" name="Oval 28"/>
          <p:cNvSpPr/>
          <p:nvPr/>
        </p:nvSpPr>
        <p:spPr>
          <a:xfrm>
            <a:off x="6190560" y="3849480"/>
            <a:ext cx="420120" cy="420120"/>
          </a:xfrm>
          <a:prstGeom prst="ellipse">
            <a:avLst/>
          </a:prstGeom>
          <a:solidFill>
            <a:srgbClr val="278b5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19" name="TextBox 29"/>
          <p:cNvSpPr/>
          <p:nvPr/>
        </p:nvSpPr>
        <p:spPr>
          <a:xfrm>
            <a:off x="6190560" y="3858840"/>
            <a:ext cx="420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06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0" name="TextBox 30"/>
          <p:cNvSpPr/>
          <p:nvPr/>
        </p:nvSpPr>
        <p:spPr>
          <a:xfrm>
            <a:off x="6757560" y="3831480"/>
            <a:ext cx="4507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112b44"/>
                </a:solidFill>
                <a:effectLst/>
                <a:uFillTx/>
                <a:latin typeface="Aptos"/>
              </a:rPr>
              <a:t>Mobile experience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1" name="TextBox 31"/>
          <p:cNvSpPr/>
          <p:nvPr/>
        </p:nvSpPr>
        <p:spPr>
          <a:xfrm>
            <a:off x="6757560" y="4160520"/>
            <a:ext cx="450756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80" strike="noStrike" u="none">
                <a:solidFill>
                  <a:srgbClr val="647484"/>
                </a:solidFill>
                <a:effectLst/>
                <a:uFillTx/>
                <a:latin typeface="Aptos"/>
              </a:rPr>
              <a:t>Extend the system to responsive/mobile applications.</a:t>
            </a:r>
            <a:endParaRPr b="0" lang="en-US" sz="10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2" name="Rounded Rectangle 32"/>
          <p:cNvSpPr/>
          <p:nvPr/>
        </p:nvSpPr>
        <p:spPr>
          <a:xfrm>
            <a:off x="1828800" y="5532120"/>
            <a:ext cx="8503560" cy="639720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>
            <a:solidFill>
              <a:srgbClr val="dce4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23" name="TextBox 33"/>
          <p:cNvSpPr/>
          <p:nvPr/>
        </p:nvSpPr>
        <p:spPr>
          <a:xfrm>
            <a:off x="1993320" y="5641920"/>
            <a:ext cx="81745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50" strike="noStrike" u="none">
                <a:solidFill>
                  <a:srgbClr val="2466d6"/>
                </a:solidFill>
                <a:effectLst/>
                <a:uFillTx/>
                <a:latin typeface="Aptos"/>
              </a:rPr>
              <a:t>Scope note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4" name="TextBox 34"/>
          <p:cNvSpPr/>
          <p:nvPr/>
        </p:nvSpPr>
        <p:spPr>
          <a:xfrm>
            <a:off x="1993320" y="5989320"/>
            <a:ext cx="8174520" cy="9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30" strike="noStrike" u="none">
                <a:solidFill>
                  <a:srgbClr val="2a3745"/>
                </a:solidFill>
                <a:effectLst/>
                <a:uFillTx/>
                <a:latin typeface="Aptos"/>
              </a:rPr>
              <a:t>These are future enhancements; the current project focuses on the implemented relational DBMS and web application.</a:t>
            </a:r>
            <a:endParaRPr b="0" lang="en-US" sz="10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Rectangle 1"/>
          <p:cNvSpPr/>
          <p:nvPr/>
        </p:nvSpPr>
        <p:spPr>
          <a:xfrm>
            <a:off x="0" y="0"/>
            <a:ext cx="12191760" cy="82080"/>
          </a:xfrm>
          <a:prstGeom prst="rect">
            <a:avLst/>
          </a:prstGeom>
          <a:solidFill>
            <a:srgbClr val="2466d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37440" bIns="37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26" name="TextBox 2"/>
          <p:cNvSpPr/>
          <p:nvPr/>
        </p:nvSpPr>
        <p:spPr>
          <a:xfrm>
            <a:off x="567000" y="311040"/>
            <a:ext cx="813780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500" strike="noStrike" u="none">
                <a:solidFill>
                  <a:srgbClr val="112b44"/>
                </a:solidFill>
                <a:effectLst/>
                <a:uFillTx/>
                <a:latin typeface="Aptos"/>
              </a:rPr>
              <a:t>Conclusion</a:t>
            </a:r>
            <a:endParaRPr b="0" lang="en-US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7" name="TextBox 3"/>
          <p:cNvSpPr/>
          <p:nvPr/>
        </p:nvSpPr>
        <p:spPr>
          <a:xfrm>
            <a:off x="7452360" y="356616"/>
            <a:ext cx="2331720" cy="256032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wrap="square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919" strike="noStrike" u="none">
                <a:solidFill>
                  <a:srgbClr val="2466D6"/>
                </a:solidFill>
                <a:effectLst/>
                <a:uFillTx/>
                <a:latin typeface="Aptos"/>
              </a:rPr>
              <a:t>PROJECT OUTCOME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28" name="Picture 4" descr="dbms_logo_clean.png"/>
          <p:cNvPicPr/>
          <p:nvPr/>
        </p:nvPicPr>
        <p:blipFill>
          <a:blip r:embed="rId1"/>
          <a:stretch/>
        </p:blipFill>
        <p:spPr>
          <a:xfrm>
            <a:off x="10012680" y="173880"/>
            <a:ext cx="1627200" cy="306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29" name="Rectangle 5"/>
          <p:cNvSpPr/>
          <p:nvPr/>
        </p:nvSpPr>
        <p:spPr>
          <a:xfrm>
            <a:off x="567000" y="6473880"/>
            <a:ext cx="10926720" cy="13320"/>
          </a:xfrm>
          <a:prstGeom prst="rect">
            <a:avLst/>
          </a:prstGeom>
          <a:solidFill>
            <a:srgbClr val="dce4e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1320" bIns="-313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30" name="TextBox 6"/>
          <p:cNvSpPr/>
          <p:nvPr/>
        </p:nvSpPr>
        <p:spPr>
          <a:xfrm>
            <a:off x="585360" y="6519600"/>
            <a:ext cx="47545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0" lang="en-US" sz="750" strike="noStrike" u="none">
                <a:solidFill>
                  <a:srgbClr val="647484"/>
                </a:solidFill>
                <a:effectLst/>
                <a:uFillTx/>
                <a:latin typeface="Aptos"/>
              </a:rPr>
              <a:t>DBMS • E-COMMERCE MANAGEMENT SYSTEM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1" name="TextBox 7"/>
          <p:cNvSpPr/>
          <p:nvPr/>
        </p:nvSpPr>
        <p:spPr>
          <a:xfrm>
            <a:off x="10972800" y="6492240"/>
            <a:ext cx="3837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800" strike="noStrike" u="none">
                <a:solidFill>
                  <a:srgbClr val="647484"/>
                </a:solidFill>
                <a:effectLst/>
                <a:uFillTx/>
                <a:latin typeface="Aptos"/>
              </a:rPr>
              <a:t>25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2" name="Rounded Rectangle 8"/>
          <p:cNvSpPr/>
          <p:nvPr/>
        </p:nvSpPr>
        <p:spPr>
          <a:xfrm>
            <a:off x="658440" y="1234440"/>
            <a:ext cx="3428640" cy="1325520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>
            <a:solidFill>
              <a:srgbClr val="dce4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33" name="TextBox 9"/>
          <p:cNvSpPr/>
          <p:nvPr/>
        </p:nvSpPr>
        <p:spPr>
          <a:xfrm>
            <a:off x="822960" y="1344240"/>
            <a:ext cx="30996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trike="noStrike" u="none">
                <a:solidFill>
                  <a:srgbClr val="2466d6"/>
                </a:solidFill>
                <a:effectLst/>
                <a:uFillTx/>
                <a:latin typeface="Aptos"/>
              </a:rPr>
              <a:t>DATABASE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4" name="TextBox 10"/>
          <p:cNvSpPr/>
          <p:nvPr/>
        </p:nvSpPr>
        <p:spPr>
          <a:xfrm>
            <a:off x="822960" y="1691640"/>
            <a:ext cx="30996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50" strike="noStrike" u="none">
                <a:solidFill>
                  <a:srgbClr val="2a3745"/>
                </a:solidFill>
                <a:effectLst/>
                <a:uFillTx/>
                <a:latin typeface="Aptos"/>
              </a:rPr>
              <a:t>13 relational tables model the e-commerce domain with keys, constraints and relationships.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5" name="Rounded Rectangle 11"/>
          <p:cNvSpPr/>
          <p:nvPr/>
        </p:nvSpPr>
        <p:spPr>
          <a:xfrm>
            <a:off x="4380120" y="1234440"/>
            <a:ext cx="3428640" cy="1325520"/>
          </a:xfrm>
          <a:prstGeom prst="roundRect">
            <a:avLst>
              <a:gd name="adj" fmla="val 16667"/>
            </a:avLst>
          </a:prstGeom>
          <a:solidFill>
            <a:srgbClr val="fff6ef"/>
          </a:solidFill>
          <a:ln>
            <a:solidFill>
              <a:srgbClr val="dce4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36" name="TextBox 12"/>
          <p:cNvSpPr/>
          <p:nvPr/>
        </p:nvSpPr>
        <p:spPr>
          <a:xfrm>
            <a:off x="4544640" y="1344240"/>
            <a:ext cx="30996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trike="noStrike" u="none">
                <a:solidFill>
                  <a:srgbClr val="e26823"/>
                </a:solidFill>
                <a:effectLst/>
                <a:uFillTx/>
                <a:latin typeface="Aptos"/>
              </a:rPr>
              <a:t>SQL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7" name="TextBox 13"/>
          <p:cNvSpPr/>
          <p:nvPr/>
        </p:nvSpPr>
        <p:spPr>
          <a:xfrm>
            <a:off x="4544640" y="1691640"/>
            <a:ext cx="30996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50" strike="noStrike" u="none">
                <a:solidFill>
                  <a:srgbClr val="2a3745"/>
                </a:solidFill>
                <a:effectLst/>
                <a:uFillTx/>
                <a:latin typeface="Aptos"/>
              </a:rPr>
              <a:t>DDL, DML, DQL, joins, existing views and stored procedures support database operations and reporting.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8" name="Rounded Rectangle 14"/>
          <p:cNvSpPr/>
          <p:nvPr/>
        </p:nvSpPr>
        <p:spPr>
          <a:xfrm>
            <a:off x="8101440" y="1234440"/>
            <a:ext cx="3428640" cy="1325520"/>
          </a:xfrm>
          <a:prstGeom prst="roundRect">
            <a:avLst>
              <a:gd name="adj" fmla="val 16667"/>
            </a:avLst>
          </a:prstGeom>
          <a:solidFill>
            <a:srgbClr val="eff9f4"/>
          </a:solidFill>
          <a:ln>
            <a:solidFill>
              <a:srgbClr val="dce4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39" name="TextBox 15"/>
          <p:cNvSpPr/>
          <p:nvPr/>
        </p:nvSpPr>
        <p:spPr>
          <a:xfrm>
            <a:off x="8266320" y="1344240"/>
            <a:ext cx="30996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trike="noStrike" u="none">
                <a:solidFill>
                  <a:srgbClr val="278b5d"/>
                </a:solidFill>
                <a:effectLst/>
                <a:uFillTx/>
                <a:latin typeface="Aptos"/>
              </a:rPr>
              <a:t>TRANSACTIONS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0" name="TextBox 16"/>
          <p:cNvSpPr/>
          <p:nvPr/>
        </p:nvSpPr>
        <p:spPr>
          <a:xfrm>
            <a:off x="8266320" y="1691640"/>
            <a:ext cx="30996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50" strike="noStrike" u="none">
                <a:solidFill>
                  <a:srgbClr val="2a3745"/>
                </a:solidFill>
                <a:effectLst/>
                <a:uFillTx/>
                <a:latin typeface="Aptos"/>
              </a:rPr>
              <a:t>Explicit COMMIT / ROLLBACK handling protects multi-step checkout updates.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1" name="TextBox 17"/>
          <p:cNvSpPr/>
          <p:nvPr/>
        </p:nvSpPr>
        <p:spPr>
          <a:xfrm>
            <a:off x="749880" y="3154680"/>
            <a:ext cx="20113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e26823"/>
                </a:solidFill>
                <a:effectLst/>
                <a:uFillTx/>
                <a:latin typeface="Aptos"/>
              </a:rPr>
              <a:t>FINAL TAKEAWAY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2" name="TextBox 18"/>
          <p:cNvSpPr/>
          <p:nvPr/>
        </p:nvSpPr>
        <p:spPr>
          <a:xfrm>
            <a:off x="822960" y="3611880"/>
            <a:ext cx="9783720" cy="159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400" strike="noStrike" u="none">
                <a:solidFill>
                  <a:srgbClr val="2a3745"/>
                </a:solidFill>
                <a:effectLst/>
                <a:uFillTx/>
                <a:latin typeface="Aptos"/>
              </a:rPr>
              <a:t>• The database is the foundation of the e-commerce workflow.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400" strike="noStrike" u="none">
                <a:solidFill>
                  <a:srgbClr val="2a3745"/>
                </a:solidFill>
                <a:effectLst/>
                <a:uFillTx/>
                <a:latin typeface="Aptos"/>
              </a:rPr>
              <a:t>• SQL connects stored relational records to operational screens and reports.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400" strike="noStrike" u="none">
                <a:solidFill>
                  <a:srgbClr val="2a3745"/>
                </a:solidFill>
                <a:effectLst/>
                <a:uFillTx/>
                <a:latin typeface="Aptos"/>
              </a:rPr>
              <a:t>• Integrity constraints and transaction control help keep related data reliable.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400" strike="noStrike" u="none">
                <a:solidFill>
                  <a:srgbClr val="2a3745"/>
                </a:solidFill>
                <a:effectLst/>
                <a:uFillTx/>
                <a:latin typeface="Aptos"/>
              </a:rPr>
              <a:t>• The implementation screenshots provide direct evidence of the working system.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3" name="TextBox 19"/>
          <p:cNvSpPr/>
          <p:nvPr/>
        </p:nvSpPr>
        <p:spPr>
          <a:xfrm>
            <a:off x="1051560" y="5532120"/>
            <a:ext cx="101037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112b44"/>
                </a:solidFill>
                <a:effectLst/>
                <a:uFillTx/>
                <a:latin typeface="Aptos"/>
              </a:rPr>
              <a:t>DBMS theory → relational design → SQL → application workflow → verified output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Rectangle 1"/>
          <p:cNvSpPr/>
          <p:nvPr/>
        </p:nvSpPr>
        <p:spPr>
          <a:xfrm>
            <a:off x="0" y="0"/>
            <a:ext cx="12191760" cy="82080"/>
          </a:xfrm>
          <a:prstGeom prst="rect">
            <a:avLst/>
          </a:prstGeom>
          <a:solidFill>
            <a:srgbClr val="2466d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37440" bIns="37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45" name="TextBox 2"/>
          <p:cNvSpPr/>
          <p:nvPr/>
        </p:nvSpPr>
        <p:spPr>
          <a:xfrm>
            <a:off x="567000" y="311040"/>
            <a:ext cx="813780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500" strike="noStrike" u="none">
                <a:solidFill>
                  <a:srgbClr val="112b44"/>
                </a:solidFill>
                <a:effectLst/>
                <a:uFillTx/>
                <a:latin typeface="Aptos"/>
              </a:rPr>
              <a:t>References &amp; Source Basis</a:t>
            </a:r>
            <a:endParaRPr b="0" lang="en-US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6" name="TextBox 3"/>
          <p:cNvSpPr/>
          <p:nvPr/>
        </p:nvSpPr>
        <p:spPr>
          <a:xfrm>
            <a:off x="7452360" y="356616"/>
            <a:ext cx="2331720" cy="256032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wrap="square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919" strike="noStrike" u="none">
                <a:solidFill>
                  <a:srgbClr val="2466D6"/>
                </a:solidFill>
                <a:effectLst/>
                <a:uFillTx/>
                <a:latin typeface="Aptos"/>
              </a:rPr>
              <a:t>DOCUMENTATION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47" name="Picture 4" descr="dbms_logo_clean.png"/>
          <p:cNvPicPr/>
          <p:nvPr/>
        </p:nvPicPr>
        <p:blipFill>
          <a:blip r:embed="rId1"/>
          <a:stretch/>
        </p:blipFill>
        <p:spPr>
          <a:xfrm>
            <a:off x="10012680" y="173880"/>
            <a:ext cx="1627200" cy="306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48" name="Rectangle 5"/>
          <p:cNvSpPr/>
          <p:nvPr/>
        </p:nvSpPr>
        <p:spPr>
          <a:xfrm>
            <a:off x="567000" y="6473880"/>
            <a:ext cx="10926720" cy="13320"/>
          </a:xfrm>
          <a:prstGeom prst="rect">
            <a:avLst/>
          </a:prstGeom>
          <a:solidFill>
            <a:srgbClr val="dce4e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1320" bIns="-313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49" name="TextBox 6"/>
          <p:cNvSpPr/>
          <p:nvPr/>
        </p:nvSpPr>
        <p:spPr>
          <a:xfrm>
            <a:off x="585360" y="6519600"/>
            <a:ext cx="47545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0" lang="en-US" sz="750" strike="noStrike" u="none">
                <a:solidFill>
                  <a:srgbClr val="647484"/>
                </a:solidFill>
                <a:effectLst/>
                <a:uFillTx/>
                <a:latin typeface="Aptos"/>
              </a:rPr>
              <a:t>DBMS • E-COMMERCE MANAGEMENT SYSTEM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0" name="TextBox 7"/>
          <p:cNvSpPr/>
          <p:nvPr/>
        </p:nvSpPr>
        <p:spPr>
          <a:xfrm>
            <a:off x="10972800" y="6492240"/>
            <a:ext cx="3837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800" strike="noStrike" u="none">
                <a:solidFill>
                  <a:srgbClr val="647484"/>
                </a:solidFill>
                <a:effectLst/>
                <a:uFillTx/>
                <a:latin typeface="Aptos"/>
              </a:rPr>
              <a:t>26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1" name="Oval 8"/>
          <p:cNvSpPr/>
          <p:nvPr/>
        </p:nvSpPr>
        <p:spPr>
          <a:xfrm>
            <a:off x="731520" y="1234440"/>
            <a:ext cx="420120" cy="420120"/>
          </a:xfrm>
          <a:prstGeom prst="ellipse">
            <a:avLst/>
          </a:prstGeom>
          <a:solidFill>
            <a:srgbClr val="2466d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52" name="TextBox 9"/>
          <p:cNvSpPr/>
          <p:nvPr/>
        </p:nvSpPr>
        <p:spPr>
          <a:xfrm>
            <a:off x="731520" y="1243440"/>
            <a:ext cx="420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01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3" name="TextBox 10"/>
          <p:cNvSpPr/>
          <p:nvPr/>
        </p:nvSpPr>
        <p:spPr>
          <a:xfrm>
            <a:off x="1298520" y="1216080"/>
            <a:ext cx="9445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112b44"/>
                </a:solidFill>
                <a:effectLst/>
                <a:uFillTx/>
                <a:latin typeface="Aptos"/>
              </a:rPr>
              <a:t>E-Commerce Management System source project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4" name="TextBox 11"/>
          <p:cNvSpPr/>
          <p:nvPr/>
        </p:nvSpPr>
        <p:spPr>
          <a:xfrm>
            <a:off x="1298520" y="1545480"/>
            <a:ext cx="944532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80" strike="noStrike" u="none">
                <a:solidFill>
                  <a:srgbClr val="647484"/>
                </a:solidFill>
                <a:effectLst/>
                <a:uFillTx/>
                <a:latin typeface="Aptos"/>
              </a:rPr>
              <a:t>database/sample_data.sql, app.py, templates and project tests.</a:t>
            </a:r>
            <a:endParaRPr b="0" lang="en-US" sz="10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5" name="Oval 12"/>
          <p:cNvSpPr/>
          <p:nvPr/>
        </p:nvSpPr>
        <p:spPr>
          <a:xfrm>
            <a:off x="731520" y="2350080"/>
            <a:ext cx="420120" cy="420120"/>
          </a:xfrm>
          <a:prstGeom prst="ellipse">
            <a:avLst/>
          </a:prstGeom>
          <a:solidFill>
            <a:srgbClr val="e2682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56" name="TextBox 13"/>
          <p:cNvSpPr/>
          <p:nvPr/>
        </p:nvSpPr>
        <p:spPr>
          <a:xfrm>
            <a:off x="731520" y="2359080"/>
            <a:ext cx="420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02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7" name="TextBox 14"/>
          <p:cNvSpPr/>
          <p:nvPr/>
        </p:nvSpPr>
        <p:spPr>
          <a:xfrm>
            <a:off x="1298520" y="2331720"/>
            <a:ext cx="9445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112b44"/>
                </a:solidFill>
                <a:effectLst/>
                <a:uFillTx/>
                <a:latin typeface="Aptos"/>
              </a:rPr>
              <a:t>DBMS Batch-15 reference presentation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8" name="TextBox 15"/>
          <p:cNvSpPr/>
          <p:nvPr/>
        </p:nvSpPr>
        <p:spPr>
          <a:xfrm>
            <a:off x="1298520" y="2660760"/>
            <a:ext cx="944532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80" strike="noStrike" u="none">
                <a:solidFill>
                  <a:srgbClr val="647484"/>
                </a:solidFill>
                <a:effectLst/>
                <a:uFillTx/>
                <a:latin typeface="Aptos"/>
              </a:rPr>
              <a:t>Used for the original cover, terminology and DBMS topic structure.</a:t>
            </a:r>
            <a:endParaRPr b="0" lang="en-US" sz="10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9" name="Oval 16"/>
          <p:cNvSpPr/>
          <p:nvPr/>
        </p:nvSpPr>
        <p:spPr>
          <a:xfrm>
            <a:off x="731520" y="3465720"/>
            <a:ext cx="420120" cy="420120"/>
          </a:xfrm>
          <a:prstGeom prst="ellipse">
            <a:avLst/>
          </a:prstGeom>
          <a:solidFill>
            <a:srgbClr val="278b5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60" name="TextBox 17"/>
          <p:cNvSpPr/>
          <p:nvPr/>
        </p:nvSpPr>
        <p:spPr>
          <a:xfrm>
            <a:off x="731520" y="3474720"/>
            <a:ext cx="420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03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1" name="TextBox 18"/>
          <p:cNvSpPr/>
          <p:nvPr/>
        </p:nvSpPr>
        <p:spPr>
          <a:xfrm>
            <a:off x="1298520" y="3447360"/>
            <a:ext cx="9445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112b44"/>
                </a:solidFill>
                <a:effectLst/>
                <a:uFillTx/>
                <a:latin typeface="Aptos"/>
              </a:rPr>
              <a:t>Project output screenshots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2" name="TextBox 19"/>
          <p:cNvSpPr/>
          <p:nvPr/>
        </p:nvSpPr>
        <p:spPr>
          <a:xfrm>
            <a:off x="1298520" y="3776400"/>
            <a:ext cx="944532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80" strike="noStrike" u="none">
                <a:solidFill>
                  <a:srgbClr val="647484"/>
                </a:solidFill>
                <a:effectLst/>
                <a:uFillTx/>
                <a:latin typeface="Aptos"/>
              </a:rPr>
              <a:t>Dashboard, master data, orders, cart, coupons, reports, inventory, reviews and DB status.</a:t>
            </a:r>
            <a:endParaRPr b="0" lang="en-US" sz="10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3" name="Oval 20"/>
          <p:cNvSpPr/>
          <p:nvPr/>
        </p:nvSpPr>
        <p:spPr>
          <a:xfrm>
            <a:off x="731520" y="4581000"/>
            <a:ext cx="420120" cy="420120"/>
          </a:xfrm>
          <a:prstGeom prst="ellipse">
            <a:avLst/>
          </a:prstGeom>
          <a:solidFill>
            <a:srgbClr val="2466d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64" name="TextBox 21"/>
          <p:cNvSpPr/>
          <p:nvPr/>
        </p:nvSpPr>
        <p:spPr>
          <a:xfrm>
            <a:off x="731520" y="4590360"/>
            <a:ext cx="420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04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5" name="TextBox 22"/>
          <p:cNvSpPr/>
          <p:nvPr/>
        </p:nvSpPr>
        <p:spPr>
          <a:xfrm>
            <a:off x="1298520" y="4563000"/>
            <a:ext cx="9445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112b44"/>
                </a:solidFill>
                <a:effectLst/>
                <a:uFillTx/>
                <a:latin typeface="Aptos"/>
              </a:rPr>
              <a:t>Recent C++ / DAE presentation style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6" name="TextBox 23"/>
          <p:cNvSpPr/>
          <p:nvPr/>
        </p:nvSpPr>
        <p:spPr>
          <a:xfrm>
            <a:off x="1298520" y="4892040"/>
            <a:ext cx="944532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80" strike="noStrike" u="none">
                <a:solidFill>
                  <a:srgbClr val="647484"/>
                </a:solidFill>
                <a:effectLst/>
                <a:uFillTx/>
                <a:latin typeface="Aptos"/>
              </a:rPr>
              <a:t>Used as visual guidance for project-story flow, concise cards and implementation evidence.</a:t>
            </a:r>
            <a:endParaRPr b="0" lang="en-US" sz="10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Rectangle 1"/>
          <p:cNvSpPr/>
          <p:nvPr/>
        </p:nvSpPr>
        <p:spPr>
          <a:xfrm>
            <a:off x="0" y="0"/>
            <a:ext cx="12191760" cy="82080"/>
          </a:xfrm>
          <a:prstGeom prst="rect">
            <a:avLst/>
          </a:prstGeom>
          <a:solidFill>
            <a:srgbClr val="2466d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37440" bIns="37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68" name="TextBox 2"/>
          <p:cNvSpPr/>
          <p:nvPr/>
        </p:nvSpPr>
        <p:spPr>
          <a:xfrm>
            <a:off x="567000" y="311040"/>
            <a:ext cx="813780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500" strike="noStrike" u="none">
                <a:solidFill>
                  <a:srgbClr val="112b44"/>
                </a:solidFill>
                <a:effectLst/>
                <a:uFillTx/>
                <a:latin typeface="Aptos"/>
              </a:rPr>
              <a:t>Thank You</a:t>
            </a:r>
            <a:endParaRPr b="0" lang="en-US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9" name="TextBox 3"/>
          <p:cNvSpPr/>
          <p:nvPr/>
        </p:nvSpPr>
        <p:spPr>
          <a:xfrm>
            <a:off x="8458200" y="365760"/>
            <a:ext cx="2057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950" strike="noStrike" u="none">
                <a:solidFill>
                  <a:srgbClr val="e26823"/>
                </a:solidFill>
                <a:effectLst/>
                <a:uFillTx/>
                <a:latin typeface="Aptos"/>
              </a:rPr>
              <a:t>QUESTIONS &amp; SUGGESTIONS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70" name="Picture 4" descr="dbms_logo_clean.png"/>
          <p:cNvPicPr/>
          <p:nvPr/>
        </p:nvPicPr>
        <p:blipFill>
          <a:blip r:embed="rId1"/>
          <a:stretch/>
        </p:blipFill>
        <p:spPr>
          <a:xfrm>
            <a:off x="10012680" y="173880"/>
            <a:ext cx="1627200" cy="306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71" name="Rectangle 5"/>
          <p:cNvSpPr/>
          <p:nvPr/>
        </p:nvSpPr>
        <p:spPr>
          <a:xfrm>
            <a:off x="567000" y="6473880"/>
            <a:ext cx="10926720" cy="13320"/>
          </a:xfrm>
          <a:prstGeom prst="rect">
            <a:avLst/>
          </a:prstGeom>
          <a:solidFill>
            <a:srgbClr val="dce4e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1320" bIns="-313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72" name="TextBox 6"/>
          <p:cNvSpPr/>
          <p:nvPr/>
        </p:nvSpPr>
        <p:spPr>
          <a:xfrm>
            <a:off x="585360" y="6519600"/>
            <a:ext cx="47545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0" lang="en-US" sz="750" strike="noStrike" u="none">
                <a:solidFill>
                  <a:srgbClr val="647484"/>
                </a:solidFill>
                <a:effectLst/>
                <a:uFillTx/>
                <a:latin typeface="Aptos"/>
              </a:rPr>
              <a:t>DBMS • E-COMMERCE MANAGEMENT SYSTEM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3" name="TextBox 7"/>
          <p:cNvSpPr/>
          <p:nvPr/>
        </p:nvSpPr>
        <p:spPr>
          <a:xfrm>
            <a:off x="10972800" y="6492240"/>
            <a:ext cx="3837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800" strike="noStrike" u="none">
                <a:solidFill>
                  <a:srgbClr val="647484"/>
                </a:solidFill>
                <a:effectLst/>
                <a:uFillTx/>
                <a:latin typeface="Aptos"/>
              </a:rPr>
              <a:t>27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4" name="TextBox 8"/>
          <p:cNvSpPr/>
          <p:nvPr/>
        </p:nvSpPr>
        <p:spPr>
          <a:xfrm>
            <a:off x="1051560" y="1874520"/>
            <a:ext cx="100580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800" strike="noStrike" u="none">
                <a:solidFill>
                  <a:srgbClr val="112b44"/>
                </a:solidFill>
                <a:effectLst/>
                <a:uFillTx/>
                <a:latin typeface="Aptos"/>
              </a:rPr>
              <a:t>DBMS – E-COMMERCE MANAGEMENT SYSTEM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5" name="TextBox 9"/>
          <p:cNvSpPr/>
          <p:nvPr/>
        </p:nvSpPr>
        <p:spPr>
          <a:xfrm>
            <a:off x="1371600" y="2651760"/>
            <a:ext cx="94636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500" strike="noStrike" u="none">
                <a:solidFill>
                  <a:srgbClr val="647484"/>
                </a:solidFill>
                <a:effectLst/>
                <a:uFillTx/>
                <a:latin typeface="Aptos"/>
              </a:rPr>
              <a:t>Database Design  •  SQL  •  Integrity  •  Transactions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6" name="Rounded Rectangle 10"/>
          <p:cNvSpPr/>
          <p:nvPr/>
        </p:nvSpPr>
        <p:spPr>
          <a:xfrm>
            <a:off x="1645920" y="3657600"/>
            <a:ext cx="8869320" cy="914040"/>
          </a:xfrm>
          <a:prstGeom prst="roundRect">
            <a:avLst>
              <a:gd name="adj" fmla="val 16667"/>
            </a:avLst>
          </a:prstGeom>
          <a:solidFill>
            <a:srgbClr val="fff6ef"/>
          </a:solidFill>
          <a:ln>
            <a:solidFill>
              <a:srgbClr val="dce4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77" name="TextBox 11"/>
          <p:cNvSpPr/>
          <p:nvPr/>
        </p:nvSpPr>
        <p:spPr>
          <a:xfrm>
            <a:off x="1810440" y="3767400"/>
            <a:ext cx="85402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e26823"/>
                </a:solidFill>
                <a:effectLst/>
                <a:uFillTx/>
                <a:latin typeface="Aptos"/>
              </a:rPr>
              <a:t>Presented by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8" name="TextBox 12"/>
          <p:cNvSpPr/>
          <p:nvPr/>
        </p:nvSpPr>
        <p:spPr>
          <a:xfrm>
            <a:off x="1810440" y="4114800"/>
            <a:ext cx="8540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80" strike="noStrike" u="none">
                <a:solidFill>
                  <a:srgbClr val="2a3745"/>
                </a:solidFill>
                <a:effectLst/>
                <a:uFillTx/>
                <a:latin typeface="Aptos"/>
              </a:rPr>
              <a:t>N. Hari Kumar Ravi Teja • S. Vijay Bhaskar Sai • R.V.S.S.G. Abhishek • M. Bala Venkat</a:t>
            </a:r>
            <a:endParaRPr b="0" lang="en-US" sz="10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9" name="TextBox 13"/>
          <p:cNvSpPr/>
          <p:nvPr/>
        </p:nvSpPr>
        <p:spPr>
          <a:xfrm>
            <a:off x="3337560" y="5120640"/>
            <a:ext cx="54860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200" strike="noStrike" u="none">
                <a:solidFill>
                  <a:srgbClr val="2466d6"/>
                </a:solidFill>
                <a:effectLst/>
                <a:uFillTx/>
                <a:latin typeface="Aptos"/>
              </a:rPr>
              <a:t>Questions &amp; Suggestions?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LibreOffice/25.2.3.2$Linux_X86_64 LibreOffice_project/520$Build-2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>Steve Canny</cp:lastModifiedBy>
  <dcterms:modified xsi:type="dcterms:W3CDTF">2013-01-27T09:15:58Z</dcterms:modified>
  <cp:revision>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